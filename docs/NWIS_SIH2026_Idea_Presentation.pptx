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The picture is the idea. The active well is at 3,100 m. Offset wells hit mud loss at 3,150, stuck pipe at 3,380 and a kick at 3,580. NWIS reads their reports, links each event to the same depth on the active well and raises an alert 50 m before the bit gets there — with the fix that worked and the source page. The laptop is the working prototype; all 20 official requirements pass an automated check.</a:t>
            </a: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Top: the stack, all open source. Below: OIL's reports go through OCR and NLP, an engineer approves what becomes knowledge, and a depth-indexed knowledge base feeds the intelligence engine behind one API. The amber line is the live loop — every eRTMAC depth step re-scores the windows ahead, and the chevrons show how an alert is made.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Feasibility is shown, not claimed: it is built and measured. Each risk has a concrete answer, most already built. The path to the rig is one field ingested, then a shadow pilot at eRTMAC before any alert goes live.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Industry numbers first: about a fifth of well time is NPT and up to 40 % of it comes from kicks, losses and instability. At OIL's scale one avoided NPT day per well is about 21 crore rupees a year — an illustration at an assumed spread rate, not a forecast.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NWIS is the only approach tied to the live bit depth with cited evidence. We proved the extractor on 1,970 real public well histories with 94 % precision. Give us three anonymised OIL DDR pages and we ingest them live.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SIH26121 from Oil India Limited: a Nearby Wells Intelligence System. One sentence: NWIS gives every drilling engineer the field's memory at the depth it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hyperlink" Target="https://github.com/aryabailur/sih26121" TargetMode="External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Relationship Id="rId18" Type="http://schemas.openxmlformats.org/officeDocument/2006/relationships/image" Target="../media/image32.png"/><Relationship Id="rId19" Type="http://schemas.openxmlformats.org/officeDocument/2006/relationships/image" Target="../media/image3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9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9.png"/><Relationship Id="rId5" Type="http://schemas.openxmlformats.org/officeDocument/2006/relationships/image" Target="../media/image10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4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6.png"/><Relationship Id="rId5" Type="http://schemas.openxmlformats.org/officeDocument/2006/relationships/image" Target="../media/image34.png"/><Relationship Id="rId6" Type="http://schemas.openxmlformats.org/officeDocument/2006/relationships/image" Target="../media/image47.png"/><Relationship Id="rId7" Type="http://schemas.openxmlformats.org/officeDocument/2006/relationships/hyperlink" Target="https://sih.gov.in" TargetMode="External"/><Relationship Id="rId8" Type="http://schemas.openxmlformats.org/officeDocument/2006/relationships/hyperlink" Target="https://drillingcontractor.org/maersk-looks-beyond-traditional-rig-downtime-scope-adopts-data-based-approach-to-reduce-operator-npt-47432" TargetMode="External"/><Relationship Id="rId9" Type="http://schemas.openxmlformats.org/officeDocument/2006/relationships/hyperlink" Target="https://www.offshore-mag.com/drilling-completion/article/16755153/data-visualization-real-time-monitoring-improve-drilling-efficiency" TargetMode="External"/><Relationship Id="rId10" Type="http://schemas.openxmlformats.org/officeDocument/2006/relationships/hyperlink" Target="https://www.oil-india.com/files/investor_services_documents/Chairman_Speech_OIL_AGM_2024-25.pdf" TargetMode="External"/><Relationship Id="rId11" Type="http://schemas.openxmlformats.org/officeDocument/2006/relationships/hyperlink" Target="https://arxiv.org/abs/1712.01476" TargetMode="External"/><Relationship Id="rId12" Type="http://schemas.openxmlformats.org/officeDocument/2006/relationships/hyperlink" Target="https://doi.org/10.2118/220725-PA" TargetMode="External"/><Relationship Id="rId13" Type="http://schemas.openxmlformats.org/officeDocument/2006/relationships/hyperlink" Target="https://factpages.sodir.no/en/wellbore" TargetMode="External"/><Relationship Id="rId14" Type="http://schemas.openxmlformats.org/officeDocument/2006/relationships/hyperlink" Target="https://energistics.org/node/20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78308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sz="2100" b="0">
                <a:latin typeface="Arial"/>
              </a:rPr>
              <a:t>SIH26121</a:t>
            </a:r>
          </a:p>
          <a:p>
            <a:pPr marL="285750" indent="-285750" algn="l">
              <a:lnSpc>
                <a:spcPct val="112000"/>
              </a:lnSpc>
              <a:spcBef>
                <a:spcPts val="1200"/>
              </a:spcBef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sz="2100" b="0">
                <a:latin typeface="Arial"/>
              </a:rPr>
              <a:t>Nearby Wells Intelligence System (NWIS)</a:t>
            </a:r>
          </a:p>
          <a:p>
            <a:pPr marL="285750" indent="-28575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Theme – </a:t>
            </a:r>
            <a:r>
              <a:rPr sz="2100" b="0">
                <a:solidFill>
                  <a:srgbClr val="C00000"/>
                </a:solidFill>
                <a:latin typeface="Arial"/>
              </a:rPr>
              <a:t>‹as listed on the SIH portal›</a:t>
            </a:r>
          </a:p>
          <a:p>
            <a:pPr marL="285750" indent="-28575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</a:t>
            </a:r>
            <a:r>
              <a:rPr sz="2100" b="0">
                <a:latin typeface="Arial"/>
              </a:rPr>
              <a:t>Software</a:t>
            </a:r>
          </a:p>
          <a:p>
            <a:pPr marL="285750" indent="-28575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ID – </a:t>
            </a:r>
            <a:r>
              <a:rPr sz="2100" b="0">
                <a:solidFill>
                  <a:srgbClr val="C00000"/>
                </a:solidFill>
                <a:latin typeface="Arial"/>
              </a:rPr>
              <a:t>‹Team ID›</a:t>
            </a:r>
          </a:p>
          <a:p>
            <a:pPr marL="285750" indent="-285750" algn="l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sz="2100" b="0">
                <a:solidFill>
                  <a:srgbClr val="C00000"/>
                </a:solidFill>
                <a:latin typeface="Arial"/>
              </a:rPr>
              <a:t>‹Team name›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8" name="Picture 37" descr="nwi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6217920"/>
            <a:ext cx="420624" cy="42062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479792" y="6190488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C0E14"/>
                </a:solidFill>
                <a:latin typeface="Franklin Gothic Demi Cond"/>
                <a:ea typeface="Franklin Gothic Demi Cond"/>
                <a:cs typeface="Franklin Gothic Demi Cond"/>
              </a:rPr>
              <a:t>NWIS · Nearby Wells Intelligence 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9792" y="6446520"/>
            <a:ext cx="44805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A2F3C"/>
                </a:solidFill>
                <a:latin typeface="Segoe UI Semibold"/>
                <a:ea typeface="Segoe UI Semibold"/>
                <a:cs typeface="Segoe UI Semibold"/>
              </a:rPr>
              <a:t>Drilling decision support beside eRTMAC · Oil India Limited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NWIS — Nearby Wells Intelligence System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01168" y="969264"/>
            <a:ext cx="7589520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19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Rectangle 15362"/>
          <p:cNvSpPr/>
          <p:nvPr/>
        </p:nvSpPr>
        <p:spPr>
          <a:xfrm>
            <a:off x="365760" y="1426464"/>
            <a:ext cx="283464" cy="283464"/>
          </a:xfrm>
          <a:prstGeom prst="rect">
            <a:avLst/>
          </a:prstGeom>
          <a:solidFill>
            <a:srgbClr val="5B4B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Franklin Gothic Demi Cond"/>
                <a:ea typeface="Franklin Gothic Demi Cond"/>
                <a:cs typeface="Franklin Gothic Demi Cond"/>
              </a:rPr>
              <a:t>1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758952" y="1408176"/>
            <a:ext cx="673150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C0E14"/>
                </a:solidFill>
                <a:latin typeface="Franklin Gothic Demi Cond"/>
                <a:ea typeface="Franklin Gothic Demi Cond"/>
                <a:cs typeface="Franklin Gothic Demi Cond"/>
              </a:rPr>
              <a:t>Detailed explanation of the proposed solution</a:t>
            </a:r>
          </a:p>
        </p:txBody>
      </p:sp>
      <p:pic>
        <p:nvPicPr>
          <p:cNvPr id="15365" name="Picture 15364" descr="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783080"/>
            <a:ext cx="7124700" cy="2400300"/>
          </a:xfrm>
          <a:prstGeom prst="rect">
            <a:avLst/>
          </a:prstGeom>
        </p:spPr>
      </p:pic>
      <p:sp>
        <p:nvSpPr>
          <p:cNvPr id="15366" name="TextBox 15365"/>
          <p:cNvSpPr txBox="1"/>
          <p:nvPr/>
        </p:nvSpPr>
        <p:spPr>
          <a:xfrm>
            <a:off x="7719060" y="1371600"/>
            <a:ext cx="4122419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Links the active well's </a:t>
            </a:r>
            <a:r>
              <a:rPr sz="115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bit depth</a:t>
            </a:r>
            <a:r>
              <a:rPr sz="115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 to what </a:t>
            </a:r>
            <a:r>
              <a:rPr sz="115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offset wells hit at that depth</a:t>
            </a:r>
            <a:r>
              <a:rPr sz="115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 — and warns before the bit gets there.</a:t>
            </a:r>
          </a:p>
        </p:txBody>
      </p:sp>
      <p:pic>
        <p:nvPicPr>
          <p:cNvPr id="15367" name="Picture 15366" descr="lap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9060" y="1783542"/>
            <a:ext cx="4122419" cy="2399837"/>
          </a:xfrm>
          <a:prstGeom prst="rect">
            <a:avLst/>
          </a:prstGeom>
        </p:spPr>
      </p:pic>
      <p:sp>
        <p:nvSpPr>
          <p:cNvPr id="15368" name="Rectangle 15367"/>
          <p:cNvSpPr/>
          <p:nvPr/>
        </p:nvSpPr>
        <p:spPr>
          <a:xfrm>
            <a:off x="7865364" y="1929846"/>
            <a:ext cx="1371600" cy="237744"/>
          </a:xfrm>
          <a:prstGeom prst="rect">
            <a:avLst/>
          </a:prstGeom>
          <a:solidFill>
            <a:srgbClr val="F5A70F"/>
          </a:solidFill>
          <a:ln>
            <a:noFill/>
          </a:ln>
        </p:spPr>
        <p:txBody>
          <a:bodyPr rtlCol="0" anchor="ctr" lIns="45720" rIns="45720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C0E14"/>
                </a:solidFill>
                <a:latin typeface="Segoe UI Bold"/>
                <a:ea typeface="Segoe UI Bold"/>
                <a:cs typeface="Segoe UI Bold"/>
              </a:rPr>
              <a:t>LIVE PROTOTYPE</a:t>
            </a:r>
          </a:p>
        </p:txBody>
      </p:sp>
      <p:sp>
        <p:nvSpPr>
          <p:cNvPr id="15369" name="Rectangle 15368"/>
          <p:cNvSpPr/>
          <p:nvPr/>
        </p:nvSpPr>
        <p:spPr>
          <a:xfrm>
            <a:off x="365760" y="4329684"/>
            <a:ext cx="283464" cy="283464"/>
          </a:xfrm>
          <a:prstGeom prst="rect">
            <a:avLst/>
          </a:prstGeom>
          <a:solidFill>
            <a:srgbClr val="5B4B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Franklin Gothic Demi Cond"/>
                <a:ea typeface="Franklin Gothic Demi Cond"/>
                <a:cs typeface="Franklin Gothic Demi Cond"/>
              </a:rPr>
              <a:t>2</a:t>
            </a:r>
          </a:p>
        </p:txBody>
      </p:sp>
      <p:sp>
        <p:nvSpPr>
          <p:cNvPr id="15370" name="TextBox 15369"/>
          <p:cNvSpPr txBox="1"/>
          <p:nvPr/>
        </p:nvSpPr>
        <p:spPr>
          <a:xfrm>
            <a:off x="758952" y="4311396"/>
            <a:ext cx="436168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C0E14"/>
                </a:solidFill>
                <a:latin typeface="Franklin Gothic Demi Cond"/>
                <a:ea typeface="Franklin Gothic Demi Cond"/>
                <a:cs typeface="Franklin Gothic Demi Cond"/>
              </a:rPr>
              <a:t>How it addresses the problem</a:t>
            </a:r>
          </a:p>
        </p:txBody>
      </p:sp>
      <p:sp>
        <p:nvSpPr>
          <p:cNvPr id="15371" name="Rectangle 15370"/>
          <p:cNvSpPr/>
          <p:nvPr/>
        </p:nvSpPr>
        <p:spPr>
          <a:xfrm>
            <a:off x="4728972" y="4347972"/>
            <a:ext cx="2761488" cy="256032"/>
          </a:xfrm>
          <a:prstGeom prst="rect">
            <a:avLst/>
          </a:prstGeom>
          <a:solidFill>
            <a:srgbClr val="0B7A58"/>
          </a:solidFill>
          <a:ln>
            <a:noFill/>
          </a:ln>
        </p:spPr>
        <p:txBody>
          <a:bodyPr rtlCol="0" anchor="ctr" lIns="45720" rIns="45720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Segoe UI Bold"/>
                <a:ea typeface="Segoe UI Bold"/>
                <a:cs typeface="Segoe UI Bold"/>
              </a:rPr>
              <a:t>✓ All 20 official requirements PASS</a:t>
            </a:r>
          </a:p>
        </p:txBody>
      </p:sp>
      <p:sp>
        <p:nvSpPr>
          <p:cNvPr id="15372" name="Rectangle 15371"/>
          <p:cNvSpPr/>
          <p:nvPr/>
        </p:nvSpPr>
        <p:spPr>
          <a:xfrm>
            <a:off x="365760" y="4695444"/>
            <a:ext cx="1698879" cy="603504"/>
          </a:xfrm>
          <a:prstGeom prst="rect">
            <a:avLst/>
          </a:prstGeom>
          <a:solidFill>
            <a:srgbClr val="F1F3F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373" name="Rectangle 15372"/>
          <p:cNvSpPr/>
          <p:nvPr/>
        </p:nvSpPr>
        <p:spPr>
          <a:xfrm>
            <a:off x="448056" y="4805172"/>
            <a:ext cx="384048" cy="38404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5374" name="Picture 15373" descr="lu-LuMapPinned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865" y="4881981"/>
            <a:ext cx="230428" cy="230428"/>
          </a:xfrm>
          <a:prstGeom prst="rect">
            <a:avLst/>
          </a:prstGeom>
        </p:spPr>
      </p:pic>
      <p:sp>
        <p:nvSpPr>
          <p:cNvPr id="15375" name="TextBox 15374"/>
          <p:cNvSpPr txBox="1"/>
          <p:nvPr/>
        </p:nvSpPr>
        <p:spPr>
          <a:xfrm>
            <a:off x="914400" y="4695444"/>
            <a:ext cx="109537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Nearby wells on a 3D map, any radius</a:t>
            </a:r>
          </a:p>
        </p:txBody>
      </p:sp>
      <p:sp>
        <p:nvSpPr>
          <p:cNvPr id="15376" name="Rectangle 15375"/>
          <p:cNvSpPr/>
          <p:nvPr/>
        </p:nvSpPr>
        <p:spPr>
          <a:xfrm>
            <a:off x="2174367" y="4695444"/>
            <a:ext cx="1698879" cy="603504"/>
          </a:xfrm>
          <a:prstGeom prst="rect">
            <a:avLst/>
          </a:prstGeom>
          <a:solidFill>
            <a:srgbClr val="F1F3F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377" name="Rectangle 15376"/>
          <p:cNvSpPr/>
          <p:nvPr/>
        </p:nvSpPr>
        <p:spPr>
          <a:xfrm>
            <a:off x="2256663" y="4805172"/>
            <a:ext cx="384048" cy="384048"/>
          </a:xfrm>
          <a:prstGeom prst="rect">
            <a:avLst/>
          </a:prstGeom>
          <a:solidFill>
            <a:srgbClr val="5B4B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5378" name="Picture 15377" descr="lu-LuFileSearch-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472" y="4881981"/>
            <a:ext cx="230428" cy="230428"/>
          </a:xfrm>
          <a:prstGeom prst="rect">
            <a:avLst/>
          </a:prstGeom>
        </p:spPr>
      </p:pic>
      <p:sp>
        <p:nvSpPr>
          <p:cNvPr id="15379" name="TextBox 15378"/>
          <p:cNvSpPr txBox="1"/>
          <p:nvPr/>
        </p:nvSpPr>
        <p:spPr>
          <a:xfrm>
            <a:off x="2723007" y="4695444"/>
            <a:ext cx="109537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Offset history in seconds — every line cited</a:t>
            </a:r>
          </a:p>
        </p:txBody>
      </p:sp>
      <p:sp>
        <p:nvSpPr>
          <p:cNvPr id="15380" name="Rectangle 15379"/>
          <p:cNvSpPr/>
          <p:nvPr/>
        </p:nvSpPr>
        <p:spPr>
          <a:xfrm>
            <a:off x="3982974" y="4695444"/>
            <a:ext cx="1698879" cy="603504"/>
          </a:xfrm>
          <a:prstGeom prst="rect">
            <a:avLst/>
          </a:prstGeom>
          <a:solidFill>
            <a:srgbClr val="F1F3F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381" name="Rectangle 15380"/>
          <p:cNvSpPr/>
          <p:nvPr/>
        </p:nvSpPr>
        <p:spPr>
          <a:xfrm>
            <a:off x="4065270" y="4805172"/>
            <a:ext cx="384048" cy="384048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5382" name="Picture 15381" descr="lu-LuLayers-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2079" y="4881981"/>
            <a:ext cx="230428" cy="230428"/>
          </a:xfrm>
          <a:prstGeom prst="rect">
            <a:avLst/>
          </a:prstGeom>
        </p:spPr>
      </p:pic>
      <p:sp>
        <p:nvSpPr>
          <p:cNvPr id="15383" name="TextBox 15382"/>
          <p:cNvSpPr txBox="1"/>
          <p:nvPr/>
        </p:nvSpPr>
        <p:spPr>
          <a:xfrm>
            <a:off x="4531614" y="4695444"/>
            <a:ext cx="109537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Correlates depth, formation, casing &amp; mud</a:t>
            </a:r>
          </a:p>
        </p:txBody>
      </p:sp>
      <p:sp>
        <p:nvSpPr>
          <p:cNvPr id="15384" name="Rectangle 15383"/>
          <p:cNvSpPr/>
          <p:nvPr/>
        </p:nvSpPr>
        <p:spPr>
          <a:xfrm>
            <a:off x="5791581" y="4695444"/>
            <a:ext cx="1698879" cy="603504"/>
          </a:xfrm>
          <a:prstGeom prst="rect">
            <a:avLst/>
          </a:prstGeom>
          <a:solidFill>
            <a:srgbClr val="F1F3F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385" name="Rectangle 15384"/>
          <p:cNvSpPr/>
          <p:nvPr/>
        </p:nvSpPr>
        <p:spPr>
          <a:xfrm>
            <a:off x="5873877" y="4805172"/>
            <a:ext cx="384048" cy="384048"/>
          </a:xfrm>
          <a:prstGeom prst="rect">
            <a:avLst/>
          </a:prstGeom>
          <a:solidFill>
            <a:srgbClr val="D92D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5386" name="Picture 15385" descr="lu-LuBellRing-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0686" y="4881981"/>
            <a:ext cx="230428" cy="230428"/>
          </a:xfrm>
          <a:prstGeom prst="rect">
            <a:avLst/>
          </a:prstGeom>
        </p:spPr>
      </p:pic>
      <p:sp>
        <p:nvSpPr>
          <p:cNvPr id="15387" name="TextBox 15386"/>
          <p:cNvSpPr txBox="1"/>
          <p:nvPr/>
        </p:nvSpPr>
        <p:spPr>
          <a:xfrm>
            <a:off x="6340221" y="4695444"/>
            <a:ext cx="1095374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Warns before the bit reaches a risky depth</a:t>
            </a:r>
          </a:p>
        </p:txBody>
      </p:sp>
      <p:sp>
        <p:nvSpPr>
          <p:cNvPr id="15388" name="TextBox 15387"/>
          <p:cNvSpPr txBox="1"/>
          <p:nvPr/>
        </p:nvSpPr>
        <p:spPr>
          <a:xfrm>
            <a:off x="7719060" y="4320540"/>
            <a:ext cx="4122419" cy="3017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C0E14"/>
                </a:solidFill>
                <a:latin typeface="Franklin Gothic Demi Cond"/>
                <a:ea typeface="Franklin Gothic Demi Cond"/>
                <a:cs typeface="Franklin Gothic Demi Cond"/>
              </a:rPr>
              <a:t>See it working</a:t>
            </a:r>
          </a:p>
        </p:txBody>
      </p:sp>
      <p:sp>
        <p:nvSpPr>
          <p:cNvPr id="15389" name="Rectangle 15388"/>
          <p:cNvSpPr/>
          <p:nvPr/>
        </p:nvSpPr>
        <p:spPr>
          <a:xfrm>
            <a:off x="7719060" y="4695444"/>
            <a:ext cx="1298448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0C0E14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390" name="Rectangle 15389"/>
          <p:cNvSpPr/>
          <p:nvPr/>
        </p:nvSpPr>
        <p:spPr>
          <a:xfrm>
            <a:off x="7810499" y="4786884"/>
            <a:ext cx="420624" cy="420624"/>
          </a:xfrm>
          <a:prstGeom prst="rect">
            <a:avLst/>
          </a:prstGeom>
          <a:solidFill>
            <a:srgbClr val="0C0E1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5391" name="Picture 15390" descr="lu-LuMonitor-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94624" y="4871008"/>
            <a:ext cx="252374" cy="252374"/>
          </a:xfrm>
          <a:prstGeom prst="rect">
            <a:avLst/>
          </a:prstGeom>
        </p:spPr>
      </p:pic>
      <p:sp>
        <p:nvSpPr>
          <p:cNvPr id="15392" name="TextBox 15391"/>
          <p:cNvSpPr txBox="1"/>
          <p:nvPr/>
        </p:nvSpPr>
        <p:spPr>
          <a:xfrm>
            <a:off x="8304276" y="4768596"/>
            <a:ext cx="67665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Prototype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8304276" y="5006340"/>
            <a:ext cx="67665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00000"/>
                </a:solidFill>
                <a:latin typeface="Segoe UI Semibold"/>
                <a:ea typeface="Segoe UI Semibold"/>
                <a:cs typeface="Segoe UI Semibold"/>
              </a:rPr>
              <a:t>‹add link›</a:t>
            </a:r>
          </a:p>
        </p:txBody>
      </p:sp>
      <p:sp>
        <p:nvSpPr>
          <p:cNvPr id="15394" name="Rectangle 15393"/>
          <p:cNvSpPr/>
          <p:nvPr/>
        </p:nvSpPr>
        <p:spPr>
          <a:xfrm>
            <a:off x="9108948" y="4695444"/>
            <a:ext cx="1298448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0C0E14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395" name="Rectangle 15394"/>
          <p:cNvSpPr/>
          <p:nvPr/>
        </p:nvSpPr>
        <p:spPr>
          <a:xfrm>
            <a:off x="9200388" y="4786884"/>
            <a:ext cx="420624" cy="420624"/>
          </a:xfrm>
          <a:prstGeom prst="rect">
            <a:avLst/>
          </a:prstGeom>
          <a:solidFill>
            <a:srgbClr val="0C0E14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5396" name="Picture 15395" descr="lu-LuCirclePlay-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84512" y="4871008"/>
            <a:ext cx="252374" cy="252374"/>
          </a:xfrm>
          <a:prstGeom prst="rect">
            <a:avLst/>
          </a:prstGeom>
        </p:spPr>
      </p:pic>
      <p:sp>
        <p:nvSpPr>
          <p:cNvPr id="15397" name="TextBox 15396"/>
          <p:cNvSpPr txBox="1"/>
          <p:nvPr/>
        </p:nvSpPr>
        <p:spPr>
          <a:xfrm>
            <a:off x="9694164" y="4768596"/>
            <a:ext cx="67665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Video</a:t>
            </a:r>
          </a:p>
        </p:txBody>
      </p:sp>
      <p:sp>
        <p:nvSpPr>
          <p:cNvPr id="15398" name="TextBox 15397"/>
          <p:cNvSpPr txBox="1"/>
          <p:nvPr/>
        </p:nvSpPr>
        <p:spPr>
          <a:xfrm>
            <a:off x="9694164" y="5006340"/>
            <a:ext cx="676655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00000"/>
                </a:solidFill>
                <a:latin typeface="Segoe UI Semibold"/>
                <a:ea typeface="Segoe UI Semibold"/>
                <a:cs typeface="Segoe UI Semibold"/>
              </a:rPr>
              <a:t>‹add link›</a:t>
            </a:r>
          </a:p>
        </p:txBody>
      </p:sp>
      <p:sp>
        <p:nvSpPr>
          <p:cNvPr id="15399" name="Rectangle 15398"/>
          <p:cNvSpPr/>
          <p:nvPr/>
        </p:nvSpPr>
        <p:spPr>
          <a:xfrm>
            <a:off x="10498835" y="4695444"/>
            <a:ext cx="1342643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0C0E14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5400" name="Picture 15399" descr="qr-c7000d279b3a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90275" y="4786884"/>
            <a:ext cx="420624" cy="420624"/>
          </a:xfrm>
          <a:prstGeom prst="rect">
            <a:avLst/>
          </a:prstGeom>
        </p:spPr>
      </p:pic>
      <p:sp>
        <p:nvSpPr>
          <p:cNvPr id="15401" name="TextBox 15400"/>
          <p:cNvSpPr txBox="1"/>
          <p:nvPr/>
        </p:nvSpPr>
        <p:spPr>
          <a:xfrm>
            <a:off x="11084052" y="4768596"/>
            <a:ext cx="720851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GitHub</a:t>
            </a:r>
          </a:p>
        </p:txBody>
      </p:sp>
      <p:sp>
        <p:nvSpPr>
          <p:cNvPr id="15402" name="TextBox 15401"/>
          <p:cNvSpPr txBox="1"/>
          <p:nvPr/>
        </p:nvSpPr>
        <p:spPr>
          <a:xfrm>
            <a:off x="11084052" y="5006340"/>
            <a:ext cx="720851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33EA"/>
                </a:solidFill>
                <a:latin typeface="Segoe UI Semibold"/>
                <a:hlinkClick r:id="rId13"/>
                <a:ea typeface="Segoe UI Semibold"/>
                <a:cs typeface="Segoe UI Semibold"/>
              </a:rPr>
              <a:t>sih26121 ↗</a:t>
            </a:r>
          </a:p>
        </p:txBody>
      </p:sp>
      <p:sp>
        <p:nvSpPr>
          <p:cNvPr id="15403" name="Rectangle 15402"/>
          <p:cNvSpPr/>
          <p:nvPr/>
        </p:nvSpPr>
        <p:spPr>
          <a:xfrm>
            <a:off x="365760" y="5426964"/>
            <a:ext cx="11475720" cy="854963"/>
          </a:xfrm>
          <a:prstGeom prst="rect">
            <a:avLst/>
          </a:prstGeom>
          <a:solidFill>
            <a:srgbClr val="0E153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404" name="Rectangle 15403"/>
          <p:cNvSpPr/>
          <p:nvPr/>
        </p:nvSpPr>
        <p:spPr>
          <a:xfrm>
            <a:off x="512064" y="5554980"/>
            <a:ext cx="283464" cy="283464"/>
          </a:xfrm>
          <a:prstGeom prst="rect">
            <a:avLst/>
          </a:prstGeom>
          <a:solidFill>
            <a:srgbClr val="F5A70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C0E14"/>
                </a:solidFill>
                <a:latin typeface="Franklin Gothic Demi Cond"/>
                <a:ea typeface="Franklin Gothic Demi Cond"/>
                <a:cs typeface="Franklin Gothic Demi Cond"/>
              </a:rPr>
              <a:t>3</a:t>
            </a:r>
          </a:p>
        </p:txBody>
      </p:sp>
      <p:sp>
        <p:nvSpPr>
          <p:cNvPr id="15405" name="TextBox 15404"/>
          <p:cNvSpPr txBox="1"/>
          <p:nvPr/>
        </p:nvSpPr>
        <p:spPr>
          <a:xfrm>
            <a:off x="877824" y="5518404"/>
            <a:ext cx="1783080" cy="67208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Franklin Gothic Demi Cond"/>
                <a:ea typeface="Franklin Gothic Demi Cond"/>
                <a:cs typeface="Franklin Gothic Demi Cond"/>
              </a:rPr>
              <a:t>Innovation and uniqueness of the solution</a:t>
            </a:r>
          </a:p>
        </p:txBody>
      </p:sp>
      <p:cxnSp>
        <p:nvCxnSpPr>
          <p:cNvPr id="15406" name="Connector 15405"/>
          <p:cNvCxnSpPr/>
          <p:nvPr/>
        </p:nvCxnSpPr>
        <p:spPr>
          <a:xfrm>
            <a:off x="2743200" y="5554980"/>
            <a:ext cx="0" cy="598932"/>
          </a:xfrm>
          <a:prstGeom prst="line">
            <a:avLst/>
          </a:prstGeom>
          <a:ln w="12700">
            <a:solidFill>
              <a:srgbClr val="3A4570"/>
            </a:solidFill>
          </a:ln>
        </p:spPr>
      </p:cxnSp>
      <p:pic>
        <p:nvPicPr>
          <p:cNvPr id="15407" name="Picture 15406" descr="lu-LuCrosshair-F5A70F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71216" y="5564124"/>
            <a:ext cx="256032" cy="256032"/>
          </a:xfrm>
          <a:prstGeom prst="rect">
            <a:avLst/>
          </a:prstGeom>
        </p:spPr>
      </p:pic>
      <p:sp>
        <p:nvSpPr>
          <p:cNvPr id="15408" name="TextBox 15407"/>
          <p:cNvSpPr txBox="1"/>
          <p:nvPr/>
        </p:nvSpPr>
        <p:spPr>
          <a:xfrm>
            <a:off x="3182112" y="5536692"/>
            <a:ext cx="13624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Depth-linked</a:t>
            </a:r>
          </a:p>
        </p:txBody>
      </p:sp>
      <p:sp>
        <p:nvSpPr>
          <p:cNvPr id="15409" name="TextBox 15408"/>
          <p:cNvSpPr txBox="1"/>
          <p:nvPr/>
        </p:nvSpPr>
        <p:spPr>
          <a:xfrm>
            <a:off x="2889504" y="5884164"/>
            <a:ext cx="1600200" cy="379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DCE0EC"/>
                </a:solidFill>
                <a:latin typeface="Segoe UI Semibold"/>
                <a:ea typeface="Segoe UI Semibold"/>
                <a:cs typeface="Segoe UI Semibold"/>
              </a:rPr>
              <a:t>bit depth drives map, 3D, risk, search</a:t>
            </a:r>
          </a:p>
        </p:txBody>
      </p:sp>
      <p:cxnSp>
        <p:nvCxnSpPr>
          <p:cNvPr id="15410" name="Connector 15409"/>
          <p:cNvCxnSpPr/>
          <p:nvPr/>
        </p:nvCxnSpPr>
        <p:spPr>
          <a:xfrm>
            <a:off x="4562856" y="5554980"/>
            <a:ext cx="0" cy="598932"/>
          </a:xfrm>
          <a:prstGeom prst="line">
            <a:avLst/>
          </a:prstGeom>
          <a:ln w="12700">
            <a:solidFill>
              <a:srgbClr val="3A4570"/>
            </a:solidFill>
          </a:ln>
        </p:spPr>
      </p:cxnSp>
      <p:pic>
        <p:nvPicPr>
          <p:cNvPr id="15411" name="Picture 15410" descr="lu-LuQuote-F5A70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90872" y="5564124"/>
            <a:ext cx="256032" cy="256032"/>
          </a:xfrm>
          <a:prstGeom prst="rect">
            <a:avLst/>
          </a:prstGeom>
        </p:spPr>
      </p:pic>
      <p:sp>
        <p:nvSpPr>
          <p:cNvPr id="15412" name="TextBox 15411"/>
          <p:cNvSpPr txBox="1"/>
          <p:nvPr/>
        </p:nvSpPr>
        <p:spPr>
          <a:xfrm>
            <a:off x="5001768" y="5536692"/>
            <a:ext cx="13624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Evidence-first</a:t>
            </a:r>
          </a:p>
        </p:txBody>
      </p:sp>
      <p:sp>
        <p:nvSpPr>
          <p:cNvPr id="15413" name="TextBox 15412"/>
          <p:cNvSpPr txBox="1"/>
          <p:nvPr/>
        </p:nvSpPr>
        <p:spPr>
          <a:xfrm>
            <a:off x="4709160" y="5884164"/>
            <a:ext cx="1600200" cy="379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DCE0EC"/>
                </a:solidFill>
                <a:latin typeface="Segoe UI Semibold"/>
                <a:ea typeface="Segoe UI Semibold"/>
                <a:cs typeface="Segoe UI Semibold"/>
              </a:rPr>
              <a:t>every answer cites report, page, depth</a:t>
            </a:r>
          </a:p>
        </p:txBody>
      </p:sp>
      <p:cxnSp>
        <p:nvCxnSpPr>
          <p:cNvPr id="15414" name="Connector 15413"/>
          <p:cNvCxnSpPr/>
          <p:nvPr/>
        </p:nvCxnSpPr>
        <p:spPr>
          <a:xfrm>
            <a:off x="6382512" y="5554980"/>
            <a:ext cx="0" cy="598932"/>
          </a:xfrm>
          <a:prstGeom prst="line">
            <a:avLst/>
          </a:prstGeom>
          <a:ln w="12700">
            <a:solidFill>
              <a:srgbClr val="3A4570"/>
            </a:solidFill>
          </a:ln>
        </p:spPr>
      </p:cxnSp>
      <p:pic>
        <p:nvPicPr>
          <p:cNvPr id="15415" name="Picture 15414" descr="lu-LuScale-F5A70F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10528" y="5564124"/>
            <a:ext cx="256032" cy="256032"/>
          </a:xfrm>
          <a:prstGeom prst="rect">
            <a:avLst/>
          </a:prstGeom>
        </p:spPr>
      </p:pic>
      <p:sp>
        <p:nvSpPr>
          <p:cNvPr id="15416" name="TextBox 15415"/>
          <p:cNvSpPr txBox="1"/>
          <p:nvPr/>
        </p:nvSpPr>
        <p:spPr>
          <a:xfrm>
            <a:off x="6821424" y="5536692"/>
            <a:ext cx="13624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Explainable + ML</a:t>
            </a:r>
          </a:p>
        </p:txBody>
      </p:sp>
      <p:sp>
        <p:nvSpPr>
          <p:cNvPr id="15417" name="TextBox 15416"/>
          <p:cNvSpPr txBox="1"/>
          <p:nvPr/>
        </p:nvSpPr>
        <p:spPr>
          <a:xfrm>
            <a:off x="6528816" y="5884164"/>
            <a:ext cx="1600200" cy="379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DCE0EC"/>
                </a:solidFill>
                <a:latin typeface="Segoe UI Semibold"/>
                <a:ea typeface="Segoe UI Semibold"/>
                <a:cs typeface="Segoe UI Semibold"/>
              </a:rPr>
              <a:t>6-factor score + ML check (AUC 0.86)</a:t>
            </a:r>
          </a:p>
        </p:txBody>
      </p:sp>
      <p:cxnSp>
        <p:nvCxnSpPr>
          <p:cNvPr id="15418" name="Connector 15417"/>
          <p:cNvCxnSpPr/>
          <p:nvPr/>
        </p:nvCxnSpPr>
        <p:spPr>
          <a:xfrm>
            <a:off x="8202168" y="5554980"/>
            <a:ext cx="0" cy="598932"/>
          </a:xfrm>
          <a:prstGeom prst="line">
            <a:avLst/>
          </a:prstGeom>
          <a:ln w="12700">
            <a:solidFill>
              <a:srgbClr val="3A4570"/>
            </a:solidFill>
          </a:ln>
        </p:spPr>
      </p:cxnSp>
      <p:pic>
        <p:nvPicPr>
          <p:cNvPr id="15419" name="Picture 15418" descr="lu-LuClipboardList-F5A70F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30184" y="5564124"/>
            <a:ext cx="256032" cy="256032"/>
          </a:xfrm>
          <a:prstGeom prst="rect">
            <a:avLst/>
          </a:prstGeom>
        </p:spPr>
      </p:pic>
      <p:sp>
        <p:nvSpPr>
          <p:cNvPr id="15420" name="TextBox 15419"/>
          <p:cNvSpPr txBox="1"/>
          <p:nvPr/>
        </p:nvSpPr>
        <p:spPr>
          <a:xfrm>
            <a:off x="8641080" y="5536692"/>
            <a:ext cx="13624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Look-ahead brief</a:t>
            </a:r>
          </a:p>
        </p:txBody>
      </p:sp>
      <p:sp>
        <p:nvSpPr>
          <p:cNvPr id="15421" name="TextBox 15420"/>
          <p:cNvSpPr txBox="1"/>
          <p:nvPr/>
        </p:nvSpPr>
        <p:spPr>
          <a:xfrm>
            <a:off x="8348472" y="5884164"/>
            <a:ext cx="1600200" cy="379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DCE0EC"/>
                </a:solidFill>
                <a:latin typeface="Segoe UI Semibold"/>
                <a:ea typeface="Segoe UI Semibold"/>
                <a:cs typeface="Segoe UI Semibold"/>
              </a:rPr>
              <a:t>next 300 m for the shift handover, ₹ NPT</a:t>
            </a:r>
          </a:p>
        </p:txBody>
      </p:sp>
      <p:cxnSp>
        <p:nvCxnSpPr>
          <p:cNvPr id="15422" name="Connector 15421"/>
          <p:cNvCxnSpPr/>
          <p:nvPr/>
        </p:nvCxnSpPr>
        <p:spPr>
          <a:xfrm>
            <a:off x="10021824" y="5554980"/>
            <a:ext cx="0" cy="598932"/>
          </a:xfrm>
          <a:prstGeom prst="line">
            <a:avLst/>
          </a:prstGeom>
          <a:ln w="12700">
            <a:solidFill>
              <a:srgbClr val="3A4570"/>
            </a:solidFill>
          </a:ln>
        </p:spPr>
      </p:cxnSp>
      <p:pic>
        <p:nvPicPr>
          <p:cNvPr id="15423" name="Picture 15422" descr="lu-LuBadgeCheck-F5A70F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49840" y="5564124"/>
            <a:ext cx="256032" cy="256032"/>
          </a:xfrm>
          <a:prstGeom prst="rect">
            <a:avLst/>
          </a:prstGeom>
        </p:spPr>
      </p:pic>
      <p:sp>
        <p:nvSpPr>
          <p:cNvPr id="15424" name="TextBox 15423"/>
          <p:cNvSpPr txBox="1"/>
          <p:nvPr/>
        </p:nvSpPr>
        <p:spPr>
          <a:xfrm>
            <a:off x="10460736" y="5536692"/>
            <a:ext cx="13624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Real-data proof</a:t>
            </a:r>
          </a:p>
        </p:txBody>
      </p:sp>
      <p:sp>
        <p:nvSpPr>
          <p:cNvPr id="15425" name="TextBox 15424"/>
          <p:cNvSpPr txBox="1"/>
          <p:nvPr/>
        </p:nvSpPr>
        <p:spPr>
          <a:xfrm>
            <a:off x="10168128" y="5884164"/>
            <a:ext cx="1600200" cy="379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DCE0EC"/>
                </a:solidFill>
                <a:latin typeface="Segoe UI Semibold"/>
                <a:ea typeface="Segoe UI Semibold"/>
                <a:cs typeface="Segoe UI Semibold"/>
              </a:rPr>
              <a:t>1,970 real well histories, 94 % precision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365760" y="1188720"/>
            <a:ext cx="283464" cy="283464"/>
          </a:xfrm>
          <a:prstGeom prst="rect">
            <a:avLst/>
          </a:prstGeom>
          <a:solidFill>
            <a:srgbClr val="5B4B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Franklin Gothic Demi Cond"/>
                <a:ea typeface="Franklin Gothic Demi Cond"/>
                <a:cs typeface="Franklin Gothic Demi Cond"/>
              </a:rPr>
              <a:t>1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758952" y="1170432"/>
            <a:ext cx="417880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C0E14"/>
                </a:solidFill>
                <a:latin typeface="Franklin Gothic Demi Cond"/>
                <a:ea typeface="Franklin Gothic Demi Cond"/>
                <a:cs typeface="Franklin Gothic Demi Cond"/>
              </a:rPr>
              <a:t>Technologies to be used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65760" y="1499616"/>
            <a:ext cx="2917545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EA5E9"/>
                </a:solidFill>
                <a:latin typeface="Segoe UI"/>
                <a:ea typeface="Segoe UI"/>
                <a:cs typeface="Segoe UI"/>
              </a:rPr>
              <a:t>Frontend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365760" y="1682496"/>
            <a:ext cx="68823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14" name="Picture 17413" descr="si-SiNextdotjs-000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151" y="1728216"/>
            <a:ext cx="219456" cy="219456"/>
          </a:xfrm>
          <a:prstGeom prst="rect">
            <a:avLst/>
          </a:prstGeom>
        </p:spPr>
      </p:pic>
      <p:sp>
        <p:nvSpPr>
          <p:cNvPr id="17415" name="TextBox 17414"/>
          <p:cNvSpPr txBox="1"/>
          <p:nvPr/>
        </p:nvSpPr>
        <p:spPr>
          <a:xfrm>
            <a:off x="374904" y="1956816"/>
            <a:ext cx="66995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Next.js 16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1108862" y="1682496"/>
            <a:ext cx="68823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17" name="Picture 17416" descr="si-SiReact-149EC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3253" y="1728216"/>
            <a:ext cx="219456" cy="219456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1118006" y="1956816"/>
            <a:ext cx="66995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React 19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1851964" y="1682496"/>
            <a:ext cx="68823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20" name="Picture 17419" descr="si-SiMaplibre-396CB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6356" y="1728216"/>
            <a:ext cx="219456" cy="219456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1861108" y="1956816"/>
            <a:ext cx="66995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MapLibre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2595067" y="1682496"/>
            <a:ext cx="68823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23" name="Picture 17422" descr="si-SiThreedotjs-00000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9458" y="1728216"/>
            <a:ext cx="219456" cy="219456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2604211" y="1956816"/>
            <a:ext cx="66995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three.js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3466185" y="1499616"/>
            <a:ext cx="2174443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7A58"/>
                </a:solidFill>
                <a:latin typeface="Segoe UI"/>
                <a:ea typeface="Segoe UI"/>
                <a:cs typeface="Segoe UI"/>
              </a:rPr>
              <a:t>Backend</a:t>
            </a:r>
          </a:p>
        </p:txBody>
      </p:sp>
      <p:sp>
        <p:nvSpPr>
          <p:cNvPr id="17426" name="Rectangle 17425"/>
          <p:cNvSpPr/>
          <p:nvPr/>
        </p:nvSpPr>
        <p:spPr>
          <a:xfrm>
            <a:off x="3466185" y="1682496"/>
            <a:ext cx="68823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27" name="Picture 17426" descr="si-SiPython-3776A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0576" y="1728216"/>
            <a:ext cx="219456" cy="219456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3475329" y="1956816"/>
            <a:ext cx="66995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Python 3</a:t>
            </a:r>
          </a:p>
        </p:txBody>
      </p:sp>
      <p:sp>
        <p:nvSpPr>
          <p:cNvPr id="17429" name="Rectangle 17428"/>
          <p:cNvSpPr/>
          <p:nvPr/>
        </p:nvSpPr>
        <p:spPr>
          <a:xfrm>
            <a:off x="4209288" y="1682496"/>
            <a:ext cx="68823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30" name="Picture 17429" descr="si-SiFastapi-00968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3679" y="1728216"/>
            <a:ext cx="219456" cy="219456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4218432" y="1956816"/>
            <a:ext cx="66995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FastAPI</a:t>
            </a:r>
          </a:p>
        </p:txBody>
      </p:sp>
      <p:sp>
        <p:nvSpPr>
          <p:cNvPr id="17432" name="Rectangle 17431"/>
          <p:cNvSpPr/>
          <p:nvPr/>
        </p:nvSpPr>
        <p:spPr>
          <a:xfrm>
            <a:off x="4952390" y="1682496"/>
            <a:ext cx="68823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33" name="Picture 17432" descr="si-SiPydantic-E92063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86781" y="1728216"/>
            <a:ext cx="219456" cy="219456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4961534" y="1956816"/>
            <a:ext cx="66995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Pydantic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5823508" y="1499616"/>
            <a:ext cx="3660648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B4BFF"/>
                </a:solidFill>
                <a:latin typeface="Segoe UI"/>
                <a:ea typeface="Segoe UI"/>
                <a:cs typeface="Segoe UI"/>
              </a:rPr>
              <a:t>AI · NLP · OCR</a:t>
            </a:r>
          </a:p>
        </p:txBody>
      </p:sp>
      <p:sp>
        <p:nvSpPr>
          <p:cNvPr id="17436" name="Rectangle 17435"/>
          <p:cNvSpPr/>
          <p:nvPr/>
        </p:nvSpPr>
        <p:spPr>
          <a:xfrm>
            <a:off x="5823508" y="1682496"/>
            <a:ext cx="68823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37" name="Picture 17436" descr="lu-LuScanText-5B4B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57900" y="1728216"/>
            <a:ext cx="219456" cy="219456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5832652" y="1956816"/>
            <a:ext cx="66995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Tesseract</a:t>
            </a:r>
          </a:p>
        </p:txBody>
      </p:sp>
      <p:sp>
        <p:nvSpPr>
          <p:cNvPr id="17439" name="Rectangle 17438"/>
          <p:cNvSpPr/>
          <p:nvPr/>
        </p:nvSpPr>
        <p:spPr>
          <a:xfrm>
            <a:off x="6566611" y="1682496"/>
            <a:ext cx="68823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40" name="Picture 17439" descr="lu-LuBrainCircuit-C026D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01002" y="1728216"/>
            <a:ext cx="219456" cy="219456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6575755" y="1956816"/>
            <a:ext cx="66995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Drilling NLP</a:t>
            </a:r>
          </a:p>
        </p:txBody>
      </p:sp>
      <p:sp>
        <p:nvSpPr>
          <p:cNvPr id="17442" name="Rectangle 17441"/>
          <p:cNvSpPr/>
          <p:nvPr/>
        </p:nvSpPr>
        <p:spPr>
          <a:xfrm>
            <a:off x="7309713" y="1682496"/>
            <a:ext cx="68823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43" name="Picture 17442" descr="lu-LuSearch-0284C7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44104" y="1728216"/>
            <a:ext cx="219456" cy="219456"/>
          </a:xfrm>
          <a:prstGeom prst="rect">
            <a:avLst/>
          </a:prstGeom>
        </p:spPr>
      </p:pic>
      <p:sp>
        <p:nvSpPr>
          <p:cNvPr id="17444" name="TextBox 17443"/>
          <p:cNvSpPr txBox="1"/>
          <p:nvPr/>
        </p:nvSpPr>
        <p:spPr>
          <a:xfrm>
            <a:off x="7318857" y="1956816"/>
            <a:ext cx="66995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BM25 + vec</a:t>
            </a:r>
          </a:p>
        </p:txBody>
      </p:sp>
      <p:sp>
        <p:nvSpPr>
          <p:cNvPr id="17445" name="Rectangle 17444"/>
          <p:cNvSpPr/>
          <p:nvPr/>
        </p:nvSpPr>
        <p:spPr>
          <a:xfrm>
            <a:off x="8052816" y="1682496"/>
            <a:ext cx="68823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46" name="Picture 17445" descr="lu-LuSigma-0B7A58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87207" y="1728216"/>
            <a:ext cx="219456" cy="219456"/>
          </a:xfrm>
          <a:prstGeom prst="rect">
            <a:avLst/>
          </a:prstGeom>
        </p:spPr>
      </p:pic>
      <p:sp>
        <p:nvSpPr>
          <p:cNvPr id="17447" name="TextBox 17446"/>
          <p:cNvSpPr txBox="1"/>
          <p:nvPr/>
        </p:nvSpPr>
        <p:spPr>
          <a:xfrm>
            <a:off x="8061960" y="1956816"/>
            <a:ext cx="66995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Log. regr.</a:t>
            </a:r>
          </a:p>
        </p:txBody>
      </p:sp>
      <p:sp>
        <p:nvSpPr>
          <p:cNvPr id="17448" name="Rectangle 17447"/>
          <p:cNvSpPr/>
          <p:nvPr/>
        </p:nvSpPr>
        <p:spPr>
          <a:xfrm>
            <a:off x="8795918" y="1682496"/>
            <a:ext cx="68823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49" name="Picture 17448" descr="si-SiAnthropic-191919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30309" y="1728216"/>
            <a:ext cx="219456" cy="219456"/>
          </a:xfrm>
          <a:prstGeom prst="rect">
            <a:avLst/>
          </a:prstGeom>
        </p:spPr>
      </p:pic>
      <p:sp>
        <p:nvSpPr>
          <p:cNvPr id="17450" name="TextBox 17449"/>
          <p:cNvSpPr txBox="1"/>
          <p:nvPr/>
        </p:nvSpPr>
        <p:spPr>
          <a:xfrm>
            <a:off x="8805062" y="1956816"/>
            <a:ext cx="66995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Claude opt.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9667036" y="1499616"/>
            <a:ext cx="2174443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45309"/>
                </a:solidFill>
                <a:latin typeface="Segoe UI"/>
                <a:ea typeface="Segoe UI"/>
                <a:cs typeface="Segoe UI"/>
              </a:rPr>
              <a:t>Data &amp; integration</a:t>
            </a:r>
          </a:p>
        </p:txBody>
      </p:sp>
      <p:sp>
        <p:nvSpPr>
          <p:cNvPr id="17452" name="Rectangle 17451"/>
          <p:cNvSpPr/>
          <p:nvPr/>
        </p:nvSpPr>
        <p:spPr>
          <a:xfrm>
            <a:off x="9667036" y="1682496"/>
            <a:ext cx="68823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53" name="Picture 17452" descr="si-SiPostgresql-4169E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01428" y="1728216"/>
            <a:ext cx="219456" cy="219456"/>
          </a:xfrm>
          <a:prstGeom prst="rect">
            <a:avLst/>
          </a:prstGeom>
        </p:spPr>
      </p:pic>
      <p:sp>
        <p:nvSpPr>
          <p:cNvPr id="17454" name="TextBox 17453"/>
          <p:cNvSpPr txBox="1"/>
          <p:nvPr/>
        </p:nvSpPr>
        <p:spPr>
          <a:xfrm>
            <a:off x="9676180" y="1956816"/>
            <a:ext cx="66995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PostgreSQL</a:t>
            </a:r>
          </a:p>
        </p:txBody>
      </p:sp>
      <p:sp>
        <p:nvSpPr>
          <p:cNvPr id="17455" name="Rectangle 17454"/>
          <p:cNvSpPr/>
          <p:nvPr/>
        </p:nvSpPr>
        <p:spPr>
          <a:xfrm>
            <a:off x="10410139" y="1682496"/>
            <a:ext cx="68823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56" name="Picture 17455" descr="si-SiSqlite-003B57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44530" y="1728216"/>
            <a:ext cx="219456" cy="219456"/>
          </a:xfrm>
          <a:prstGeom prst="rect">
            <a:avLst/>
          </a:prstGeom>
        </p:spPr>
      </p:pic>
      <p:sp>
        <p:nvSpPr>
          <p:cNvPr id="17457" name="TextBox 17456"/>
          <p:cNvSpPr txBox="1"/>
          <p:nvPr/>
        </p:nvSpPr>
        <p:spPr>
          <a:xfrm>
            <a:off x="10419283" y="1956816"/>
            <a:ext cx="66995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SQLite</a:t>
            </a:r>
          </a:p>
        </p:txBody>
      </p:sp>
      <p:sp>
        <p:nvSpPr>
          <p:cNvPr id="17458" name="Rectangle 17457"/>
          <p:cNvSpPr/>
          <p:nvPr/>
        </p:nvSpPr>
        <p:spPr>
          <a:xfrm>
            <a:off x="11153241" y="1682496"/>
            <a:ext cx="688238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9CEDA"/>
            </a:solidFill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59" name="Picture 17458" descr="lu-LuRadio-B45309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87632" y="1728216"/>
            <a:ext cx="219456" cy="219456"/>
          </a:xfrm>
          <a:prstGeom prst="rect">
            <a:avLst/>
          </a:prstGeom>
        </p:spPr>
      </p:pic>
      <p:sp>
        <p:nvSpPr>
          <p:cNvPr id="17460" name="TextBox 17459"/>
          <p:cNvSpPr txBox="1"/>
          <p:nvPr/>
        </p:nvSpPr>
        <p:spPr>
          <a:xfrm>
            <a:off x="11162385" y="1956816"/>
            <a:ext cx="66995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WITSML</a:t>
            </a:r>
          </a:p>
        </p:txBody>
      </p:sp>
      <p:sp>
        <p:nvSpPr>
          <p:cNvPr id="17461" name="Rectangle 17460"/>
          <p:cNvSpPr/>
          <p:nvPr/>
        </p:nvSpPr>
        <p:spPr>
          <a:xfrm>
            <a:off x="365760" y="2249424"/>
            <a:ext cx="283464" cy="283464"/>
          </a:xfrm>
          <a:prstGeom prst="rect">
            <a:avLst/>
          </a:prstGeom>
          <a:solidFill>
            <a:srgbClr val="5B4B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Franklin Gothic Demi Cond"/>
                <a:ea typeface="Franklin Gothic Demi Cond"/>
                <a:cs typeface="Franklin Gothic Demi Cond"/>
              </a:rPr>
              <a:t>2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758952" y="2231136"/>
            <a:ext cx="692200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C0E14"/>
                </a:solidFill>
                <a:latin typeface="Franklin Gothic Demi Cond"/>
                <a:ea typeface="Franklin Gothic Demi Cond"/>
                <a:cs typeface="Franklin Gothic Demi Cond"/>
              </a:rPr>
              <a:t>Methodology and process for implementation</a:t>
            </a:r>
          </a:p>
        </p:txBody>
      </p:sp>
      <p:pic>
        <p:nvPicPr>
          <p:cNvPr id="17463" name="Picture 17462" descr="arch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2920" y="2596896"/>
            <a:ext cx="11201400" cy="36439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365760" y="1188720"/>
            <a:ext cx="283464" cy="283464"/>
          </a:xfrm>
          <a:prstGeom prst="rect">
            <a:avLst/>
          </a:prstGeom>
          <a:solidFill>
            <a:srgbClr val="5B4B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Franklin Gothic Demi Cond"/>
                <a:ea typeface="Franklin Gothic Demi Cond"/>
                <a:cs typeface="Franklin Gothic Demi Cond"/>
              </a:rPr>
              <a:t>1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758952" y="1170432"/>
            <a:ext cx="372160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C0E14"/>
                </a:solidFill>
                <a:latin typeface="Franklin Gothic Demi Cond"/>
                <a:ea typeface="Franklin Gothic Demi Cond"/>
                <a:cs typeface="Franklin Gothic Demi Cond"/>
              </a:rPr>
              <a:t>Analysis of the feasibility of the idea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365760" y="1591056"/>
            <a:ext cx="1810511" cy="1042415"/>
          </a:xfrm>
          <a:prstGeom prst="rect">
            <a:avLst/>
          </a:prstGeom>
          <a:solidFill>
            <a:srgbClr val="0B7A5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493776" y="1664208"/>
            <a:ext cx="162763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Franklin Gothic Demi Cond"/>
                <a:ea typeface="Franklin Gothic Demi Cond"/>
                <a:cs typeface="Franklin Gothic Demi Cond"/>
              </a:rPr>
              <a:t>20/20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93776" y="2157984"/>
            <a:ext cx="1609343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official SIH26121 requirements pass an API check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2304287" y="1591056"/>
            <a:ext cx="1810511" cy="1042415"/>
          </a:xfrm>
          <a:prstGeom prst="rect">
            <a:avLst/>
          </a:prstGeom>
          <a:solidFill>
            <a:srgbClr val="5B4B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2432303" y="1664208"/>
            <a:ext cx="162763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Franklin Gothic Demi Cond"/>
                <a:ea typeface="Franklin Gothic Demi Cond"/>
                <a:cs typeface="Franklin Gothic Demi Cond"/>
              </a:rPr>
              <a:t>94 %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2432303" y="2157984"/>
            <a:ext cx="1609343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precision on real, held-out well histories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365760" y="2761487"/>
            <a:ext cx="1810511" cy="1042415"/>
          </a:xfrm>
          <a:prstGeom prst="rect">
            <a:avLst/>
          </a:prstGeom>
          <a:solidFill>
            <a:srgbClr val="0E153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493776" y="2834639"/>
            <a:ext cx="162763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Franklin Gothic Demi Cond"/>
                <a:ea typeface="Franklin Gothic Demi Cond"/>
                <a:cs typeface="Franklin Gothic Demi Cond"/>
              </a:rPr>
              <a:t>0.86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93776" y="3328415"/>
            <a:ext cx="1609343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AUC of the learned risk cross-check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2304287" y="2761487"/>
            <a:ext cx="1810511" cy="1042415"/>
          </a:xfrm>
          <a:prstGeom prst="rect">
            <a:avLst/>
          </a:prstGeom>
          <a:solidFill>
            <a:srgbClr val="F5A70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2432303" y="2834639"/>
            <a:ext cx="1627631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0C0E14"/>
                </a:solidFill>
                <a:latin typeface="Franklin Gothic Demi Cond"/>
                <a:ea typeface="Franklin Gothic Demi Cond"/>
                <a:cs typeface="Franklin Gothic Demi Cond"/>
              </a:rPr>
              <a:t>&lt; 30 ms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2432303" y="3328415"/>
            <a:ext cx="1609343" cy="4937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for a cited answer or a full risk evaluation</a:t>
            </a:r>
          </a:p>
        </p:txBody>
      </p:sp>
      <p:pic>
        <p:nvPicPr>
          <p:cNvPr id="17424" name="Picture 17423" descr="lu-LuCircleCheck-0B7A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023360"/>
            <a:ext cx="237744" cy="237744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694944" y="3986784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Technical</a:t>
            </a:r>
            <a:r>
              <a:rPr sz="11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 — open source, one server, no GPU</a:t>
            </a:r>
          </a:p>
        </p:txBody>
      </p:sp>
      <p:pic>
        <p:nvPicPr>
          <p:cNvPr id="17426" name="Picture 17425" descr="lu-LuCircleCheck-0B7A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334256"/>
            <a:ext cx="237744" cy="237744"/>
          </a:xfrm>
          <a:prstGeom prst="rect">
            <a:avLst/>
          </a:prstGeom>
        </p:spPr>
      </p:pic>
      <p:sp>
        <p:nvSpPr>
          <p:cNvPr id="17427" name="TextBox 17426"/>
          <p:cNvSpPr txBox="1"/>
          <p:nvPr/>
        </p:nvSpPr>
        <p:spPr>
          <a:xfrm>
            <a:off x="694944" y="4297680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Operational</a:t>
            </a:r>
            <a:r>
              <a:rPr sz="11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 — beside eRTMAC, no workflow change</a:t>
            </a:r>
          </a:p>
        </p:txBody>
      </p:sp>
      <p:pic>
        <p:nvPicPr>
          <p:cNvPr id="17428" name="Picture 17427" descr="lu-LuCircleCheck-0B7A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645152"/>
            <a:ext cx="237744" cy="237744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694944" y="4608576"/>
            <a:ext cx="341985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Economic</a:t>
            </a:r>
            <a:r>
              <a:rPr sz="11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 — no licence cost; saves NPT days</a:t>
            </a:r>
          </a:p>
        </p:txBody>
      </p:sp>
      <p:sp>
        <p:nvSpPr>
          <p:cNvPr id="17430" name="Rectangle 17429"/>
          <p:cNvSpPr/>
          <p:nvPr/>
        </p:nvSpPr>
        <p:spPr>
          <a:xfrm>
            <a:off x="4389120" y="1188720"/>
            <a:ext cx="283464" cy="283464"/>
          </a:xfrm>
          <a:prstGeom prst="rect">
            <a:avLst/>
          </a:prstGeom>
          <a:solidFill>
            <a:srgbClr val="5B4B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Franklin Gothic Demi Cond"/>
                <a:ea typeface="Franklin Gothic Demi Cond"/>
                <a:cs typeface="Franklin Gothic Demi Cond"/>
              </a:rPr>
              <a:t>2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4782312" y="1170432"/>
            <a:ext cx="2990087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C0E14"/>
                </a:solidFill>
                <a:latin typeface="Franklin Gothic Demi Cond"/>
                <a:ea typeface="Franklin Gothic Demi Cond"/>
                <a:cs typeface="Franklin Gothic Demi Cond"/>
              </a:rPr>
              <a:t>Potential challenges and risks</a:t>
            </a:r>
          </a:p>
        </p:txBody>
      </p:sp>
      <p:sp>
        <p:nvSpPr>
          <p:cNvPr id="17432" name="Rectangle 17431"/>
          <p:cNvSpPr/>
          <p:nvPr/>
        </p:nvSpPr>
        <p:spPr>
          <a:xfrm>
            <a:off x="7790688" y="1188720"/>
            <a:ext cx="283464" cy="283464"/>
          </a:xfrm>
          <a:prstGeom prst="rect">
            <a:avLst/>
          </a:prstGeom>
          <a:solidFill>
            <a:srgbClr val="5B4B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Franklin Gothic Demi Cond"/>
                <a:ea typeface="Franklin Gothic Demi Cond"/>
                <a:cs typeface="Franklin Gothic Demi Cond"/>
              </a:rPr>
              <a:t>3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8183879" y="11704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C0E14"/>
                </a:solidFill>
                <a:latin typeface="Franklin Gothic Demi Cond"/>
                <a:ea typeface="Franklin Gothic Demi Cond"/>
                <a:cs typeface="Franklin Gothic Demi Cond"/>
              </a:rPr>
              <a:t>Strategies for overcoming these challenges</a:t>
            </a:r>
          </a:p>
        </p:txBody>
      </p:sp>
      <p:sp>
        <p:nvSpPr>
          <p:cNvPr id="17434" name="Rectangle 17433"/>
          <p:cNvSpPr/>
          <p:nvPr/>
        </p:nvSpPr>
        <p:spPr>
          <a:xfrm>
            <a:off x="4389120" y="1591056"/>
            <a:ext cx="3017520" cy="566928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35" name="Rectangle 17434"/>
          <p:cNvSpPr/>
          <p:nvPr/>
        </p:nvSpPr>
        <p:spPr>
          <a:xfrm>
            <a:off x="4471416" y="1682496"/>
            <a:ext cx="384048" cy="384048"/>
          </a:xfrm>
          <a:prstGeom prst="rect">
            <a:avLst/>
          </a:prstGeom>
          <a:solidFill>
            <a:srgbClr val="D92D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36" name="Picture 17435" descr="lu-LuLock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8225" y="1759305"/>
            <a:ext cx="230428" cy="230428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5001768" y="1591056"/>
            <a:ext cx="1673351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Confidential well data</a:t>
            </a:r>
          </a:p>
        </p:txBody>
      </p:sp>
      <p:sp>
        <p:nvSpPr>
          <p:cNvPr id="17438" name="Rectangle 17437"/>
          <p:cNvSpPr/>
          <p:nvPr/>
        </p:nvSpPr>
        <p:spPr>
          <a:xfrm>
            <a:off x="6693407" y="1755648"/>
            <a:ext cx="621792" cy="237744"/>
          </a:xfrm>
          <a:prstGeom prst="rect">
            <a:avLst/>
          </a:prstGeom>
          <a:solidFill>
            <a:srgbClr val="D92D32"/>
          </a:solidFill>
          <a:ln>
            <a:noFill/>
          </a:ln>
        </p:spPr>
        <p:txBody>
          <a:bodyPr rtlCol="0" anchor="ctr" lIns="45720" rIns="45720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 Bold"/>
                <a:ea typeface="Segoe UI Bold"/>
                <a:cs typeface="Segoe UI Bold"/>
              </a:rPr>
              <a:t>High</a:t>
            </a:r>
          </a:p>
        </p:txBody>
      </p:sp>
      <p:cxnSp>
        <p:nvCxnSpPr>
          <p:cNvPr id="17439" name="Connector 17438"/>
          <p:cNvCxnSpPr/>
          <p:nvPr/>
        </p:nvCxnSpPr>
        <p:spPr>
          <a:xfrm>
            <a:off x="7452360" y="1874519"/>
            <a:ext cx="283463" cy="0"/>
          </a:xfrm>
          <a:prstGeom prst="line">
            <a:avLst/>
          </a:prstGeom>
          <a:ln w="25400">
            <a:solidFill>
              <a:srgbClr val="0C0E14"/>
            </a:solidFill>
            <a:tailEnd type="triangle" w="med" len="med"/>
          </a:ln>
        </p:spPr>
      </p:cxnSp>
      <p:sp>
        <p:nvSpPr>
          <p:cNvPr id="17440" name="Rectangle 17439"/>
          <p:cNvSpPr/>
          <p:nvPr/>
        </p:nvSpPr>
        <p:spPr>
          <a:xfrm>
            <a:off x="7790688" y="1591056"/>
            <a:ext cx="4050791" cy="566928"/>
          </a:xfrm>
          <a:prstGeom prst="rect">
            <a:avLst/>
          </a:prstGeom>
          <a:solidFill>
            <a:srgbClr val="E4F5E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41" name="Picture 17440" descr="lu-LuCircleCheck-0B7A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415" y="1755648"/>
            <a:ext cx="237744" cy="237744"/>
          </a:xfrm>
          <a:prstGeom prst="rect">
            <a:avLst/>
          </a:prstGeom>
        </p:spPr>
      </p:pic>
      <p:sp>
        <p:nvSpPr>
          <p:cNvPr id="17442" name="TextBox 17441"/>
          <p:cNvSpPr txBox="1"/>
          <p:nvPr/>
        </p:nvSpPr>
        <p:spPr>
          <a:xfrm>
            <a:off x="8229600" y="1591056"/>
            <a:ext cx="3520439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On-prem in OIL's network, </a:t>
            </a:r>
            <a:r>
              <a:rPr sz="108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runs offline</a:t>
            </a:r>
            <a:r>
              <a:rPr sz="108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; the LLM is optional and </a:t>
            </a:r>
            <a:r>
              <a:rPr sz="108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off by default</a:t>
            </a:r>
            <a:r>
              <a:rPr sz="108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; SSO roles.</a:t>
            </a:r>
          </a:p>
        </p:txBody>
      </p:sp>
      <p:sp>
        <p:nvSpPr>
          <p:cNvPr id="17443" name="Rectangle 17442"/>
          <p:cNvSpPr/>
          <p:nvPr/>
        </p:nvSpPr>
        <p:spPr>
          <a:xfrm>
            <a:off x="4389120" y="2249424"/>
            <a:ext cx="3017520" cy="566928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44" name="Rectangle 17443"/>
          <p:cNvSpPr/>
          <p:nvPr/>
        </p:nvSpPr>
        <p:spPr>
          <a:xfrm>
            <a:off x="4471416" y="2340864"/>
            <a:ext cx="384048" cy="384048"/>
          </a:xfrm>
          <a:prstGeom prst="rect">
            <a:avLst/>
          </a:prstGeom>
          <a:solidFill>
            <a:srgbClr val="D92D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45" name="Picture 17444" descr="lu-LuFileWarning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8225" y="2417673"/>
            <a:ext cx="230428" cy="230428"/>
          </a:xfrm>
          <a:prstGeom prst="rect">
            <a:avLst/>
          </a:prstGeom>
        </p:spPr>
      </p:pic>
      <p:sp>
        <p:nvSpPr>
          <p:cNvPr id="17446" name="TextBox 17445"/>
          <p:cNvSpPr txBox="1"/>
          <p:nvPr/>
        </p:nvSpPr>
        <p:spPr>
          <a:xfrm>
            <a:off x="5001768" y="2249424"/>
            <a:ext cx="1673351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Scanned, messy old reports</a:t>
            </a:r>
          </a:p>
        </p:txBody>
      </p:sp>
      <p:sp>
        <p:nvSpPr>
          <p:cNvPr id="17447" name="Rectangle 17446"/>
          <p:cNvSpPr/>
          <p:nvPr/>
        </p:nvSpPr>
        <p:spPr>
          <a:xfrm>
            <a:off x="6693407" y="2414016"/>
            <a:ext cx="621792" cy="237744"/>
          </a:xfrm>
          <a:prstGeom prst="rect">
            <a:avLst/>
          </a:prstGeom>
          <a:solidFill>
            <a:srgbClr val="D92D32"/>
          </a:solidFill>
          <a:ln>
            <a:noFill/>
          </a:ln>
        </p:spPr>
        <p:txBody>
          <a:bodyPr rtlCol="0" anchor="ctr" lIns="45720" rIns="45720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 Bold"/>
                <a:ea typeface="Segoe UI Bold"/>
                <a:cs typeface="Segoe UI Bold"/>
              </a:rPr>
              <a:t>High</a:t>
            </a:r>
          </a:p>
        </p:txBody>
      </p:sp>
      <p:cxnSp>
        <p:nvCxnSpPr>
          <p:cNvPr id="17448" name="Connector 17447"/>
          <p:cNvCxnSpPr/>
          <p:nvPr/>
        </p:nvCxnSpPr>
        <p:spPr>
          <a:xfrm>
            <a:off x="7452360" y="2532888"/>
            <a:ext cx="283463" cy="0"/>
          </a:xfrm>
          <a:prstGeom prst="line">
            <a:avLst/>
          </a:prstGeom>
          <a:ln w="25400">
            <a:solidFill>
              <a:srgbClr val="0C0E14"/>
            </a:solidFill>
            <a:tailEnd type="triangle" w="med" len="med"/>
          </a:ln>
        </p:spPr>
      </p:cxnSp>
      <p:sp>
        <p:nvSpPr>
          <p:cNvPr id="17449" name="Rectangle 17448"/>
          <p:cNvSpPr/>
          <p:nvPr/>
        </p:nvSpPr>
        <p:spPr>
          <a:xfrm>
            <a:off x="7790688" y="2249424"/>
            <a:ext cx="4050791" cy="566928"/>
          </a:xfrm>
          <a:prstGeom prst="rect">
            <a:avLst/>
          </a:prstGeom>
          <a:solidFill>
            <a:srgbClr val="E4F5E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50" name="Picture 17449" descr="lu-LuCircleCheck-0B7A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415" y="2414016"/>
            <a:ext cx="237744" cy="237744"/>
          </a:xfrm>
          <a:prstGeom prst="rect">
            <a:avLst/>
          </a:prstGeom>
        </p:spPr>
      </p:pic>
      <p:sp>
        <p:nvSpPr>
          <p:cNvPr id="17451" name="TextBox 17450"/>
          <p:cNvSpPr txBox="1"/>
          <p:nvPr/>
        </p:nvSpPr>
        <p:spPr>
          <a:xfrm>
            <a:off x="8229600" y="2249424"/>
            <a:ext cx="3520439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OCR with per-page confidence; </a:t>
            </a:r>
            <a:r>
              <a:rPr sz="108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an engineer approves</a:t>
            </a:r>
            <a:r>
              <a:rPr sz="108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 every extracted event.</a:t>
            </a:r>
          </a:p>
        </p:txBody>
      </p:sp>
      <p:sp>
        <p:nvSpPr>
          <p:cNvPr id="17452" name="Rectangle 17451"/>
          <p:cNvSpPr/>
          <p:nvPr/>
        </p:nvSpPr>
        <p:spPr>
          <a:xfrm>
            <a:off x="4389120" y="2907791"/>
            <a:ext cx="3017520" cy="566928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53" name="Rectangle 17452"/>
          <p:cNvSpPr/>
          <p:nvPr/>
        </p:nvSpPr>
        <p:spPr>
          <a:xfrm>
            <a:off x="4471416" y="2999232"/>
            <a:ext cx="384048" cy="3840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54" name="Picture 17453" descr="lu-LuBellRing-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8225" y="3076041"/>
            <a:ext cx="230428" cy="230428"/>
          </a:xfrm>
          <a:prstGeom prst="rect">
            <a:avLst/>
          </a:prstGeom>
        </p:spPr>
      </p:pic>
      <p:sp>
        <p:nvSpPr>
          <p:cNvPr id="17455" name="TextBox 17454"/>
          <p:cNvSpPr txBox="1"/>
          <p:nvPr/>
        </p:nvSpPr>
        <p:spPr>
          <a:xfrm>
            <a:off x="5001768" y="2907791"/>
            <a:ext cx="1673351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Alert fatigue on the rig</a:t>
            </a:r>
          </a:p>
        </p:txBody>
      </p:sp>
      <p:sp>
        <p:nvSpPr>
          <p:cNvPr id="17456" name="Rectangle 17455"/>
          <p:cNvSpPr/>
          <p:nvPr/>
        </p:nvSpPr>
        <p:spPr>
          <a:xfrm>
            <a:off x="6693407" y="3072384"/>
            <a:ext cx="621792" cy="23774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 lIns="45720" rIns="45720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 Bold"/>
                <a:ea typeface="Segoe UI Bold"/>
                <a:cs typeface="Segoe UI Bold"/>
              </a:rPr>
              <a:t>Medium</a:t>
            </a:r>
          </a:p>
        </p:txBody>
      </p:sp>
      <p:cxnSp>
        <p:nvCxnSpPr>
          <p:cNvPr id="17457" name="Connector 17456"/>
          <p:cNvCxnSpPr/>
          <p:nvPr/>
        </p:nvCxnSpPr>
        <p:spPr>
          <a:xfrm>
            <a:off x="7452360" y="3191256"/>
            <a:ext cx="283463" cy="0"/>
          </a:xfrm>
          <a:prstGeom prst="line">
            <a:avLst/>
          </a:prstGeom>
          <a:ln w="25400">
            <a:solidFill>
              <a:srgbClr val="0C0E14"/>
            </a:solidFill>
            <a:tailEnd type="triangle" w="med" len="med"/>
          </a:ln>
        </p:spPr>
      </p:cxnSp>
      <p:sp>
        <p:nvSpPr>
          <p:cNvPr id="17458" name="Rectangle 17457"/>
          <p:cNvSpPr/>
          <p:nvPr/>
        </p:nvSpPr>
        <p:spPr>
          <a:xfrm>
            <a:off x="7790688" y="2907791"/>
            <a:ext cx="4050791" cy="566928"/>
          </a:xfrm>
          <a:prstGeom prst="rect">
            <a:avLst/>
          </a:prstGeom>
          <a:solidFill>
            <a:srgbClr val="E4F5E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59" name="Picture 17458" descr="lu-LuCircleCheck-0B7A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415" y="3072384"/>
            <a:ext cx="237744" cy="237744"/>
          </a:xfrm>
          <a:prstGeom prst="rect">
            <a:avLst/>
          </a:prstGeom>
        </p:spPr>
      </p:pic>
      <p:sp>
        <p:nvSpPr>
          <p:cNvPr id="17460" name="TextBox 17459"/>
          <p:cNvSpPr txBox="1"/>
          <p:nvPr/>
        </p:nvSpPr>
        <p:spPr>
          <a:xfrm>
            <a:off x="8229600" y="2907791"/>
            <a:ext cx="3520439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Weak windows need </a:t>
            </a:r>
            <a:r>
              <a:rPr sz="108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live confirmation</a:t>
            </a:r>
            <a:r>
              <a:rPr sz="108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; one alert per window — it </a:t>
            </a:r>
            <a:r>
              <a:rPr sz="108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escalates, never repeats</a:t>
            </a:r>
            <a:r>
              <a:rPr sz="108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.</a:t>
            </a:r>
          </a:p>
        </p:txBody>
      </p:sp>
      <p:sp>
        <p:nvSpPr>
          <p:cNvPr id="17461" name="Rectangle 17460"/>
          <p:cNvSpPr/>
          <p:nvPr/>
        </p:nvSpPr>
        <p:spPr>
          <a:xfrm>
            <a:off x="4389120" y="3566160"/>
            <a:ext cx="3017520" cy="566928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62" name="Rectangle 17461"/>
          <p:cNvSpPr/>
          <p:nvPr/>
        </p:nvSpPr>
        <p:spPr>
          <a:xfrm>
            <a:off x="4471416" y="3657600"/>
            <a:ext cx="384048" cy="3840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63" name="Picture 17462" descr="lu-LuScale-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8225" y="3734409"/>
            <a:ext cx="230428" cy="230428"/>
          </a:xfrm>
          <a:prstGeom prst="rect">
            <a:avLst/>
          </a:prstGeom>
        </p:spPr>
      </p:pic>
      <p:sp>
        <p:nvSpPr>
          <p:cNvPr id="17464" name="TextBox 17463"/>
          <p:cNvSpPr txBox="1"/>
          <p:nvPr/>
        </p:nvSpPr>
        <p:spPr>
          <a:xfrm>
            <a:off x="5001768" y="3566160"/>
            <a:ext cx="1673351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Trust in AI advice</a:t>
            </a:r>
          </a:p>
        </p:txBody>
      </p:sp>
      <p:sp>
        <p:nvSpPr>
          <p:cNvPr id="17465" name="Rectangle 17464"/>
          <p:cNvSpPr/>
          <p:nvPr/>
        </p:nvSpPr>
        <p:spPr>
          <a:xfrm>
            <a:off x="6693407" y="3730752"/>
            <a:ext cx="621792" cy="23774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 lIns="45720" rIns="45720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 Bold"/>
                <a:ea typeface="Segoe UI Bold"/>
                <a:cs typeface="Segoe UI Bold"/>
              </a:rPr>
              <a:t>Medium</a:t>
            </a:r>
          </a:p>
        </p:txBody>
      </p:sp>
      <p:cxnSp>
        <p:nvCxnSpPr>
          <p:cNvPr id="17466" name="Connector 17465"/>
          <p:cNvCxnSpPr/>
          <p:nvPr/>
        </p:nvCxnSpPr>
        <p:spPr>
          <a:xfrm>
            <a:off x="7452360" y="3849624"/>
            <a:ext cx="283463" cy="0"/>
          </a:xfrm>
          <a:prstGeom prst="line">
            <a:avLst/>
          </a:prstGeom>
          <a:ln w="25400">
            <a:solidFill>
              <a:srgbClr val="0C0E14"/>
            </a:solidFill>
            <a:tailEnd type="triangle" w="med" len="med"/>
          </a:ln>
        </p:spPr>
      </p:cxnSp>
      <p:sp>
        <p:nvSpPr>
          <p:cNvPr id="17467" name="Rectangle 17466"/>
          <p:cNvSpPr/>
          <p:nvPr/>
        </p:nvSpPr>
        <p:spPr>
          <a:xfrm>
            <a:off x="7790688" y="3566160"/>
            <a:ext cx="4050791" cy="566928"/>
          </a:xfrm>
          <a:prstGeom prst="rect">
            <a:avLst/>
          </a:prstGeom>
          <a:solidFill>
            <a:srgbClr val="E4F5E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68" name="Picture 17467" descr="lu-LuCircleCheck-0B7A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415" y="3730752"/>
            <a:ext cx="237744" cy="237744"/>
          </a:xfrm>
          <a:prstGeom prst="rect">
            <a:avLst/>
          </a:prstGeom>
        </p:spPr>
      </p:pic>
      <p:sp>
        <p:nvSpPr>
          <p:cNvPr id="17469" name="TextBox 17468"/>
          <p:cNvSpPr txBox="1"/>
          <p:nvPr/>
        </p:nvSpPr>
        <p:spPr>
          <a:xfrm>
            <a:off x="8229600" y="3566160"/>
            <a:ext cx="3520439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Every alert shows </a:t>
            </a:r>
            <a:r>
              <a:rPr sz="108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Why?</a:t>
            </a:r>
            <a:r>
              <a:rPr sz="108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 — factors, cited evidence, confidence. </a:t>
            </a:r>
            <a:r>
              <a:rPr sz="108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The engineer decides.</a:t>
            </a:r>
          </a:p>
        </p:txBody>
      </p:sp>
      <p:sp>
        <p:nvSpPr>
          <p:cNvPr id="17470" name="Rectangle 17469"/>
          <p:cNvSpPr/>
          <p:nvPr/>
        </p:nvSpPr>
        <p:spPr>
          <a:xfrm>
            <a:off x="4389120" y="4224528"/>
            <a:ext cx="3017520" cy="566928"/>
          </a:xfrm>
          <a:prstGeom prst="rect">
            <a:avLst/>
          </a:prstGeom>
          <a:solidFill>
            <a:srgbClr val="FCEBE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71" name="Rectangle 17470"/>
          <p:cNvSpPr/>
          <p:nvPr/>
        </p:nvSpPr>
        <p:spPr>
          <a:xfrm>
            <a:off x="4471416" y="4315968"/>
            <a:ext cx="384048" cy="384048"/>
          </a:xfrm>
          <a:prstGeom prst="rect">
            <a:avLst/>
          </a:prstGeom>
          <a:solidFill>
            <a:srgbClr val="0B7A5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72" name="Picture 17471" descr="lu-LuSigma-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8225" y="4392777"/>
            <a:ext cx="230428" cy="230428"/>
          </a:xfrm>
          <a:prstGeom prst="rect">
            <a:avLst/>
          </a:prstGeom>
        </p:spPr>
      </p:pic>
      <p:sp>
        <p:nvSpPr>
          <p:cNvPr id="17473" name="TextBox 17472"/>
          <p:cNvSpPr txBox="1"/>
          <p:nvPr/>
        </p:nvSpPr>
        <p:spPr>
          <a:xfrm>
            <a:off x="5001768" y="4224528"/>
            <a:ext cx="1673351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Demo-tuned weights</a:t>
            </a:r>
          </a:p>
        </p:txBody>
      </p:sp>
      <p:sp>
        <p:nvSpPr>
          <p:cNvPr id="17474" name="Rectangle 17473"/>
          <p:cNvSpPr/>
          <p:nvPr/>
        </p:nvSpPr>
        <p:spPr>
          <a:xfrm>
            <a:off x="6693407" y="4389120"/>
            <a:ext cx="621792" cy="237744"/>
          </a:xfrm>
          <a:prstGeom prst="rect">
            <a:avLst/>
          </a:prstGeom>
          <a:solidFill>
            <a:srgbClr val="0B7A58"/>
          </a:solidFill>
          <a:ln>
            <a:noFill/>
          </a:ln>
        </p:spPr>
        <p:txBody>
          <a:bodyPr rtlCol="0" anchor="ctr" lIns="45720" rIns="45720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 Bold"/>
                <a:ea typeface="Segoe UI Bold"/>
                <a:cs typeface="Segoe UI Bold"/>
              </a:rPr>
              <a:t>Low</a:t>
            </a:r>
          </a:p>
        </p:txBody>
      </p:sp>
      <p:cxnSp>
        <p:nvCxnSpPr>
          <p:cNvPr id="17475" name="Connector 17474"/>
          <p:cNvCxnSpPr/>
          <p:nvPr/>
        </p:nvCxnSpPr>
        <p:spPr>
          <a:xfrm>
            <a:off x="7452360" y="4507992"/>
            <a:ext cx="283463" cy="0"/>
          </a:xfrm>
          <a:prstGeom prst="line">
            <a:avLst/>
          </a:prstGeom>
          <a:ln w="25400">
            <a:solidFill>
              <a:srgbClr val="0C0E14"/>
            </a:solidFill>
            <a:tailEnd type="triangle" w="med" len="med"/>
          </a:ln>
        </p:spPr>
      </p:cxnSp>
      <p:sp>
        <p:nvSpPr>
          <p:cNvPr id="17476" name="Rectangle 17475"/>
          <p:cNvSpPr/>
          <p:nvPr/>
        </p:nvSpPr>
        <p:spPr>
          <a:xfrm>
            <a:off x="7790688" y="4224528"/>
            <a:ext cx="4050791" cy="566928"/>
          </a:xfrm>
          <a:prstGeom prst="rect">
            <a:avLst/>
          </a:prstGeom>
          <a:solidFill>
            <a:srgbClr val="E4F5E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77" name="Picture 17476" descr="lu-LuCircleCheck-0B7A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0415" y="4389120"/>
            <a:ext cx="237744" cy="237744"/>
          </a:xfrm>
          <a:prstGeom prst="rect">
            <a:avLst/>
          </a:prstGeom>
        </p:spPr>
      </p:pic>
      <p:sp>
        <p:nvSpPr>
          <p:cNvPr id="17478" name="TextBox 17477"/>
          <p:cNvSpPr txBox="1"/>
          <p:nvPr/>
        </p:nvSpPr>
        <p:spPr>
          <a:xfrm>
            <a:off x="8229600" y="4224528"/>
            <a:ext cx="3520439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Refit on OIL's NPT history</a:t>
            </a:r>
            <a:r>
              <a:rPr sz="108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, then a </a:t>
            </a:r>
            <a:r>
              <a:rPr sz="108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shadow pilot</a:t>
            </a:r>
            <a:r>
              <a:rPr sz="108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 before alerts go live.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365760" y="4974336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C0E14"/>
                </a:solidFill>
                <a:latin typeface="Franklin Gothic Demi Cond"/>
                <a:ea typeface="Franklin Gothic Demi Cond"/>
                <a:cs typeface="Franklin Gothic Demi Cond"/>
              </a:rPr>
              <a:t>Viability — from prototype to OIL rigs in 12 months</a:t>
            </a:r>
          </a:p>
        </p:txBody>
      </p:sp>
      <p:sp>
        <p:nvSpPr>
          <p:cNvPr id="17480" name="Pentagon 17479"/>
          <p:cNvSpPr/>
          <p:nvPr/>
        </p:nvSpPr>
        <p:spPr>
          <a:xfrm>
            <a:off x="365760" y="5340096"/>
            <a:ext cx="3033522" cy="932687"/>
          </a:xfrm>
          <a:prstGeom prst="homePlate">
            <a:avLst>
              <a:gd name="adj" fmla="val 28000"/>
            </a:avLst>
          </a:prstGeom>
          <a:solidFill>
            <a:srgbClr val="0B7A5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81" name="TextBox 17480"/>
          <p:cNvSpPr txBox="1"/>
          <p:nvPr/>
        </p:nvSpPr>
        <p:spPr>
          <a:xfrm>
            <a:off x="548640" y="5404104"/>
            <a:ext cx="230200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NOW</a:t>
            </a:r>
          </a:p>
        </p:txBody>
      </p:sp>
      <p:sp>
        <p:nvSpPr>
          <p:cNvPr id="17482" name="TextBox 17481"/>
          <p:cNvSpPr txBox="1"/>
          <p:nvPr/>
        </p:nvSpPr>
        <p:spPr>
          <a:xfrm>
            <a:off x="548640" y="5586984"/>
            <a:ext cx="230200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Franklin Gothic Demi Cond"/>
                <a:ea typeface="Franklin Gothic Demi Cond"/>
                <a:cs typeface="Franklin Gothic Demi Cond"/>
              </a:rPr>
              <a:t>Prototype ready</a:t>
            </a:r>
          </a:p>
        </p:txBody>
      </p:sp>
      <p:sp>
        <p:nvSpPr>
          <p:cNvPr id="17483" name="TextBox 17482"/>
          <p:cNvSpPr txBox="1"/>
          <p:nvPr/>
        </p:nvSpPr>
        <p:spPr>
          <a:xfrm>
            <a:off x="548640" y="5870448"/>
            <a:ext cx="230200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20/20 requirements · real-data proof · demo film</a:t>
            </a:r>
          </a:p>
        </p:txBody>
      </p:sp>
      <p:sp>
        <p:nvSpPr>
          <p:cNvPr id="17484" name="Chevron 17483"/>
          <p:cNvSpPr/>
          <p:nvPr/>
        </p:nvSpPr>
        <p:spPr>
          <a:xfrm>
            <a:off x="3234690" y="5340096"/>
            <a:ext cx="3033522" cy="932687"/>
          </a:xfrm>
          <a:prstGeom prst="chevron">
            <a:avLst>
              <a:gd name="adj" fmla="val 28000"/>
            </a:avLst>
          </a:prstGeom>
          <a:solidFill>
            <a:srgbClr val="5B4B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85" name="TextBox 17484"/>
          <p:cNvSpPr txBox="1"/>
          <p:nvPr/>
        </p:nvSpPr>
        <p:spPr>
          <a:xfrm>
            <a:off x="3655314" y="5404104"/>
            <a:ext cx="230200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MONTH 0–3</a:t>
            </a:r>
          </a:p>
        </p:txBody>
      </p:sp>
      <p:sp>
        <p:nvSpPr>
          <p:cNvPr id="17486" name="TextBox 17485"/>
          <p:cNvSpPr txBox="1"/>
          <p:nvPr/>
        </p:nvSpPr>
        <p:spPr>
          <a:xfrm>
            <a:off x="3655314" y="5586984"/>
            <a:ext cx="230200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Franklin Gothic Demi Cond"/>
                <a:ea typeface="Franklin Gothic Demi Cond"/>
                <a:cs typeface="Franklin Gothic Demi Cond"/>
              </a:rPr>
              <a:t>Ingest one field</a:t>
            </a:r>
          </a:p>
        </p:txBody>
      </p:sp>
      <p:sp>
        <p:nvSpPr>
          <p:cNvPr id="17487" name="TextBox 17486"/>
          <p:cNvSpPr txBox="1"/>
          <p:nvPr/>
        </p:nvSpPr>
        <p:spPr>
          <a:xfrm>
            <a:off x="3655314" y="5870448"/>
            <a:ext cx="230200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OIL DDR / WCR archive, SME review, refit weights</a:t>
            </a:r>
          </a:p>
        </p:txBody>
      </p:sp>
      <p:sp>
        <p:nvSpPr>
          <p:cNvPr id="17488" name="Chevron 17487"/>
          <p:cNvSpPr/>
          <p:nvPr/>
        </p:nvSpPr>
        <p:spPr>
          <a:xfrm>
            <a:off x="6103620" y="5340096"/>
            <a:ext cx="3033522" cy="932687"/>
          </a:xfrm>
          <a:prstGeom prst="chevron">
            <a:avLst>
              <a:gd name="adj" fmla="val 28000"/>
            </a:avLst>
          </a:prstGeom>
          <a:solidFill>
            <a:srgbClr val="0E153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89" name="TextBox 17488"/>
          <p:cNvSpPr txBox="1"/>
          <p:nvPr/>
        </p:nvSpPr>
        <p:spPr>
          <a:xfrm>
            <a:off x="6524244" y="5404104"/>
            <a:ext cx="230200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MONTH 3–6</a:t>
            </a:r>
          </a:p>
        </p:txBody>
      </p:sp>
      <p:sp>
        <p:nvSpPr>
          <p:cNvPr id="17490" name="TextBox 17489"/>
          <p:cNvSpPr txBox="1"/>
          <p:nvPr/>
        </p:nvSpPr>
        <p:spPr>
          <a:xfrm>
            <a:off x="6524244" y="5586984"/>
            <a:ext cx="230200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Franklin Gothic Demi Cond"/>
                <a:ea typeface="Franklin Gothic Demi Cond"/>
                <a:cs typeface="Franklin Gothic Demi Cond"/>
              </a:rPr>
              <a:t>Shadow pilot at eRTMAC</a:t>
            </a:r>
          </a:p>
        </p:txBody>
      </p:sp>
      <p:sp>
        <p:nvSpPr>
          <p:cNvPr id="17491" name="TextBox 17490"/>
          <p:cNvSpPr txBox="1"/>
          <p:nvPr/>
        </p:nvSpPr>
        <p:spPr>
          <a:xfrm>
            <a:off x="6524244" y="5870448"/>
            <a:ext cx="230200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2 rigs · alerts logged, not shown · measure lead</a:t>
            </a:r>
          </a:p>
        </p:txBody>
      </p:sp>
      <p:sp>
        <p:nvSpPr>
          <p:cNvPr id="17492" name="Chevron 17491"/>
          <p:cNvSpPr/>
          <p:nvPr/>
        </p:nvSpPr>
        <p:spPr>
          <a:xfrm>
            <a:off x="8972550" y="5340096"/>
            <a:ext cx="2868930" cy="932687"/>
          </a:xfrm>
          <a:prstGeom prst="chevron">
            <a:avLst>
              <a:gd name="adj" fmla="val 28000"/>
            </a:avLst>
          </a:prstGeom>
          <a:solidFill>
            <a:srgbClr val="F5A70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93" name="TextBox 17492"/>
          <p:cNvSpPr txBox="1"/>
          <p:nvPr/>
        </p:nvSpPr>
        <p:spPr>
          <a:xfrm>
            <a:off x="9393174" y="5404104"/>
            <a:ext cx="2302002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MONTH 6–12</a:t>
            </a:r>
          </a:p>
        </p:txBody>
      </p:sp>
      <p:sp>
        <p:nvSpPr>
          <p:cNvPr id="17494" name="TextBox 17493"/>
          <p:cNvSpPr txBox="1"/>
          <p:nvPr/>
        </p:nvSpPr>
        <p:spPr>
          <a:xfrm>
            <a:off x="9393174" y="5586984"/>
            <a:ext cx="230200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C0E14"/>
                </a:solidFill>
                <a:latin typeface="Franklin Gothic Demi Cond"/>
                <a:ea typeface="Franklin Gothic Demi Cond"/>
                <a:cs typeface="Franklin Gothic Demi Cond"/>
              </a:rPr>
              <a:t>Roll out</a:t>
            </a:r>
          </a:p>
        </p:txBody>
      </p:sp>
      <p:sp>
        <p:nvSpPr>
          <p:cNvPr id="17495" name="TextBox 17494"/>
          <p:cNvSpPr txBox="1"/>
          <p:nvPr/>
        </p:nvSpPr>
        <p:spPr>
          <a:xfrm>
            <a:off x="9393174" y="5870448"/>
            <a:ext cx="2302002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live WITSML feed · SSO · all Assam rigs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365760" y="1188720"/>
            <a:ext cx="283464" cy="283464"/>
          </a:xfrm>
          <a:prstGeom prst="rect">
            <a:avLst/>
          </a:prstGeom>
          <a:solidFill>
            <a:srgbClr val="5B4B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Franklin Gothic Demi Cond"/>
                <a:ea typeface="Franklin Gothic Demi Cond"/>
                <a:cs typeface="Franklin Gothic Demi Cond"/>
              </a:rPr>
              <a:t>1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758952" y="1170432"/>
            <a:ext cx="376732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C0E14"/>
                </a:solidFill>
                <a:latin typeface="Franklin Gothic Demi Cond"/>
                <a:ea typeface="Franklin Gothic Demi Cond"/>
                <a:cs typeface="Franklin Gothic Demi Cond"/>
              </a:rPr>
              <a:t>Potential impact on the target audience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365760" y="1645920"/>
            <a:ext cx="585216" cy="585216"/>
          </a:xfrm>
          <a:prstGeom prst="rect">
            <a:avLst/>
          </a:prstGeom>
          <a:solidFill>
            <a:srgbClr val="5B4B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13" name="Picture 17412" descr="lu-LuHardHat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" y="1762963"/>
            <a:ext cx="351129" cy="351129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1097280" y="1591056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0C0E14"/>
                </a:solidFill>
                <a:latin typeface="Franklin Gothic Demi Cond"/>
                <a:ea typeface="Franklin Gothic Demi Cond"/>
                <a:cs typeface="Franklin Gothic Demi Cond"/>
              </a:rPr>
              <a:t>Rig engineer &amp; driller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097280" y="1892807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Sees what offsets hit at this depth — 50 m before the bit gets there.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365760" y="2578608"/>
            <a:ext cx="585216" cy="58521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17" name="Picture 17416" descr="lu-LuMonitor-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" y="2695651"/>
            <a:ext cx="351129" cy="351129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1097280" y="2523744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0C0E14"/>
                </a:solidFill>
                <a:latin typeface="Franklin Gothic Demi Cond"/>
                <a:ea typeface="Franklin Gothic Demi Cond"/>
                <a:cs typeface="Franklin Gothic Demi Cond"/>
              </a:rPr>
              <a:t>eRTMAC monitoring team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097280" y="2825496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Live data linked to offset history; cited evidence in seconds.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365760" y="3511296"/>
            <a:ext cx="585216" cy="58521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21" name="Picture 17420" descr="lu-LuClipboardList-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" y="3628339"/>
            <a:ext cx="351129" cy="351129"/>
          </a:xfrm>
          <a:prstGeom prst="rect">
            <a:avLst/>
          </a:prstGeom>
        </p:spPr>
      </p:pic>
      <p:sp>
        <p:nvSpPr>
          <p:cNvPr id="17422" name="TextBox 17421"/>
          <p:cNvSpPr txBox="1"/>
          <p:nvPr/>
        </p:nvSpPr>
        <p:spPr>
          <a:xfrm>
            <a:off x="1097280" y="3456432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0C0E14"/>
                </a:solidFill>
                <a:latin typeface="Franklin Gothic Demi Cond"/>
                <a:ea typeface="Franklin Gothic Demi Cond"/>
                <a:cs typeface="Franklin Gothic Demi Cond"/>
              </a:rPr>
              <a:t>Planners &amp; DWOP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1097280" y="3758183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Look-ahead brief: hazards, mud window and NPT in ₹ per section.</a:t>
            </a:r>
          </a:p>
        </p:txBody>
      </p:sp>
      <p:sp>
        <p:nvSpPr>
          <p:cNvPr id="17424" name="Rectangle 17423"/>
          <p:cNvSpPr/>
          <p:nvPr/>
        </p:nvSpPr>
        <p:spPr>
          <a:xfrm>
            <a:off x="365760" y="4443984"/>
            <a:ext cx="585216" cy="585216"/>
          </a:xfrm>
          <a:prstGeom prst="rect">
            <a:avLst/>
          </a:prstGeom>
          <a:solidFill>
            <a:srgbClr val="0B7A5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25" name="Picture 17424" descr="lu-LuGraduationCap-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" y="4561027"/>
            <a:ext cx="351129" cy="351129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1097280" y="4389120"/>
            <a:ext cx="30632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0C0E14"/>
                </a:solidFill>
                <a:latin typeface="Franklin Gothic Demi Cond"/>
                <a:ea typeface="Franklin Gothic Demi Cond"/>
                <a:cs typeface="Franklin Gothic Demi Cond"/>
              </a:rPr>
              <a:t>New engineers &amp; managers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1097280" y="4690872"/>
            <a:ext cx="306324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The field's memory stays searchable; every alert is audited.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365760" y="5413248"/>
            <a:ext cx="3794760" cy="841248"/>
          </a:xfrm>
          <a:prstGeom prst="rect">
            <a:avLst/>
          </a:prstGeom>
          <a:solidFill>
            <a:srgbClr val="EEEBFF"/>
          </a:solidFill>
          <a:ln>
            <a:noFill/>
          </a:ln>
        </p:spPr>
        <p:txBody>
          <a:bodyPr rtlCol="0" anchor="ctr" lIns="128016" rIns="128016" tIns="54864" bIns="54864" wrap="square">
            <a:no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Engineers don't lack data. They lack the link between </a:t>
            </a:r>
            <a:r>
              <a:rPr sz="115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this depth, right now</a:t>
            </a:r>
            <a:r>
              <a:rPr sz="115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 and </a:t>
            </a:r>
            <a:r>
              <a:rPr sz="115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what happened here before</a:t>
            </a:r>
            <a:r>
              <a:rPr sz="115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.</a:t>
            </a:r>
          </a:p>
        </p:txBody>
      </p:sp>
      <p:sp>
        <p:nvSpPr>
          <p:cNvPr id="17429" name="Rectangle 17428"/>
          <p:cNvSpPr/>
          <p:nvPr/>
        </p:nvSpPr>
        <p:spPr>
          <a:xfrm>
            <a:off x="4434840" y="1188720"/>
            <a:ext cx="3520440" cy="5084064"/>
          </a:xfrm>
          <a:prstGeom prst="rect">
            <a:avLst/>
          </a:prstGeom>
          <a:solidFill>
            <a:srgbClr val="0E153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4663440" y="1298448"/>
            <a:ext cx="31089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A70F"/>
                </a:solidFill>
                <a:latin typeface="Segoe UI"/>
                <a:ea typeface="Segoe UI"/>
                <a:cs typeface="Segoe UI"/>
              </a:rPr>
              <a:t>Why it matters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4663440" y="157276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Franklin Gothic Demi Cond"/>
                <a:ea typeface="Franklin Gothic Demi Cond"/>
                <a:cs typeface="Franklin Gothic Demi Cond"/>
              </a:rPr>
              <a:t>≈ 20 %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4663440" y="2231136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of well-construction time is lost as non-productive time (NPT) [2]</a:t>
            </a:r>
          </a:p>
        </p:txBody>
      </p:sp>
      <p:cxnSp>
        <p:nvCxnSpPr>
          <p:cNvPr id="17433" name="Connector 17432"/>
          <p:cNvCxnSpPr/>
          <p:nvPr/>
        </p:nvCxnSpPr>
        <p:spPr>
          <a:xfrm>
            <a:off x="4663440" y="2944368"/>
            <a:ext cx="3108960" cy="0"/>
          </a:xfrm>
          <a:prstGeom prst="line">
            <a:avLst/>
          </a:prstGeom>
          <a:ln w="12700">
            <a:solidFill>
              <a:srgbClr val="3A4570"/>
            </a:solidFill>
          </a:ln>
        </p:spPr>
      </p:cxnSp>
      <p:sp>
        <p:nvSpPr>
          <p:cNvPr id="17434" name="TextBox 17433"/>
          <p:cNvSpPr txBox="1"/>
          <p:nvPr/>
        </p:nvSpPr>
        <p:spPr>
          <a:xfrm>
            <a:off x="4663440" y="303580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Franklin Gothic Demi Cond"/>
                <a:ea typeface="Franklin Gothic Demi Cond"/>
                <a:cs typeface="Franklin Gothic Demi Cond"/>
              </a:rPr>
              <a:t>up to 40 %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663440" y="3694176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of NPT comes from kicks, losses and wellbore instability — exactly what NWIS warns about [3]</a:t>
            </a:r>
          </a:p>
        </p:txBody>
      </p:sp>
      <p:cxnSp>
        <p:nvCxnSpPr>
          <p:cNvPr id="17436" name="Connector 17435"/>
          <p:cNvCxnSpPr/>
          <p:nvPr/>
        </p:nvCxnSpPr>
        <p:spPr>
          <a:xfrm>
            <a:off x="4663440" y="4407408"/>
            <a:ext cx="3108960" cy="0"/>
          </a:xfrm>
          <a:prstGeom prst="line">
            <a:avLst/>
          </a:prstGeom>
          <a:ln w="12700">
            <a:solidFill>
              <a:srgbClr val="3A4570"/>
            </a:solidFill>
          </a:ln>
        </p:spPr>
      </p:cxnSp>
      <p:sp>
        <p:nvSpPr>
          <p:cNvPr id="17437" name="TextBox 17436"/>
          <p:cNvSpPr txBox="1"/>
          <p:nvPr/>
        </p:nvSpPr>
        <p:spPr>
          <a:xfrm>
            <a:off x="4663440" y="4498848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5A70F"/>
                </a:solidFill>
                <a:latin typeface="Franklin Gothic Demi Cond"/>
                <a:ea typeface="Franklin Gothic Demi Cond"/>
                <a:cs typeface="Franklin Gothic Demi Cond"/>
              </a:rPr>
              <a:t>≈ ₹21 cr / yr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4663440" y="5157216"/>
            <a:ext cx="310896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if NWIS saves one NPT day on each of the ~70 wells OIL spuds a year [4]*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4663440" y="587044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DCE0EC"/>
                </a:solidFill>
                <a:latin typeface="Segoe UI Semibold"/>
                <a:ea typeface="Segoe UI Semibold"/>
                <a:cs typeface="Segoe UI Semibold"/>
              </a:rPr>
              <a:t>* 1 day × 70 wells × ₹30 lakh/day assumed spread rate — an illustration, not a forecast.</a:t>
            </a:r>
          </a:p>
        </p:txBody>
      </p:sp>
      <p:sp>
        <p:nvSpPr>
          <p:cNvPr id="17440" name="Rectangle 17439"/>
          <p:cNvSpPr/>
          <p:nvPr/>
        </p:nvSpPr>
        <p:spPr>
          <a:xfrm>
            <a:off x="8183879" y="1188720"/>
            <a:ext cx="283464" cy="283464"/>
          </a:xfrm>
          <a:prstGeom prst="rect">
            <a:avLst/>
          </a:prstGeom>
          <a:solidFill>
            <a:srgbClr val="5B4B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Franklin Gothic Demi Cond"/>
                <a:ea typeface="Franklin Gothic Demi Cond"/>
                <a:cs typeface="Franklin Gothic Demi Cond"/>
              </a:rPr>
              <a:t>2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8577072" y="1170432"/>
            <a:ext cx="326440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C0E14"/>
                </a:solidFill>
                <a:latin typeface="Franklin Gothic Demi Cond"/>
                <a:ea typeface="Franklin Gothic Demi Cond"/>
                <a:cs typeface="Franklin Gothic Demi Cond"/>
              </a:rPr>
              <a:t>Benefits of the solution</a:t>
            </a:r>
          </a:p>
        </p:txBody>
      </p:sp>
      <p:sp>
        <p:nvSpPr>
          <p:cNvPr id="17442" name="Rectangle 17441"/>
          <p:cNvSpPr/>
          <p:nvPr/>
        </p:nvSpPr>
        <p:spPr>
          <a:xfrm>
            <a:off x="8183879" y="1591056"/>
            <a:ext cx="3657600" cy="1069848"/>
          </a:xfrm>
          <a:prstGeom prst="rect">
            <a:avLst/>
          </a:prstGeom>
          <a:solidFill>
            <a:srgbClr val="F1F3F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43" name="Rectangle 17442"/>
          <p:cNvSpPr/>
          <p:nvPr/>
        </p:nvSpPr>
        <p:spPr>
          <a:xfrm>
            <a:off x="8293607" y="1719072"/>
            <a:ext cx="457200" cy="4572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44" name="Picture 17443" descr="lu-LuIndianRupee-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047" y="1810512"/>
            <a:ext cx="274320" cy="274320"/>
          </a:xfrm>
          <a:prstGeom prst="rect">
            <a:avLst/>
          </a:prstGeom>
        </p:spPr>
      </p:pic>
      <p:sp>
        <p:nvSpPr>
          <p:cNvPr id="17445" name="TextBox 17444"/>
          <p:cNvSpPr txBox="1"/>
          <p:nvPr/>
        </p:nvSpPr>
        <p:spPr>
          <a:xfrm>
            <a:off x="8878824" y="1700784"/>
            <a:ext cx="287121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2410C"/>
                </a:solidFill>
                <a:latin typeface="Franklin Gothic Demi Cond"/>
                <a:ea typeface="Franklin Gothic Demi Cond"/>
                <a:cs typeface="Franklin Gothic Demi Cond"/>
              </a:rPr>
              <a:t>Economic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8878824" y="2011680"/>
            <a:ext cx="2871216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Fewer repeated losses, stuck pipe and kicks → less NPT, faster planning.</a:t>
            </a:r>
          </a:p>
        </p:txBody>
      </p:sp>
      <p:sp>
        <p:nvSpPr>
          <p:cNvPr id="17447" name="Rectangle 17446"/>
          <p:cNvSpPr/>
          <p:nvPr/>
        </p:nvSpPr>
        <p:spPr>
          <a:xfrm>
            <a:off x="8183879" y="2770632"/>
            <a:ext cx="3657600" cy="1069848"/>
          </a:xfrm>
          <a:prstGeom prst="rect">
            <a:avLst/>
          </a:prstGeom>
          <a:solidFill>
            <a:srgbClr val="F1F3F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48" name="Rectangle 17447"/>
          <p:cNvSpPr/>
          <p:nvPr/>
        </p:nvSpPr>
        <p:spPr>
          <a:xfrm>
            <a:off x="8293607" y="2898648"/>
            <a:ext cx="457200" cy="457200"/>
          </a:xfrm>
          <a:prstGeom prst="rect">
            <a:avLst/>
          </a:prstGeom>
          <a:solidFill>
            <a:srgbClr val="D92D32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49" name="Picture 17448" descr="lu-LuShieldCheck-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5047" y="2990088"/>
            <a:ext cx="274320" cy="274320"/>
          </a:xfrm>
          <a:prstGeom prst="rect">
            <a:avLst/>
          </a:prstGeom>
        </p:spPr>
      </p:pic>
      <p:sp>
        <p:nvSpPr>
          <p:cNvPr id="17450" name="TextBox 17449"/>
          <p:cNvSpPr txBox="1"/>
          <p:nvPr/>
        </p:nvSpPr>
        <p:spPr>
          <a:xfrm>
            <a:off x="8878824" y="2880360"/>
            <a:ext cx="287121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92D32"/>
                </a:solidFill>
                <a:latin typeface="Franklin Gothic Demi Cond"/>
                <a:ea typeface="Franklin Gothic Demi Cond"/>
                <a:cs typeface="Franklin Gothic Demi Cond"/>
              </a:rPr>
              <a:t>Safety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8878824" y="3191256"/>
            <a:ext cx="2871216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Earlier kick and overpressure awareness supports well control.</a:t>
            </a:r>
          </a:p>
        </p:txBody>
      </p:sp>
      <p:sp>
        <p:nvSpPr>
          <p:cNvPr id="17452" name="Rectangle 17451"/>
          <p:cNvSpPr/>
          <p:nvPr/>
        </p:nvSpPr>
        <p:spPr>
          <a:xfrm>
            <a:off x="8183879" y="3950208"/>
            <a:ext cx="3657600" cy="1069848"/>
          </a:xfrm>
          <a:prstGeom prst="rect">
            <a:avLst/>
          </a:prstGeom>
          <a:solidFill>
            <a:srgbClr val="F1F3F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53" name="Rectangle 17452"/>
          <p:cNvSpPr/>
          <p:nvPr/>
        </p:nvSpPr>
        <p:spPr>
          <a:xfrm>
            <a:off x="8293607" y="4078224"/>
            <a:ext cx="457200" cy="457200"/>
          </a:xfrm>
          <a:prstGeom prst="rect">
            <a:avLst/>
          </a:prstGeom>
          <a:solidFill>
            <a:srgbClr val="0B7A5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54" name="Picture 17453" descr="lu-LuLeaf-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5047" y="4169663"/>
            <a:ext cx="274320" cy="274320"/>
          </a:xfrm>
          <a:prstGeom prst="rect">
            <a:avLst/>
          </a:prstGeom>
        </p:spPr>
      </p:pic>
      <p:sp>
        <p:nvSpPr>
          <p:cNvPr id="17455" name="TextBox 17454"/>
          <p:cNvSpPr txBox="1"/>
          <p:nvPr/>
        </p:nvSpPr>
        <p:spPr>
          <a:xfrm>
            <a:off x="8878824" y="4059936"/>
            <a:ext cx="287121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B7A58"/>
                </a:solidFill>
                <a:latin typeface="Franklin Gothic Demi Cond"/>
                <a:ea typeface="Franklin Gothic Demi Cond"/>
                <a:cs typeface="Franklin Gothic Demi Cond"/>
              </a:rPr>
              <a:t>Environmental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8878824" y="4370832"/>
            <a:ext cx="2871216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Fewer loss events → less mud, LCM and cement lost; less rig diesel.</a:t>
            </a:r>
          </a:p>
        </p:txBody>
      </p:sp>
      <p:sp>
        <p:nvSpPr>
          <p:cNvPr id="17457" name="Rectangle 17456"/>
          <p:cNvSpPr/>
          <p:nvPr/>
        </p:nvSpPr>
        <p:spPr>
          <a:xfrm>
            <a:off x="8183879" y="5129784"/>
            <a:ext cx="3657600" cy="1069848"/>
          </a:xfrm>
          <a:prstGeom prst="rect">
            <a:avLst/>
          </a:prstGeom>
          <a:solidFill>
            <a:srgbClr val="F1F3F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58" name="Rectangle 17457"/>
          <p:cNvSpPr/>
          <p:nvPr/>
        </p:nvSpPr>
        <p:spPr>
          <a:xfrm>
            <a:off x="8293607" y="5257800"/>
            <a:ext cx="457200" cy="457200"/>
          </a:xfrm>
          <a:prstGeom prst="rect">
            <a:avLst/>
          </a:prstGeom>
          <a:solidFill>
            <a:srgbClr val="5B4B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7459" name="Picture 17458" descr="lu-LuUsers-FFFFF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5047" y="5349240"/>
            <a:ext cx="274320" cy="274320"/>
          </a:xfrm>
          <a:prstGeom prst="rect">
            <a:avLst/>
          </a:prstGeom>
        </p:spPr>
      </p:pic>
      <p:sp>
        <p:nvSpPr>
          <p:cNvPr id="17460" name="TextBox 17459"/>
          <p:cNvSpPr txBox="1"/>
          <p:nvPr/>
        </p:nvSpPr>
        <p:spPr>
          <a:xfrm>
            <a:off x="8878824" y="5239512"/>
            <a:ext cx="2871216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4BFF"/>
                </a:solidFill>
                <a:latin typeface="Franklin Gothic Demi Cond"/>
                <a:ea typeface="Franklin Gothic Demi Cond"/>
                <a:cs typeface="Franklin Gothic Demi Cond"/>
              </a:rPr>
              <a:t>Social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8878824" y="5550408"/>
            <a:ext cx="2871216" cy="621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Expert knowledge stays in India's energy PSU; faster onboarding.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365760" y="1188720"/>
            <a:ext cx="283464" cy="283464"/>
          </a:xfrm>
          <a:prstGeom prst="rect">
            <a:avLst/>
          </a:prstGeom>
          <a:solidFill>
            <a:srgbClr val="5B4B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Franklin Gothic Demi Cond"/>
                <a:ea typeface="Franklin Gothic Demi Cond"/>
                <a:cs typeface="Franklin Gothic Demi Cond"/>
              </a:rPr>
              <a:t>1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758952" y="1170432"/>
            <a:ext cx="600760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C0E14"/>
                </a:solidFill>
                <a:latin typeface="Franklin Gothic Demi Cond"/>
                <a:ea typeface="Franklin Gothic Demi Cond"/>
                <a:cs typeface="Franklin Gothic Demi Cond"/>
              </a:rPr>
              <a:t>Research — where today's approaches fall short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3017520" y="1591056"/>
            <a:ext cx="832103" cy="512064"/>
          </a:xfrm>
          <a:prstGeom prst="rect">
            <a:avLst/>
          </a:prstGeom>
          <a:solidFill>
            <a:srgbClr val="E3E6E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3017520" y="1591056"/>
            <a:ext cx="832103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Manual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offset review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3904487" y="1591056"/>
            <a:ext cx="832103" cy="512064"/>
          </a:xfrm>
          <a:prstGeom prst="rect">
            <a:avLst/>
          </a:prstGeom>
          <a:solidFill>
            <a:srgbClr val="E3E6E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3904487" y="1591056"/>
            <a:ext cx="832103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Monitoring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alone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4791456" y="1591056"/>
            <a:ext cx="832103" cy="512064"/>
          </a:xfrm>
          <a:prstGeom prst="rect">
            <a:avLst/>
          </a:prstGeom>
          <a:solidFill>
            <a:srgbClr val="E3E6EE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4791456" y="1591056"/>
            <a:ext cx="832103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Generic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chatbot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5678424" y="1591056"/>
            <a:ext cx="832103" cy="512064"/>
          </a:xfrm>
          <a:prstGeom prst="rect">
            <a:avLst/>
          </a:prstGeom>
          <a:solidFill>
            <a:srgbClr val="5B4BF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5678424" y="1591056"/>
            <a:ext cx="832103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Franklin Gothic Demi Cond"/>
                <a:ea typeface="Franklin Gothic Demi Cond"/>
                <a:cs typeface="Franklin Gothic Demi Cond"/>
              </a:rPr>
              <a:t>NWIS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365760" y="2157984"/>
            <a:ext cx="6144768" cy="457200"/>
          </a:xfrm>
          <a:prstGeom prst="rect">
            <a:avLst/>
          </a:prstGeom>
          <a:solidFill>
            <a:srgbClr val="F1F3F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457200" y="2157984"/>
            <a:ext cx="254203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Tied to the live bit depth</a:t>
            </a:r>
          </a:p>
        </p:txBody>
      </p:sp>
      <p:pic>
        <p:nvPicPr>
          <p:cNvPr id="17422" name="Picture 17421" descr="lu-LuCircleX-9AA0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556" y="2258568"/>
            <a:ext cx="256032" cy="256032"/>
          </a:xfrm>
          <a:prstGeom prst="rect">
            <a:avLst/>
          </a:prstGeom>
        </p:spPr>
      </p:pic>
      <p:pic>
        <p:nvPicPr>
          <p:cNvPr id="17423" name="Picture 17422" descr="lu-LuCircleCheck-0B7A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2523" y="2258568"/>
            <a:ext cx="256032" cy="256032"/>
          </a:xfrm>
          <a:prstGeom prst="rect">
            <a:avLst/>
          </a:prstGeom>
        </p:spPr>
      </p:pic>
      <p:pic>
        <p:nvPicPr>
          <p:cNvPr id="17424" name="Picture 17423" descr="lu-LuCircleX-9AA0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492" y="2258568"/>
            <a:ext cx="256032" cy="256032"/>
          </a:xfrm>
          <a:prstGeom prst="rect">
            <a:avLst/>
          </a:prstGeom>
        </p:spPr>
      </p:pic>
      <p:pic>
        <p:nvPicPr>
          <p:cNvPr id="17425" name="Picture 17424" descr="lu-LuCircleCheck-0B7A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6460" y="2258568"/>
            <a:ext cx="256032" cy="256032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457200" y="2615184"/>
            <a:ext cx="254203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Reads DDR / WCR text, even scans</a:t>
            </a:r>
          </a:p>
        </p:txBody>
      </p:sp>
      <p:pic>
        <p:nvPicPr>
          <p:cNvPr id="17427" name="Picture 17426" descr="lu-LuCircleCheck-0B7A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5556" y="2715768"/>
            <a:ext cx="256032" cy="256032"/>
          </a:xfrm>
          <a:prstGeom prst="rect">
            <a:avLst/>
          </a:prstGeom>
        </p:spPr>
      </p:pic>
      <p:pic>
        <p:nvPicPr>
          <p:cNvPr id="17428" name="Picture 17427" descr="lu-LuCircleX-9AA0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2523" y="2715768"/>
            <a:ext cx="256032" cy="256032"/>
          </a:xfrm>
          <a:prstGeom prst="rect">
            <a:avLst/>
          </a:prstGeom>
        </p:spPr>
      </p:pic>
      <p:pic>
        <p:nvPicPr>
          <p:cNvPr id="17429" name="Picture 17428" descr="lu-LuCircleDot-C2410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9492" y="2715768"/>
            <a:ext cx="256032" cy="256032"/>
          </a:xfrm>
          <a:prstGeom prst="rect">
            <a:avLst/>
          </a:prstGeom>
        </p:spPr>
      </p:pic>
      <p:pic>
        <p:nvPicPr>
          <p:cNvPr id="17430" name="Picture 17429" descr="lu-LuCircleCheck-0B7A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6460" y="2715768"/>
            <a:ext cx="256032" cy="256032"/>
          </a:xfrm>
          <a:prstGeom prst="rect">
            <a:avLst/>
          </a:prstGeom>
        </p:spPr>
      </p:pic>
      <p:sp>
        <p:nvSpPr>
          <p:cNvPr id="17431" name="Rectangle 17430"/>
          <p:cNvSpPr/>
          <p:nvPr/>
        </p:nvSpPr>
        <p:spPr>
          <a:xfrm>
            <a:off x="365760" y="3072384"/>
            <a:ext cx="6144768" cy="457200"/>
          </a:xfrm>
          <a:prstGeom prst="rect">
            <a:avLst/>
          </a:prstGeom>
          <a:solidFill>
            <a:srgbClr val="F1F3F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457200" y="3072384"/>
            <a:ext cx="254203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Cites report page + depth</a:t>
            </a:r>
          </a:p>
        </p:txBody>
      </p:sp>
      <p:pic>
        <p:nvPicPr>
          <p:cNvPr id="17433" name="Picture 17432" descr="lu-LuCircleDot-C2410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5556" y="3172968"/>
            <a:ext cx="256032" cy="256032"/>
          </a:xfrm>
          <a:prstGeom prst="rect">
            <a:avLst/>
          </a:prstGeom>
        </p:spPr>
      </p:pic>
      <p:pic>
        <p:nvPicPr>
          <p:cNvPr id="17434" name="Picture 17433" descr="lu-LuCircleX-9AA0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2523" y="3172968"/>
            <a:ext cx="256032" cy="256032"/>
          </a:xfrm>
          <a:prstGeom prst="rect">
            <a:avLst/>
          </a:prstGeom>
        </p:spPr>
      </p:pic>
      <p:pic>
        <p:nvPicPr>
          <p:cNvPr id="17435" name="Picture 17434" descr="lu-LuCircleX-9AA0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492" y="3172968"/>
            <a:ext cx="256032" cy="256032"/>
          </a:xfrm>
          <a:prstGeom prst="rect">
            <a:avLst/>
          </a:prstGeom>
        </p:spPr>
      </p:pic>
      <p:pic>
        <p:nvPicPr>
          <p:cNvPr id="17436" name="Picture 17435" descr="lu-LuCircleCheck-0B7A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6460" y="3172968"/>
            <a:ext cx="256032" cy="256032"/>
          </a:xfrm>
          <a:prstGeom prst="rect">
            <a:avLst/>
          </a:prstGeom>
        </p:spPr>
      </p:pic>
      <p:sp>
        <p:nvSpPr>
          <p:cNvPr id="17437" name="TextBox 17436"/>
          <p:cNvSpPr txBox="1"/>
          <p:nvPr/>
        </p:nvSpPr>
        <p:spPr>
          <a:xfrm>
            <a:off x="457200" y="3529584"/>
            <a:ext cx="254203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Warns before the risky depth</a:t>
            </a:r>
          </a:p>
        </p:txBody>
      </p:sp>
      <p:pic>
        <p:nvPicPr>
          <p:cNvPr id="17438" name="Picture 17437" descr="lu-LuCircleX-9AA0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556" y="3630168"/>
            <a:ext cx="256032" cy="256032"/>
          </a:xfrm>
          <a:prstGeom prst="rect">
            <a:avLst/>
          </a:prstGeom>
        </p:spPr>
      </p:pic>
      <p:pic>
        <p:nvPicPr>
          <p:cNvPr id="17439" name="Picture 17438" descr="lu-LuCircleDot-C2410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2523" y="3630168"/>
            <a:ext cx="256032" cy="256032"/>
          </a:xfrm>
          <a:prstGeom prst="rect">
            <a:avLst/>
          </a:prstGeom>
        </p:spPr>
      </p:pic>
      <p:pic>
        <p:nvPicPr>
          <p:cNvPr id="17440" name="Picture 17439" descr="lu-LuCircleX-9AA0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492" y="3630168"/>
            <a:ext cx="256032" cy="256032"/>
          </a:xfrm>
          <a:prstGeom prst="rect">
            <a:avLst/>
          </a:prstGeom>
        </p:spPr>
      </p:pic>
      <p:pic>
        <p:nvPicPr>
          <p:cNvPr id="17441" name="Picture 17440" descr="lu-LuCircleCheck-0B7A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6460" y="3630168"/>
            <a:ext cx="256032" cy="256032"/>
          </a:xfrm>
          <a:prstGeom prst="rect">
            <a:avLst/>
          </a:prstGeom>
        </p:spPr>
      </p:pic>
      <p:pic>
        <p:nvPicPr>
          <p:cNvPr id="17442" name="Picture 17441" descr="lu-LuCircleCheck-0B7A5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773936"/>
            <a:ext cx="164592" cy="164592"/>
          </a:xfrm>
          <a:prstGeom prst="rect">
            <a:avLst/>
          </a:prstGeom>
        </p:spPr>
      </p:pic>
      <p:sp>
        <p:nvSpPr>
          <p:cNvPr id="17443" name="TextBox 17442"/>
          <p:cNvSpPr txBox="1"/>
          <p:nvPr/>
        </p:nvSpPr>
        <p:spPr>
          <a:xfrm>
            <a:off x="667512" y="174650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2F3C"/>
                </a:solidFill>
                <a:latin typeface="Segoe UI Semibold"/>
                <a:ea typeface="Segoe UI Semibold"/>
                <a:cs typeface="Segoe UI Semibold"/>
              </a:rPr>
              <a:t>yes</a:t>
            </a:r>
          </a:p>
        </p:txBody>
      </p:sp>
      <p:pic>
        <p:nvPicPr>
          <p:cNvPr id="17444" name="Picture 17443" descr="lu-LuCircleDot-C2410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" y="1773936"/>
            <a:ext cx="164592" cy="164592"/>
          </a:xfrm>
          <a:prstGeom prst="rect">
            <a:avLst/>
          </a:prstGeom>
        </p:spPr>
      </p:pic>
      <p:sp>
        <p:nvSpPr>
          <p:cNvPr id="17445" name="TextBox 17444"/>
          <p:cNvSpPr txBox="1"/>
          <p:nvPr/>
        </p:nvSpPr>
        <p:spPr>
          <a:xfrm>
            <a:off x="1444752" y="174650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2F3C"/>
                </a:solidFill>
                <a:latin typeface="Segoe UI Semibold"/>
                <a:ea typeface="Segoe UI Semibold"/>
                <a:cs typeface="Segoe UI Semibold"/>
              </a:rPr>
              <a:t>partly</a:t>
            </a:r>
          </a:p>
        </p:txBody>
      </p:sp>
      <p:pic>
        <p:nvPicPr>
          <p:cNvPr id="17446" name="Picture 17445" descr="lu-LuCircleX-9AA0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1773936"/>
            <a:ext cx="164592" cy="164592"/>
          </a:xfrm>
          <a:prstGeom prst="rect">
            <a:avLst/>
          </a:prstGeom>
        </p:spPr>
      </p:pic>
      <p:sp>
        <p:nvSpPr>
          <p:cNvPr id="17447" name="TextBox 17446"/>
          <p:cNvSpPr txBox="1"/>
          <p:nvPr/>
        </p:nvSpPr>
        <p:spPr>
          <a:xfrm>
            <a:off x="2221991" y="174650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2F3C"/>
                </a:solidFill>
                <a:latin typeface="Segoe UI Semibold"/>
                <a:ea typeface="Segoe UI Semibold"/>
                <a:cs typeface="Segoe UI Semibold"/>
              </a:rPr>
              <a:t>no</a:t>
            </a:r>
          </a:p>
        </p:txBody>
      </p:sp>
      <p:sp>
        <p:nvSpPr>
          <p:cNvPr id="17448" name="Rectangle 17447"/>
          <p:cNvSpPr/>
          <p:nvPr/>
        </p:nvSpPr>
        <p:spPr>
          <a:xfrm>
            <a:off x="7040880" y="1188720"/>
            <a:ext cx="283464" cy="283464"/>
          </a:xfrm>
          <a:prstGeom prst="rect">
            <a:avLst/>
          </a:prstGeom>
          <a:solidFill>
            <a:srgbClr val="5B4B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Franklin Gothic Demi Cond"/>
                <a:ea typeface="Franklin Gothic Demi Cond"/>
                <a:cs typeface="Franklin Gothic Demi Cond"/>
              </a:rPr>
              <a:t>2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7434071" y="1170432"/>
            <a:ext cx="440740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C0E14"/>
                </a:solidFill>
                <a:latin typeface="Franklin Gothic Demi Cond"/>
                <a:ea typeface="Franklin Gothic Demi Cond"/>
                <a:cs typeface="Franklin Gothic Demi Cond"/>
              </a:rPr>
              <a:t>Validated on real public well records</a:t>
            </a:r>
          </a:p>
        </p:txBody>
      </p:sp>
      <p:sp>
        <p:nvSpPr>
          <p:cNvPr id="17450" name="Rectangle 17449"/>
          <p:cNvSpPr/>
          <p:nvPr/>
        </p:nvSpPr>
        <p:spPr>
          <a:xfrm>
            <a:off x="7040880" y="1591056"/>
            <a:ext cx="4800600" cy="2560320"/>
          </a:xfrm>
          <a:prstGeom prst="rect">
            <a:avLst/>
          </a:prstGeom>
          <a:solidFill>
            <a:srgbClr val="0E1530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7242048" y="1719072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Same extractor, rules frozen — Norwegian shelf [7]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7242048" y="2103120"/>
            <a:ext cx="1374647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FFFFFF"/>
                </a:solidFill>
                <a:latin typeface="Franklin Gothic Demi Cond"/>
                <a:ea typeface="Franklin Gothic Demi Cond"/>
                <a:cs typeface="Franklin Gothic Demi Cond"/>
              </a:rPr>
              <a:t>1,970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7242048" y="2779776"/>
            <a:ext cx="1356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well histories read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8708136" y="2103120"/>
            <a:ext cx="1374647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F5A70F"/>
                </a:solidFill>
                <a:latin typeface="Franklin Gothic Demi Cond"/>
                <a:ea typeface="Franklin Gothic Demi Cond"/>
                <a:cs typeface="Franklin Gothic Demi Cond"/>
              </a:rPr>
              <a:t>611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8708136" y="2779776"/>
            <a:ext cx="1356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problems found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10174224" y="2103120"/>
            <a:ext cx="1374647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 i="0">
                <a:solidFill>
                  <a:srgbClr val="4FDCAA"/>
                </a:solidFill>
                <a:latin typeface="Franklin Gothic Demi Cond"/>
                <a:ea typeface="Franklin Gothic Demi Cond"/>
                <a:cs typeface="Franklin Gothic Demi Cond"/>
              </a:rPr>
              <a:t>94 %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10174224" y="2779776"/>
            <a:ext cx="13563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held-out precision</a:t>
            </a:r>
          </a:p>
        </p:txBody>
      </p:sp>
      <p:sp>
        <p:nvSpPr>
          <p:cNvPr id="17458" name="Rectangle 17457"/>
          <p:cNvSpPr/>
          <p:nvPr/>
        </p:nvSpPr>
        <p:spPr>
          <a:xfrm>
            <a:off x="7242048" y="3218688"/>
            <a:ext cx="1140665" cy="109728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59" name="Rectangle 17458"/>
          <p:cNvSpPr/>
          <p:nvPr/>
        </p:nvSpPr>
        <p:spPr>
          <a:xfrm>
            <a:off x="8401001" y="3218688"/>
            <a:ext cx="1018291" cy="10972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60" name="Rectangle 17459"/>
          <p:cNvSpPr/>
          <p:nvPr/>
        </p:nvSpPr>
        <p:spPr>
          <a:xfrm>
            <a:off x="9437580" y="3218688"/>
            <a:ext cx="787940" cy="109728"/>
          </a:xfrm>
          <a:prstGeom prst="rect">
            <a:avLst/>
          </a:prstGeom>
          <a:solidFill>
            <a:srgbClr val="E5383B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61" name="Rectangle 17460"/>
          <p:cNvSpPr/>
          <p:nvPr/>
        </p:nvSpPr>
        <p:spPr>
          <a:xfrm>
            <a:off x="10243809" y="3218688"/>
            <a:ext cx="701558" cy="109728"/>
          </a:xfrm>
          <a:prstGeom prst="rect">
            <a:avLst/>
          </a:prstGeom>
          <a:solidFill>
            <a:srgbClr val="8B93A7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62" name="Rectangle 17461"/>
          <p:cNvSpPr/>
          <p:nvPr/>
        </p:nvSpPr>
        <p:spPr>
          <a:xfrm>
            <a:off x="10963655" y="3218688"/>
            <a:ext cx="571986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63" name="Rectangle 17462"/>
          <p:cNvSpPr/>
          <p:nvPr/>
        </p:nvSpPr>
        <p:spPr>
          <a:xfrm>
            <a:off x="11553930" y="3218688"/>
            <a:ext cx="68093" cy="10972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464" name="TextBox 17463"/>
          <p:cNvSpPr txBox="1"/>
          <p:nvPr/>
        </p:nvSpPr>
        <p:spPr>
          <a:xfrm>
            <a:off x="7242048" y="3383280"/>
            <a:ext cx="439826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DCE0EC"/>
                </a:solidFill>
                <a:latin typeface="Segoe UI Semibold"/>
                <a:ea typeface="Segoe UI Semibold"/>
                <a:cs typeface="Segoe UI Semibold"/>
              </a:rPr>
              <a:t>stuck pipe 161 · mud loss 144 · kick 112 · NPT 100 · instability 82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7242048" y="3694176"/>
            <a:ext cx="4398264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FFFFFF"/>
                </a:solidFill>
                <a:latin typeface="Segoe UI Semibold"/>
                <a:ea typeface="Segoe UI Semibold"/>
                <a:cs typeface="Segoe UI Semibold"/>
              </a:rPr>
              <a:t>Prior work mines report text [5] or predicts stuck pipe from parameters [6]. </a:t>
            </a:r>
            <a:r>
              <a:rPr sz="1019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NWIS joins both at the live bit depth.</a:t>
            </a:r>
          </a:p>
        </p:txBody>
      </p:sp>
      <p:sp>
        <p:nvSpPr>
          <p:cNvPr id="17466" name="Rectangle 17465"/>
          <p:cNvSpPr/>
          <p:nvPr/>
        </p:nvSpPr>
        <p:spPr>
          <a:xfrm>
            <a:off x="365760" y="4352544"/>
            <a:ext cx="283464" cy="283464"/>
          </a:xfrm>
          <a:prstGeom prst="rect">
            <a:avLst/>
          </a:prstGeom>
          <a:solidFill>
            <a:srgbClr val="5B4BFF"/>
          </a:solidFill>
          <a:ln>
            <a:noFill/>
          </a:ln>
        </p:spPr>
        <p:txBody>
          <a:bodyPr rtlCol="0" anchor="ctr" lIns="0" rIns="0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Franklin Gothic Demi Cond"/>
                <a:ea typeface="Franklin Gothic Demi Cond"/>
                <a:cs typeface="Franklin Gothic Demi Cond"/>
              </a:rPr>
              <a:t>3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758952" y="4334256"/>
            <a:ext cx="7836408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C0E14"/>
                </a:solidFill>
                <a:latin typeface="Franklin Gothic Demi Cond"/>
                <a:ea typeface="Franklin Gothic Demi Cond"/>
                <a:cs typeface="Franklin Gothic Demi Cond"/>
              </a:rPr>
              <a:t>Details / links of the reference and research work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365760" y="4754880"/>
            <a:ext cx="555498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[1]</a:t>
            </a:r>
            <a:r>
              <a:rPr sz="11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 SIH26121 Nearby Wells Intelligence System — Oil India Limited · </a:t>
            </a:r>
            <a:r>
              <a:rPr sz="1100" b="0" i="0">
                <a:solidFill>
                  <a:srgbClr val="4533EA"/>
                </a:solidFill>
                <a:latin typeface="Segoe UI Semibold"/>
                <a:hlinkClick r:id="rId7"/>
                <a:ea typeface="Segoe UI Semibold"/>
                <a:cs typeface="Segoe UI Semibold"/>
              </a:rPr>
              <a:t>SIH 2026 portal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[2]</a:t>
            </a:r>
            <a:r>
              <a:rPr sz="11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 NPT ≈ 20 % of well-construction time — </a:t>
            </a:r>
            <a:r>
              <a:rPr sz="1100" b="0" i="0">
                <a:solidFill>
                  <a:srgbClr val="4533EA"/>
                </a:solidFill>
                <a:latin typeface="Segoe UI Semibold"/>
                <a:hlinkClick r:id="rId8"/>
                <a:ea typeface="Segoe UI Semibold"/>
                <a:cs typeface="Segoe UI Semibold"/>
              </a:rPr>
              <a:t>Drilling Contractor, 2018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[3]</a:t>
            </a:r>
            <a:r>
              <a:rPr sz="11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 Kicks, losses and instability: up to 40 % of NPT — </a:t>
            </a:r>
            <a:r>
              <a:rPr sz="1100" b="0" i="0">
                <a:solidFill>
                  <a:srgbClr val="4533EA"/>
                </a:solidFill>
                <a:latin typeface="Segoe UI Semibold"/>
                <a:hlinkClick r:id="rId9"/>
                <a:ea typeface="Segoe UI Semibold"/>
                <a:cs typeface="Segoe UI Semibold"/>
              </a:rPr>
              <a:t>Offshore Magazine, 2011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[4]</a:t>
            </a:r>
            <a:r>
              <a:rPr sz="11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 OIL: 70 wells spudded in FY25, 21 rigs — </a:t>
            </a:r>
            <a:r>
              <a:rPr sz="1100" b="0" i="0">
                <a:solidFill>
                  <a:srgbClr val="4533EA"/>
                </a:solidFill>
                <a:latin typeface="Segoe UI Semibold"/>
                <a:hlinkClick r:id="rId10"/>
                <a:ea typeface="Segoe UI Semibold"/>
                <a:cs typeface="Segoe UI Semibold"/>
              </a:rPr>
              <a:t>Chairman's speech, 66th AGM, 2025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6286500" y="4754880"/>
            <a:ext cx="555498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[5]</a:t>
            </a:r>
            <a:r>
              <a:rPr sz="11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 Hoffimann et al., Pattern mining in drilling reports with deep NLP — </a:t>
            </a:r>
            <a:r>
              <a:rPr sz="1100" b="0" i="0">
                <a:solidFill>
                  <a:srgbClr val="4533EA"/>
                </a:solidFill>
                <a:latin typeface="Segoe UI Semibold"/>
                <a:hlinkClick r:id="rId11"/>
                <a:ea typeface="Segoe UI Semibold"/>
                <a:cs typeface="Segoe UI Semibold"/>
              </a:rPr>
              <a:t>arXiv, 2017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[6]</a:t>
            </a:r>
            <a:r>
              <a:rPr sz="11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 Montes, Ashok, van Oort, Review of stuck-pipe prediction — </a:t>
            </a:r>
            <a:r>
              <a:rPr sz="1100" b="0" i="0">
                <a:solidFill>
                  <a:srgbClr val="4533EA"/>
                </a:solidFill>
                <a:latin typeface="Segoe UI Semibold"/>
                <a:hlinkClick r:id="rId12"/>
                <a:ea typeface="Segoe UI Semibold"/>
                <a:cs typeface="Segoe UI Semibold"/>
              </a:rPr>
              <a:t>SPE Journal, 2025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[7]</a:t>
            </a:r>
            <a:r>
              <a:rPr sz="11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 Norwegian Offshore Directorate well data, NLOD 2.0 — </a:t>
            </a:r>
            <a:r>
              <a:rPr sz="1100" b="0" i="0">
                <a:solidFill>
                  <a:srgbClr val="4533EA"/>
                </a:solidFill>
                <a:latin typeface="Segoe UI Semibold"/>
                <a:hlinkClick r:id="rId13"/>
                <a:ea typeface="Segoe UI Semibold"/>
                <a:cs typeface="Segoe UI Semibold"/>
              </a:rPr>
              <a:t>Sodir FactPages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0C0E14"/>
                </a:solidFill>
                <a:latin typeface="Segoe UI"/>
                <a:ea typeface="Segoe UI"/>
                <a:cs typeface="Segoe UI"/>
              </a:rPr>
              <a:t>[8]</a:t>
            </a:r>
            <a:r>
              <a:rPr sz="1100" b="0" i="0">
                <a:solidFill>
                  <a:srgbClr val="0C0E14"/>
                </a:solidFill>
                <a:latin typeface="Segoe UI Semibold"/>
                <a:ea typeface="Segoe UI Semibold"/>
                <a:cs typeface="Segoe UI Semibold"/>
              </a:rPr>
              <a:t> WITSML real-time drilling data standard (eRTMAC adapter) — </a:t>
            </a:r>
            <a:r>
              <a:rPr sz="1100" b="0" i="0">
                <a:solidFill>
                  <a:srgbClr val="4533EA"/>
                </a:solidFill>
                <a:latin typeface="Segoe UI Semibold"/>
                <a:hlinkClick r:id="rId14"/>
                <a:ea typeface="Segoe UI Semibold"/>
                <a:cs typeface="Segoe UI Semibold"/>
              </a:rPr>
              <a:t>Energistics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