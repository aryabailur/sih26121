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picture is the idea. The active well is at 3,100 m. Offsets hit mud loss at 3,150, stuck pipe at 3,380 and a kick at 3,580. NWIS reads their reports, links each event to the same depth on the active well, flags the window 50 m ahead and raises the alert as the bit enters it — with the fix that worked and the source page.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Top: the stack, all open source. The architecture is a read-only layer beside eRTMAC, on-prem: OIL's reports go through OCR and NLP, an engineer approves what becomes knowledge, and a depth-indexed knowledge base feeds the services behind one REST API. The yellow path is the live loop. Bottom: exactly how an alert is raised, and the six weights of the score.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is shown, not claimed: it is built and measured. The chart is the replayed demo well — alerts fire at 3,150, 3,380 and 3,580 m, where the offsets struggled. Every risk has a concrete answer, most already built; the path to the rig is one field ingested, then a shadow pilot at eRTMAC.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About a fifth of well time is NPT and up to 40 % of it comes from kicks, losses and instability — exactly what NWIS warns about. At OIL's scale one avoided NPT day per well is about 21 crore rupees a year, at an assumed spread rate.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NWIS is the only approach tied to the live bit depth with cited evidence. We proved the extractor on 1,970 real public well histories with 94 % held-out precision. Give us three anonymised OIL DDR pages and we ingest them live.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SIH26121 from Oil India Limited: a Nearby Wells Intelligence System. One line: NWIS gives every drilling engineer the field's memory at the depth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github.com/aryabailur/sih2612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hyperlink" Target="https://sih.gov.in/" TargetMode="External"/><Relationship Id="rId6" Type="http://schemas.openxmlformats.org/officeDocument/2006/relationships/hyperlink" Target="https://drillingcontractor.org/maersk-looks-beyond-traditional-rig-downtime-scope-adopts-data-based-approach-to-reduce-operator-npt-47432" TargetMode="External"/><Relationship Id="rId7" Type="http://schemas.openxmlformats.org/officeDocument/2006/relationships/hyperlink" Target="https://www.offshore-mag.com/drilling-completion/article/16755153/data-visualization-real-time-monitoring-improve-drilling-efficiency" TargetMode="External"/><Relationship Id="rId8" Type="http://schemas.openxmlformats.org/officeDocument/2006/relationships/hyperlink" Target="https://www.oil-india.com/files/investor_services_documents/Chairman_Speech_OIL_AGM_2024-25.pdf" TargetMode="External"/><Relationship Id="rId9" Type="http://schemas.openxmlformats.org/officeDocument/2006/relationships/hyperlink" Target="https://arxiv.org/abs/1712.01476" TargetMode="External"/><Relationship Id="rId10" Type="http://schemas.openxmlformats.org/officeDocument/2006/relationships/hyperlink" Target="https://doi.org/10.2118/220725-PA" TargetMode="External"/><Relationship Id="rId11" Type="http://schemas.openxmlformats.org/officeDocument/2006/relationships/hyperlink" Target="https://factpages.sodir.no/en/wellbore" TargetMode="External"/><Relationship Id="rId12" Type="http://schemas.openxmlformats.org/officeDocument/2006/relationships/hyperlink" Target="https://energistics.org/node/20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78308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0" sz="2100">
                <a:latin typeface="Arial"/>
              </a:rPr>
              <a:t>SIH26121</a:t>
            </a:r>
          </a:p>
          <a:p>
            <a:pPr marL="285750" indent="-285750" algn="l">
              <a:lnSpc>
                <a:spcPct val="112000"/>
              </a:lnSpc>
              <a:spcBef>
                <a:spcPts val="120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b="0" sz="2100">
                <a:latin typeface="Arial"/>
              </a:rPr>
              <a:t>Nearby Wells Intelligence System (NWIS)</a:t>
            </a:r>
          </a:p>
          <a:p>
            <a:pPr marL="285750" indent="-285750" algn="l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b="0" sz="2100">
                <a:solidFill>
                  <a:srgbClr val="C00000"/>
                </a:solidFill>
                <a:latin typeface="Arial"/>
              </a:rPr>
              <a:t>‹as listed on the SIH portal›</a:t>
            </a:r>
          </a:p>
          <a:p>
            <a:pPr marL="285750" indent="-285750" algn="l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b="0" sz="2100">
                <a:latin typeface="Arial"/>
              </a:rPr>
              <a:t>Software</a:t>
            </a:r>
          </a:p>
          <a:p>
            <a:pPr marL="285750" indent="-285750" algn="l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b="0" sz="2100">
                <a:solidFill>
                  <a:srgbClr val="C00000"/>
                </a:solidFill>
                <a:latin typeface="Arial"/>
              </a:rPr>
              <a:t>‹Team ID›</a:t>
            </a:r>
          </a:p>
          <a:p>
            <a:pPr marL="285750" indent="-285750" algn="l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b="0" sz="2100">
                <a:latin typeface="Arial"/>
              </a:rPr>
              <a:t>Team Huzzards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NWIS content 1" descr="slide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NWIS — Nearby Wells Intelligence System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 wrap="none"/>
          <a:lstStyle/>
          <a:p>
            <a:pPr algn="ctr"/>
            <a:r>
              <a:rPr lang="en-US" dirty="0" sz="1600"/>
              <a:t>Team</a:t>
            </a:r>
            <a:endParaRPr lang="en-IN" dirty="0"/>
          </a:p>
          <a:p>
            <a:pPr algn="ctr"/>
            <a:r>
              <a:rPr lang="en-US" dirty="0" sz="1600"/>
              <a:t>Huzzards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NWIS content 2" descr="slide-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363" name="link">
            <a:hlinkClick r:id="rId5"/>
          </p:cNvPr>
          <p:cNvSpPr/>
          <p:nvPr/>
        </p:nvSpPr>
        <p:spPr>
          <a:xfrm>
            <a:off x="10138470" y="5754588"/>
            <a:ext cx="1710630" cy="4191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 wrap="none"/>
          <a:lstStyle/>
          <a:p>
            <a:pPr algn="ctr"/>
            <a:r>
              <a:rPr lang="en-US" dirty="0" sz="1600"/>
              <a:t>Team</a:t>
            </a:r>
            <a:endParaRPr lang="en-IN" dirty="0"/>
          </a:p>
          <a:p>
            <a:pPr algn="ctr"/>
            <a:r>
              <a:rPr lang="en-US" dirty="0" sz="1600"/>
              <a:t>Huzzards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NWIS content 3" descr="slide-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 wrap="none"/>
          <a:lstStyle/>
          <a:p>
            <a:pPr algn="ctr"/>
            <a:r>
              <a:rPr lang="en-US" dirty="0" sz="1600"/>
              <a:t>Team</a:t>
            </a:r>
            <a:endParaRPr lang="en-IN" dirty="0"/>
          </a:p>
          <a:p>
            <a:pPr algn="ctr"/>
            <a:r>
              <a:rPr lang="en-US" dirty="0" sz="1600"/>
              <a:t>Huzzards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NWIS content 4" descr="slide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 wrap="none"/>
          <a:lstStyle/>
          <a:p>
            <a:pPr algn="ctr"/>
            <a:r>
              <a:rPr lang="en-US" dirty="0" sz="1600"/>
              <a:t>Team</a:t>
            </a:r>
            <a:endParaRPr lang="en-IN" dirty="0"/>
          </a:p>
          <a:p>
            <a:pPr algn="ctr"/>
            <a:r>
              <a:rPr lang="en-US" dirty="0" sz="1600"/>
              <a:t>Huzzards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NWIS content 5" descr="slide-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 wrap="none"/>
          <a:lstStyle/>
          <a:p>
            <a:pPr algn="ctr"/>
            <a:r>
              <a:rPr lang="en-US" dirty="0" sz="1600"/>
              <a:t>Team</a:t>
            </a:r>
            <a:endParaRPr lang="en-IN" dirty="0"/>
          </a:p>
          <a:p>
            <a:pPr algn="ctr"/>
            <a:r>
              <a:rPr lang="en-US" dirty="0" sz="1600"/>
              <a:t>Huzzards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NWIS content 6" descr="slide-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411" name="link">
            <a:hlinkClick r:id="rId5"/>
          </p:cNvPr>
          <p:cNvSpPr/>
          <p:nvPr/>
        </p:nvSpPr>
        <p:spPr>
          <a:xfrm>
            <a:off x="4193084" y="4681240"/>
            <a:ext cx="942677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2" name="link">
            <a:hlinkClick r:id="rId6"/>
          </p:cNvPr>
          <p:cNvSpPr/>
          <p:nvPr/>
        </p:nvSpPr>
        <p:spPr>
          <a:xfrm>
            <a:off x="3144738" y="4902696"/>
            <a:ext cx="1405830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3" name="link">
            <a:hlinkClick r:id="rId7"/>
          </p:cNvPr>
          <p:cNvSpPr/>
          <p:nvPr/>
        </p:nvSpPr>
        <p:spPr>
          <a:xfrm>
            <a:off x="3789313" y="5124152"/>
            <a:ext cx="1450181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4" name="link">
            <a:hlinkClick r:id="rId8"/>
          </p:cNvPr>
          <p:cNvSpPr/>
          <p:nvPr/>
        </p:nvSpPr>
        <p:spPr>
          <a:xfrm>
            <a:off x="3028504" y="5345609"/>
            <a:ext cx="2074664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5" name="link">
            <a:hlinkClick r:id="rId9"/>
          </p:cNvPr>
          <p:cNvSpPr/>
          <p:nvPr/>
        </p:nvSpPr>
        <p:spPr>
          <a:xfrm>
            <a:off x="10228659" y="4681240"/>
            <a:ext cx="702469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6" name="link">
            <a:hlinkClick r:id="rId10"/>
          </p:cNvPr>
          <p:cNvSpPr/>
          <p:nvPr/>
        </p:nvSpPr>
        <p:spPr>
          <a:xfrm>
            <a:off x="9866709" y="4902696"/>
            <a:ext cx="1115467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7" name="link">
            <a:hlinkClick r:id="rId11"/>
          </p:cNvPr>
          <p:cNvSpPr/>
          <p:nvPr/>
        </p:nvSpPr>
        <p:spPr>
          <a:xfrm>
            <a:off x="9524554" y="5124152"/>
            <a:ext cx="996107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8" name="link">
            <a:hlinkClick r:id="rId12"/>
          </p:cNvPr>
          <p:cNvSpPr/>
          <p:nvPr/>
        </p:nvSpPr>
        <p:spPr>
          <a:xfrm>
            <a:off x="9891266" y="5345609"/>
            <a:ext cx="716607" cy="13335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