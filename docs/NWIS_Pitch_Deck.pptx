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0EA5E9"/>
            </a:solidFill>
            <a:effectLst/>
          </c:spPr>
          <c:invertIfNegative val="0"/>
          <c:dLbls>
            <c:numFmt formatCode="0.00" sourceLinked="0"/>
            <c:txPr>
              <a:bodyPr/>
              <a:lstStyle/>
              <a:p>
                <a:pPr>
                  <a:defRPr b="0" i="0" strike="noStrike" sz="1000" u="none">
                    <a:solidFill>
                      <a:srgbClr val="F5F5F8"/>
                    </a:solidFill>
                    <a:latin typeface="Arial"/>
                  </a:defRPr>
                </a:pPr>
              </a:p>
            </c:txPr>
            <c:showLegendKey val="0"/>
            <c:showVal val="1"/>
            <c:showCatName val="0"/>
            <c:showSerName val="0"/>
            <c:showPercent val="0"/>
            <c:showBubbleSize val="0"/>
            <c:showLeaderLines val="0"/>
          </c:dLbls>
          <c:cat>
            <c:multiLvlStrRef>
              <c:f>Sheet1!$A$2:$A$7</c:f>
              <c:multiLvlStrCache>
                <c:ptCount val="6"/>
                <c:lvl>
                  <c:pt idx="0">
                    <c:v>Depth proximity</c:v>
                  </c:pt>
                  <c:pt idx="1">
                    <c:v>Live parameter anomaly</c:v>
                  </c:pt>
                  <c:pt idx="2">
                    <c:v>Offset event frequency</c:v>
                  </c:pt>
                  <c:pt idx="3">
                    <c:v>Well similarity</c:v>
                  </c:pt>
                  <c:pt idx="4">
                    <c:v>Formation match</c:v>
                  </c:pt>
                  <c:pt idx="5">
                    <c:v>Trajectory match</c:v>
                  </c:pt>
                </c:lvl>
              </c:multiLvlStrCache>
            </c:multiLvlStrRef>
          </c:cat>
          <c:val>
            <c:numRef>
              <c:f>Sheet1!$B$2:$B$7</c:f>
              <c:numCache>
                <c:formatCode>General</c:formatCode>
                <c:ptCount val="6"/>
                <c:pt idx="0">
                  <c:v>0.3</c:v>
                </c:pt>
                <c:pt idx="1">
                  <c:v>0.25</c:v>
                </c:pt>
                <c:pt idx="2">
                  <c:v>0.2</c:v>
                </c:pt>
                <c:pt idx="3">
                  <c:v>0.1</c:v>
                </c:pt>
                <c:pt idx="4">
                  <c:v>0.1</c:v>
                </c:pt>
                <c:pt idx="5">
                  <c:v>0.05</c:v>
                </c:pt>
              </c:numCache>
            </c:numRef>
          </c:val>
        </c:ser>
        <c:dLbls>
          <c:numFmt formatCode="0.00" sourceLinked="0"/>
          <c:txPr>
            <a:bodyPr/>
            <a:lstStyle/>
            <a:p>
              <a:pPr>
                <a:defRPr b="0" i="0" strike="noStrike" sz="1000" u="none">
                  <a:solidFill>
                    <a:srgbClr val="F5F5F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C4C6D2"/>
                </a:solidFill>
                <a:latin typeface="Arial"/>
              </a:defRPr>
            </a:pPr>
            <a:endParaRPr lang="en-US"/>
          </a:p>
        </c:txPr>
        <c:crossAx val="2094734552"/>
        <c:crosses val="autoZero"/>
        <c:auto val="1"/>
        <c:lblAlgn val="ctr"/>
        <c:noMultiLvlLbl val="1"/>
      </c:catAx>
      <c:valAx>
        <c:axId val="2094734552"/>
        <c:scaling>
          <c:orientation val="minMax"/>
          <c:max val="0.3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operational problem, not technology. NWIS gives every drilling engineer institutional memory — connecting the active well's current depth to what nearby and historical wells experienced, why it happened, and what to check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knowledge is distributed across completion reports, daily reports, databases and individual experience. In our demo field, the next 500 m of the active well cross three windows where offsets lost 110 hours of NPT.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everything is built on: join the live depth to the history at that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well → current depth → nearby wells → historical events → correlation → evidence → risk signal → proactive alert → recommended checks → engineer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Run historical risk scenario. At 3,150 m the mud-loss alert fires and OIL-AX-99 and OIL-AX-55 glow on the map; at 3,380 m stuck pipe; at 3,580 m a critical kick warning. Then click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the Command Center to Subsurface (or open Subsurface 3D). The block is built from the offsets' own formation tops and surveys. Run the scenario: the amber bit drills down, the depth plane follows it, and at 3,150 m the plane flashes, the camera flies to OIL-AX-99 and OIL-AX-55, and particles stream from their loss events to the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Brief. For the next 300 m NWIS lists 2 hazard windows, how many offsets that reached the depth hit each one, what worked fastest, the offset-calibrated mud-weight window and the checks — with an expected NPT exposure of 8.8 hours. Print it for the shift handover, or copy it into the rig WhatsApp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a mysterious 'AI says high risk'. The Why? view lists numbered reasons, the weighted factor breakdown, live signals versus baseline, the supporting offset wells with quotes and page citations, recommended checks, and the audit trail. Scores rank risk; they are not calibrated probabilities. A logistic model on the same six factors, backtested leave-one-well-out on the offset wells, cross-checks every score (the ML chip) — and learned that live parameter anomalies matter more than our hand-set weights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mitigations were used for stuck pipe in Kopili Shale? The answer names OIL-AX-88, 66 and 11 with what worked, each sentence cited to a report page. Click a citation to open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 the sample daily drilling report for OIL-AX-22: three candidate events, one flagged as a possible duplicate, entities extracted, provenance kept. Save, then search for it. Then process the scanned OIL-AX-44 report: no text layer at all — Tesseract reads it at ~93% word confidence and the same extraction finds the differential sticking at 2,655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Assam field is an illustrative demo because OIL's records are confidential. So we proved the pipeline on the largest public archive of operator well histories: Norway publishes every exploration well. NWIS read 1970 histories in about 4 seconds and found 611 drilling problems with depth and sentence. We tuned the prose rules on one area and hand-checked 50 extractions from other wells: 94% were real incidents, 94% had the right depth. Give us 3 anonymised OIL DDR pages and we run them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standalone layer beside eRTMAC. Every demo component has a named production replacement; the data model already carries provenance so authorised OIL data can replace the demo field — the Real-data page already runs it on public operator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decision support — the engineer decides. Be explicit that the Assam field is an illustrative demo (the Real-data slide is real public data), and that the hand-set weights drive alerts while a learned model cross-checks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090E"/>
        </a:solidFill>
      </p:bgPr>
    </p:bg>
    <p:spTree>
      <p:nvGrpSpPr>
        <p:cNvPr id="1" name=""/>
        <p:cNvGrpSpPr/>
        <p:nvPr/>
      </p:nvGrpSpPr>
      <p:grpSpPr>
        <a:xfrm>
          <a:off x="0" y="0"/>
          <a:ext cx="0" cy="0"/>
          <a:chOff x="0" y="0"/>
          <a:chExt cx="0" cy="0"/>
        </a:xfrm>
      </p:grpSpPr>
      <p:pic>
        <p:nvPicPr>
          <p:cNvPr id="2" name="Image 0" descr="C:\Users\aryab\OneDrive\Desktop\sihps2\docs\screenshots\03-scenario-complete.png">    </p:cNvPr>
          <p:cNvPicPr>
            <a:picLocks noChangeAspect="1"/>
          </p:cNvPicPr>
          <p:nvPr/>
        </p:nvPicPr>
        <p:blipFill>
          <a:blip r:embed="rId1">
            <a:alphaModFix amt="45000"/>
          </a:blip>
          <a:stretch>
            <a:fillRect/>
          </a:stretch>
        </p:blipFill>
        <p:spPr>
          <a:xfrm>
            <a:off x="5394960" y="0"/>
            <a:ext cx="9722815" cy="5469084"/>
          </a:xfrm>
          <a:prstGeom prst="rect">
            <a:avLst/>
          </a:prstGeom>
        </p:spPr>
      </p:pic>
      <p:sp>
        <p:nvSpPr>
          <p:cNvPr id="3" name="Shape 0"/>
          <p:cNvSpPr/>
          <p:nvPr/>
        </p:nvSpPr>
        <p:spPr>
          <a:xfrm>
            <a:off x="0" y="0"/>
            <a:ext cx="6035040" cy="6858000"/>
          </a:xfrm>
          <a:prstGeom prst="rect">
            <a:avLst/>
          </a:prstGeom>
          <a:solidFill>
            <a:srgbClr val="09090E"/>
          </a:solidFill>
          <a:ln/>
        </p:spPr>
      </p:sp>
      <p:pic>
        <p:nvPicPr>
          <p:cNvPr id="4" name="Image 1" descr="C:\Users\aryab\OneDrive\Desktop\sihps2\docs\nwis-logo.png">    </p:cNvPr>
          <p:cNvPicPr>
            <a:picLocks noChangeAspect="1"/>
          </p:cNvPicPr>
          <p:nvPr/>
        </p:nvPicPr>
        <p:blipFill>
          <a:blip r:embed="rId2"/>
          <a:stretch>
            <a:fillRect/>
          </a:stretch>
        </p:blipFill>
        <p:spPr>
          <a:xfrm>
            <a:off x="731520" y="1188720"/>
            <a:ext cx="914400" cy="914400"/>
          </a:xfrm>
          <a:prstGeom prst="rect">
            <a:avLst/>
          </a:prstGeom>
        </p:spPr>
      </p:pic>
      <p:sp>
        <p:nvSpPr>
          <p:cNvPr id="5" name="Text 1"/>
          <p:cNvSpPr txBox="1"/>
          <p:nvPr/>
        </p:nvSpPr>
        <p:spPr>
          <a:xfrm>
            <a:off x="731520" y="2240280"/>
            <a:ext cx="5120640" cy="1097280"/>
          </a:xfrm>
          <a:prstGeom prst="rect">
            <a:avLst/>
          </a:prstGeom>
          <a:noFill/>
          <a:ln/>
        </p:spPr>
        <p:txBody>
          <a:bodyPr wrap="square" lIns="0" tIns="0" rIns="0" bIns="0" rtlCol="0" anchor="t"/>
          <a:lstStyle/>
          <a:p>
            <a:pPr indent="0" marL="0">
              <a:buNone/>
            </a:pPr>
            <a:r>
              <a:rPr lang="en-US" sz="7200" b="1" spc="800" kern="0" dirty="0">
                <a:solidFill>
                  <a:srgbClr val="F5F5F8"/>
                </a:solidFill>
                <a:latin typeface="Calibri" pitchFamily="34" charset="0"/>
                <a:ea typeface="Calibri" pitchFamily="34" charset="-122"/>
                <a:cs typeface="Calibri" pitchFamily="34" charset="-120"/>
              </a:rPr>
              <a:t>NWIS</a:t>
            </a:r>
            <a:endParaRPr lang="en-US" sz="7200" dirty="0"/>
          </a:p>
        </p:txBody>
      </p:sp>
      <p:sp>
        <p:nvSpPr>
          <p:cNvPr id="6" name="Text 2"/>
          <p:cNvSpPr txBox="1"/>
          <p:nvPr/>
        </p:nvSpPr>
        <p:spPr>
          <a:xfrm>
            <a:off x="731520" y="3337560"/>
            <a:ext cx="5120640" cy="502920"/>
          </a:xfrm>
          <a:prstGeom prst="rect">
            <a:avLst/>
          </a:prstGeom>
          <a:noFill/>
          <a:ln/>
        </p:spPr>
        <p:txBody>
          <a:bodyPr wrap="square" lIns="0" tIns="0" rIns="0" bIns="0" rtlCol="0" anchor="t"/>
          <a:lstStyle/>
          <a:p>
            <a:pPr indent="0" marL="0">
              <a:buNone/>
            </a:pPr>
            <a:r>
              <a:rPr lang="en-US" sz="2600" b="1" dirty="0">
                <a:solidFill>
                  <a:srgbClr val="F5F5F8"/>
                </a:solidFill>
                <a:latin typeface="Calibri" pitchFamily="34" charset="0"/>
                <a:ea typeface="Calibri" pitchFamily="34" charset="-122"/>
                <a:cs typeface="Calibri" pitchFamily="34" charset="-120"/>
              </a:rPr>
              <a:t>Nearby Wells Intelligence System</a:t>
            </a:r>
            <a:endParaRPr lang="en-US" sz="2600" dirty="0"/>
          </a:p>
        </p:txBody>
      </p:sp>
      <p:sp>
        <p:nvSpPr>
          <p:cNvPr id="7" name="Text 3"/>
          <p:cNvSpPr txBox="1"/>
          <p:nvPr/>
        </p:nvSpPr>
        <p:spPr>
          <a:xfrm>
            <a:off x="731520" y="3977640"/>
            <a:ext cx="4937760" cy="914400"/>
          </a:xfrm>
          <a:prstGeom prst="rect">
            <a:avLst/>
          </a:prstGeom>
          <a:noFill/>
          <a:ln/>
        </p:spPr>
        <p:txBody>
          <a:bodyPr wrap="square" lIns="0" tIns="0" rIns="0" bIns="0" rtlCol="0" anchor="t"/>
          <a:lstStyle/>
          <a:p>
            <a:pPr indent="0" marL="0">
              <a:buNone/>
            </a:pPr>
            <a:r>
              <a:rPr lang="en-US" sz="1500" dirty="0">
                <a:solidFill>
                  <a:srgbClr val="C4C6D2"/>
                </a:solidFill>
                <a:latin typeface="Calibri" pitchFamily="34" charset="0"/>
                <a:ea typeface="Calibri" pitchFamily="34" charset="-122"/>
                <a:cs typeface="Calibri" pitchFamily="34" charset="-120"/>
              </a:rPr>
              <a:t>Institutional memory beside the active well — what nearby wells experienced at this depth, why, and what to check next.</a:t>
            </a:r>
            <a:endParaRPr lang="en-US" sz="1500" dirty="0"/>
          </a:p>
        </p:txBody>
      </p:sp>
      <p:sp>
        <p:nvSpPr>
          <p:cNvPr id="8" name="Text 4"/>
          <p:cNvSpPr txBox="1"/>
          <p:nvPr/>
        </p:nvSpPr>
        <p:spPr>
          <a:xfrm>
            <a:off x="731520" y="5669280"/>
            <a:ext cx="5120640" cy="274320"/>
          </a:xfrm>
          <a:prstGeom prst="rect">
            <a:avLst/>
          </a:prstGeom>
          <a:noFill/>
          <a:ln/>
        </p:spPr>
        <p:txBody>
          <a:bodyPr wrap="square" lIns="0" tIns="0" rIns="0" bIns="0" rtlCol="0" anchor="t"/>
          <a:lstStyle/>
          <a:p>
            <a:pPr indent="0" marL="0">
              <a:buNone/>
            </a:pPr>
            <a:r>
              <a:rPr lang="en-US" sz="1200" dirty="0">
                <a:solidFill>
                  <a:srgbClr val="8C8FA1"/>
                </a:solidFill>
                <a:latin typeface="Calibri" pitchFamily="34" charset="0"/>
                <a:ea typeface="Calibri" pitchFamily="34" charset="-122"/>
                <a:cs typeface="Calibri" pitchFamily="34" charset="-120"/>
              </a:rPr>
              <a:t>SIH 2026  ·  Problem statement SIH26121  ·  Oil India Limited</a:t>
            </a:r>
            <a:endParaRPr lang="en-US" sz="1200" dirty="0"/>
          </a:p>
        </p:txBody>
      </p:sp>
      <p:sp>
        <p:nvSpPr>
          <p:cNvPr id="9" name="Text 5"/>
          <p:cNvSpPr txBox="1"/>
          <p:nvPr/>
        </p:nvSpPr>
        <p:spPr>
          <a:xfrm>
            <a:off x="731520" y="5943600"/>
            <a:ext cx="5120640" cy="411480"/>
          </a:xfrm>
          <a:prstGeom prst="rect">
            <a:avLst/>
          </a:prstGeom>
          <a:noFill/>
          <a:ln/>
        </p:spPr>
        <p:txBody>
          <a:bodyPr wrap="square" lIns="0" tIns="0" rIns="0" bIns="0" rtlCol="0" anchor="t"/>
          <a:lstStyle/>
          <a:p>
            <a:pPr indent="0" marL="0">
              <a:buNone/>
            </a:pPr>
            <a:r>
              <a:rPr lang="en-US" sz="1000" dirty="0">
                <a:solidFill>
                  <a:srgbClr val="F2A60C"/>
                </a:solidFill>
                <a:latin typeface="Calibri" pitchFamily="34" charset="0"/>
                <a:ea typeface="Calibri" pitchFamily="34" charset="-122"/>
                <a:cs typeface="Calibri" pitchFamily="34" charset="-120"/>
              </a:rPr>
              <a:t>Working prototype · demo field modelled on real Upper Assam geology (illustrative wells, not OIL records) · proven on 1,970 real public well histories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Drilling knowledge is scattered — so risks repeat</a:t>
            </a:r>
            <a:endParaRPr lang="en-US" sz="3200" dirty="0"/>
          </a:p>
        </p:txBody>
      </p:sp>
      <p:sp>
        <p:nvSpPr>
          <p:cNvPr id="4" name="Shape 2"/>
          <p:cNvSpPr/>
          <p:nvPr/>
        </p:nvSpPr>
        <p:spPr>
          <a:xfrm>
            <a:off x="548640" y="1783080"/>
            <a:ext cx="3474720" cy="2514600"/>
          </a:xfrm>
          <a:prstGeom prst="roundRect">
            <a:avLst>
              <a:gd name="adj" fmla="val 1091"/>
            </a:avLst>
          </a:prstGeom>
          <a:solidFill>
            <a:srgbClr val="121219"/>
          </a:solidFill>
          <a:ln w="12700">
            <a:solidFill>
              <a:srgbClr val="32323E"/>
            </a:solidFill>
            <a:prstDash val="solid"/>
          </a:ln>
        </p:spPr>
      </p:sp>
      <p:sp>
        <p:nvSpPr>
          <p:cNvPr id="5" name="Shape 3"/>
          <p:cNvSpPr/>
          <p:nvPr/>
        </p:nvSpPr>
        <p:spPr>
          <a:xfrm>
            <a:off x="822960" y="2057400"/>
            <a:ext cx="566928" cy="566928"/>
          </a:xfrm>
          <a:prstGeom prst="ellipse">
            <a:avLst/>
          </a:prstGeom>
          <a:solidFill>
            <a:srgbClr val="1F1F29"/>
          </a:solidFill>
          <a:ln w="15875">
            <a:solidFill>
              <a:srgbClr val="32323E"/>
            </a:solidFill>
            <a:prstDash val="solid"/>
          </a:ln>
        </p:spPr>
      </p:sp>
      <p:pic>
        <p:nvPicPr>
          <p:cNvPr id="6" name="Image 0" descr="preencoded.png">    </p:cNvPr>
          <p:cNvPicPr>
            <a:picLocks noChangeAspect="1"/>
          </p:cNvPicPr>
          <p:nvPr/>
        </p:nvPicPr>
        <p:blipFill>
          <a:blip r:embed="rId1"/>
          <a:stretch>
            <a:fillRect/>
          </a:stretch>
        </p:blipFill>
        <p:spPr>
          <a:xfrm>
            <a:off x="947684" y="2182124"/>
            <a:ext cx="317480" cy="317480"/>
          </a:xfrm>
          <a:prstGeom prst="rect">
            <a:avLst/>
          </a:prstGeom>
        </p:spPr>
      </p:pic>
      <p:sp>
        <p:nvSpPr>
          <p:cNvPr id="7" name="Text 4"/>
          <p:cNvSpPr txBox="1"/>
          <p:nvPr/>
        </p:nvSpPr>
        <p:spPr>
          <a:xfrm>
            <a:off x="822960" y="2788920"/>
            <a:ext cx="2926080" cy="411480"/>
          </a:xfrm>
          <a:prstGeom prst="rect">
            <a:avLst/>
          </a:prstGeom>
          <a:noFill/>
          <a:ln/>
        </p:spPr>
        <p:txBody>
          <a:bodyPr wrap="square" lIns="0" tIns="0" rIns="0" bIns="0" rtlCol="0" anchor="t"/>
          <a:lstStyle/>
          <a:p>
            <a:pPr indent="0" marL="0">
              <a:buNone/>
            </a:pPr>
            <a:r>
              <a:rPr lang="en-US" sz="2000" b="1" dirty="0">
                <a:solidFill>
                  <a:srgbClr val="F5F5F8"/>
                </a:solidFill>
                <a:latin typeface="Calibri" pitchFamily="34" charset="0"/>
                <a:ea typeface="Calibri" pitchFamily="34" charset="-122"/>
                <a:cs typeface="Calibri" pitchFamily="34" charset="-120"/>
              </a:rPr>
              <a:t>Buried in reports</a:t>
            </a:r>
            <a:endParaRPr lang="en-US" sz="2000" dirty="0"/>
          </a:p>
        </p:txBody>
      </p:sp>
      <p:sp>
        <p:nvSpPr>
          <p:cNvPr id="8" name="Text 5"/>
          <p:cNvSpPr txBox="1"/>
          <p:nvPr/>
        </p:nvSpPr>
        <p:spPr>
          <a:xfrm>
            <a:off x="822960" y="3246120"/>
            <a:ext cx="2971800" cy="960120"/>
          </a:xfrm>
          <a:prstGeom prst="rect">
            <a:avLst/>
          </a:prstGeom>
          <a:noFill/>
          <a:ln/>
        </p:spPr>
        <p:txBody>
          <a:bodyPr wrap="square" lIns="0" tIns="0" rIns="0" bIns="0" rtlCol="0" anchor="t"/>
          <a:lstStyle/>
          <a:p>
            <a:pPr indent="0" marL="0">
              <a:buNone/>
            </a:pPr>
            <a:r>
              <a:rPr lang="en-US" sz="1400" dirty="0">
                <a:solidFill>
                  <a:srgbClr val="C4C6D2"/>
                </a:solidFill>
                <a:latin typeface="Calibri" pitchFamily="34" charset="0"/>
                <a:ea typeface="Calibri" pitchFamily="34" charset="-122"/>
                <a:cs typeface="Calibri" pitchFamily="34" charset="-120"/>
              </a:rPr>
              <a:t>Daily drilling reports, completion reports and mud logs sit as PDFs — searched by hand, if at all.</a:t>
            </a:r>
            <a:endParaRPr lang="en-US" sz="1400" dirty="0"/>
          </a:p>
        </p:txBody>
      </p:sp>
      <p:sp>
        <p:nvSpPr>
          <p:cNvPr id="9" name="Shape 6"/>
          <p:cNvSpPr/>
          <p:nvPr/>
        </p:nvSpPr>
        <p:spPr>
          <a:xfrm>
            <a:off x="4297680" y="1783080"/>
            <a:ext cx="3474720" cy="2514600"/>
          </a:xfrm>
          <a:prstGeom prst="roundRect">
            <a:avLst>
              <a:gd name="adj" fmla="val 1091"/>
            </a:avLst>
          </a:prstGeom>
          <a:solidFill>
            <a:srgbClr val="121219"/>
          </a:solidFill>
          <a:ln w="12700">
            <a:solidFill>
              <a:srgbClr val="32323E"/>
            </a:solidFill>
            <a:prstDash val="solid"/>
          </a:ln>
        </p:spPr>
      </p:sp>
      <p:sp>
        <p:nvSpPr>
          <p:cNvPr id="10" name="Shape 7"/>
          <p:cNvSpPr/>
          <p:nvPr/>
        </p:nvSpPr>
        <p:spPr>
          <a:xfrm>
            <a:off x="4572000" y="2057400"/>
            <a:ext cx="566928" cy="566928"/>
          </a:xfrm>
          <a:prstGeom prst="ellipse">
            <a:avLst/>
          </a:prstGeom>
          <a:solidFill>
            <a:srgbClr val="1F1F29"/>
          </a:solidFill>
          <a:ln w="15875">
            <a:solidFill>
              <a:srgbClr val="32323E"/>
            </a:solidFill>
            <a:prstDash val="solid"/>
          </a:ln>
        </p:spPr>
      </p:sp>
      <p:pic>
        <p:nvPicPr>
          <p:cNvPr id="11" name="Image 1" descr="preencoded.png">    </p:cNvPr>
          <p:cNvPicPr>
            <a:picLocks noChangeAspect="1"/>
          </p:cNvPicPr>
          <p:nvPr/>
        </p:nvPicPr>
        <p:blipFill>
          <a:blip r:embed="rId2"/>
          <a:stretch>
            <a:fillRect/>
          </a:stretch>
        </p:blipFill>
        <p:spPr>
          <a:xfrm>
            <a:off x="4696724" y="2182124"/>
            <a:ext cx="317480" cy="317480"/>
          </a:xfrm>
          <a:prstGeom prst="rect">
            <a:avLst/>
          </a:prstGeom>
        </p:spPr>
      </p:pic>
      <p:sp>
        <p:nvSpPr>
          <p:cNvPr id="12" name="Text 8"/>
          <p:cNvSpPr txBox="1"/>
          <p:nvPr/>
        </p:nvSpPr>
        <p:spPr>
          <a:xfrm>
            <a:off x="4572000" y="2788920"/>
            <a:ext cx="2926080" cy="411480"/>
          </a:xfrm>
          <a:prstGeom prst="rect">
            <a:avLst/>
          </a:prstGeom>
          <a:noFill/>
          <a:ln/>
        </p:spPr>
        <p:txBody>
          <a:bodyPr wrap="square" lIns="0" tIns="0" rIns="0" bIns="0" rtlCol="0" anchor="t"/>
          <a:lstStyle/>
          <a:p>
            <a:pPr indent="0" marL="0">
              <a:buNone/>
            </a:pPr>
            <a:r>
              <a:rPr lang="en-US" sz="2000" b="1" dirty="0">
                <a:solidFill>
                  <a:srgbClr val="F5F5F8"/>
                </a:solidFill>
                <a:latin typeface="Calibri" pitchFamily="34" charset="0"/>
                <a:ea typeface="Calibri" pitchFamily="34" charset="-122"/>
                <a:cs typeface="Calibri" pitchFamily="34" charset="-120"/>
              </a:rPr>
              <a:t>Held by people</a:t>
            </a:r>
            <a:endParaRPr lang="en-US" sz="2000" dirty="0"/>
          </a:p>
        </p:txBody>
      </p:sp>
      <p:sp>
        <p:nvSpPr>
          <p:cNvPr id="13" name="Text 9"/>
          <p:cNvSpPr txBox="1"/>
          <p:nvPr/>
        </p:nvSpPr>
        <p:spPr>
          <a:xfrm>
            <a:off x="4572000" y="3246120"/>
            <a:ext cx="2971800" cy="960120"/>
          </a:xfrm>
          <a:prstGeom prst="rect">
            <a:avLst/>
          </a:prstGeom>
          <a:noFill/>
          <a:ln/>
        </p:spPr>
        <p:txBody>
          <a:bodyPr wrap="square" lIns="0" tIns="0" rIns="0" bIns="0" rtlCol="0" anchor="t"/>
          <a:lstStyle/>
          <a:p>
            <a:pPr indent="0" marL="0">
              <a:buNone/>
            </a:pPr>
            <a:r>
              <a:rPr lang="en-US" sz="1400" dirty="0">
                <a:solidFill>
                  <a:srgbClr val="C4C6D2"/>
                </a:solidFill>
                <a:latin typeface="Calibri" pitchFamily="34" charset="0"/>
                <a:ea typeface="Calibri" pitchFamily="34" charset="-122"/>
                <a:cs typeface="Calibri" pitchFamily="34" charset="-120"/>
              </a:rPr>
              <a:t>The engineer who cured the losses on the last well may be on another rig — or retired.</a:t>
            </a:r>
            <a:endParaRPr lang="en-US" sz="1400" dirty="0"/>
          </a:p>
        </p:txBody>
      </p:sp>
      <p:sp>
        <p:nvSpPr>
          <p:cNvPr id="14" name="Shape 10"/>
          <p:cNvSpPr/>
          <p:nvPr/>
        </p:nvSpPr>
        <p:spPr>
          <a:xfrm>
            <a:off x="8046720" y="1783080"/>
            <a:ext cx="3474720" cy="2514600"/>
          </a:xfrm>
          <a:prstGeom prst="roundRect">
            <a:avLst>
              <a:gd name="adj" fmla="val 1091"/>
            </a:avLst>
          </a:prstGeom>
          <a:solidFill>
            <a:srgbClr val="121219"/>
          </a:solidFill>
          <a:ln w="12700">
            <a:solidFill>
              <a:srgbClr val="32323E"/>
            </a:solidFill>
            <a:prstDash val="solid"/>
          </a:ln>
        </p:spPr>
      </p:sp>
      <p:sp>
        <p:nvSpPr>
          <p:cNvPr id="15" name="Shape 11"/>
          <p:cNvSpPr/>
          <p:nvPr/>
        </p:nvSpPr>
        <p:spPr>
          <a:xfrm>
            <a:off x="8321040" y="2057400"/>
            <a:ext cx="566928" cy="566928"/>
          </a:xfrm>
          <a:prstGeom prst="ellipse">
            <a:avLst/>
          </a:prstGeom>
          <a:solidFill>
            <a:srgbClr val="1F1F29"/>
          </a:solidFill>
          <a:ln w="15875">
            <a:solidFill>
              <a:srgbClr val="32323E"/>
            </a:solidFill>
            <a:prstDash val="solid"/>
          </a:ln>
        </p:spPr>
      </p:sp>
      <p:pic>
        <p:nvPicPr>
          <p:cNvPr id="16" name="Image 2" descr="preencoded.png">    </p:cNvPr>
          <p:cNvPicPr>
            <a:picLocks noChangeAspect="1"/>
          </p:cNvPicPr>
          <p:nvPr/>
        </p:nvPicPr>
        <p:blipFill>
          <a:blip r:embed="rId3"/>
          <a:stretch>
            <a:fillRect/>
          </a:stretch>
        </p:blipFill>
        <p:spPr>
          <a:xfrm>
            <a:off x="8445764" y="2182124"/>
            <a:ext cx="317480" cy="317480"/>
          </a:xfrm>
          <a:prstGeom prst="rect">
            <a:avLst/>
          </a:prstGeom>
        </p:spPr>
      </p:pic>
      <p:sp>
        <p:nvSpPr>
          <p:cNvPr id="17" name="Text 12"/>
          <p:cNvSpPr txBox="1"/>
          <p:nvPr/>
        </p:nvSpPr>
        <p:spPr>
          <a:xfrm>
            <a:off x="8321040" y="2788920"/>
            <a:ext cx="2926080" cy="411480"/>
          </a:xfrm>
          <a:prstGeom prst="rect">
            <a:avLst/>
          </a:prstGeom>
          <a:noFill/>
          <a:ln/>
        </p:spPr>
        <p:txBody>
          <a:bodyPr wrap="square" lIns="0" tIns="0" rIns="0" bIns="0" rtlCol="0" anchor="t"/>
          <a:lstStyle/>
          <a:p>
            <a:pPr indent="0" marL="0">
              <a:buNone/>
            </a:pPr>
            <a:r>
              <a:rPr lang="en-US" sz="2000" b="1" dirty="0">
                <a:solidFill>
                  <a:srgbClr val="F5F5F8"/>
                </a:solidFill>
                <a:latin typeface="Calibri" pitchFamily="34" charset="0"/>
                <a:ea typeface="Calibri" pitchFamily="34" charset="-122"/>
                <a:cs typeface="Calibri" pitchFamily="34" charset="-120"/>
              </a:rPr>
              <a:t>Needed right now</a:t>
            </a:r>
            <a:endParaRPr lang="en-US" sz="2000" dirty="0"/>
          </a:p>
        </p:txBody>
      </p:sp>
      <p:sp>
        <p:nvSpPr>
          <p:cNvPr id="18" name="Text 13"/>
          <p:cNvSpPr txBox="1"/>
          <p:nvPr/>
        </p:nvSpPr>
        <p:spPr>
          <a:xfrm>
            <a:off x="8321040" y="3246120"/>
            <a:ext cx="2971800" cy="960120"/>
          </a:xfrm>
          <a:prstGeom prst="rect">
            <a:avLst/>
          </a:prstGeom>
          <a:noFill/>
          <a:ln/>
        </p:spPr>
        <p:txBody>
          <a:bodyPr wrap="square" lIns="0" tIns="0" rIns="0" bIns="0" rtlCol="0" anchor="t"/>
          <a:lstStyle/>
          <a:p>
            <a:pPr indent="0" marL="0">
              <a:buNone/>
            </a:pPr>
            <a:r>
              <a:rPr lang="en-US" sz="1400" dirty="0">
                <a:solidFill>
                  <a:srgbClr val="C4C6D2"/>
                </a:solidFill>
                <a:latin typeface="Calibri" pitchFamily="34" charset="0"/>
                <a:ea typeface="Calibri" pitchFamily="34" charset="-122"/>
                <a:cs typeface="Calibri" pitchFamily="34" charset="-120"/>
              </a:rPr>
              <a:t>Decisions happen at the bit, in minutes. Manual offset review happens before spud, once.</a:t>
            </a:r>
            <a:endParaRPr lang="en-US" sz="1400" dirty="0"/>
          </a:p>
        </p:txBody>
      </p:sp>
      <p:sp>
        <p:nvSpPr>
          <p:cNvPr id="19" name="Shape 14"/>
          <p:cNvSpPr/>
          <p:nvPr/>
        </p:nvSpPr>
        <p:spPr>
          <a:xfrm>
            <a:off x="548640" y="4572000"/>
            <a:ext cx="11064240" cy="1417320"/>
          </a:xfrm>
          <a:prstGeom prst="roundRect">
            <a:avLst>
              <a:gd name="adj" fmla="val 1935"/>
            </a:avLst>
          </a:prstGeom>
          <a:solidFill>
            <a:srgbClr val="1F1F29"/>
          </a:solidFill>
          <a:ln w="12700">
            <a:solidFill>
              <a:srgbClr val="32323E"/>
            </a:solidFill>
            <a:prstDash val="solid"/>
          </a:ln>
        </p:spPr>
      </p:sp>
      <p:sp>
        <p:nvSpPr>
          <p:cNvPr id="20" name="Text 15"/>
          <p:cNvSpPr txBox="1"/>
          <p:nvPr/>
        </p:nvSpPr>
        <p:spPr>
          <a:xfrm>
            <a:off x="868680" y="4736592"/>
            <a:ext cx="2194560" cy="914400"/>
          </a:xfrm>
          <a:prstGeom prst="rect">
            <a:avLst/>
          </a:prstGeom>
          <a:noFill/>
          <a:ln/>
        </p:spPr>
        <p:txBody>
          <a:bodyPr wrap="square" lIns="0" tIns="0" rIns="0" bIns="0" rtlCol="0" anchor="t"/>
          <a:lstStyle/>
          <a:p>
            <a:pPr indent="0" marL="0">
              <a:buNone/>
            </a:pPr>
            <a:r>
              <a:rPr lang="en-US" sz="5400" b="1" dirty="0">
                <a:solidFill>
                  <a:srgbClr val="F2A60C"/>
                </a:solidFill>
                <a:latin typeface="Consolas" pitchFamily="34" charset="0"/>
                <a:ea typeface="Consolas" pitchFamily="34" charset="-122"/>
                <a:cs typeface="Consolas" pitchFamily="34" charset="-120"/>
              </a:rPr>
              <a:t>110 h</a:t>
            </a:r>
            <a:endParaRPr lang="en-US" sz="5400" dirty="0"/>
          </a:p>
        </p:txBody>
      </p:sp>
      <p:sp>
        <p:nvSpPr>
          <p:cNvPr id="21" name="Text 16"/>
          <p:cNvSpPr txBox="1"/>
          <p:nvPr/>
        </p:nvSpPr>
        <p:spPr>
          <a:xfrm>
            <a:off x="3154680" y="4828032"/>
            <a:ext cx="8138160" cy="685800"/>
          </a:xfrm>
          <a:prstGeom prst="rect">
            <a:avLst/>
          </a:prstGeom>
          <a:noFill/>
          <a:ln/>
        </p:spPr>
        <p:txBody>
          <a:bodyPr wrap="square" lIns="0" tIns="0" rIns="0" bIns="0" rtlCol="0" anchor="t"/>
          <a:lstStyle/>
          <a:p>
            <a:pPr indent="0" marL="0">
              <a:buNone/>
            </a:pPr>
            <a:r>
              <a:rPr lang="en-US" sz="1700" dirty="0">
                <a:solidFill>
                  <a:srgbClr val="F5F5F8"/>
                </a:solidFill>
                <a:latin typeface="Calibri" pitchFamily="34" charset="0"/>
                <a:ea typeface="Calibri" pitchFamily="34" charset="-122"/>
                <a:cs typeface="Calibri" pitchFamily="34" charset="-120"/>
              </a:rPr>
              <a:t>of NPT in 8 offset events inside the three windows our active well is about to drill — Barail losses, Kopili stuck pipe, Sylhet kick.</a:t>
            </a:r>
            <a:endParaRPr lang="en-US" sz="1700" dirty="0"/>
          </a:p>
        </p:txBody>
      </p:sp>
      <p:sp>
        <p:nvSpPr>
          <p:cNvPr id="22" name="Text 17"/>
          <p:cNvSpPr txBox="1"/>
          <p:nvPr/>
        </p:nvSpPr>
        <p:spPr>
          <a:xfrm>
            <a:off x="3154680" y="5532120"/>
            <a:ext cx="8138160" cy="274320"/>
          </a:xfrm>
          <a:prstGeom prst="rect">
            <a:avLst/>
          </a:prstGeom>
          <a:noFill/>
          <a:ln/>
        </p:spPr>
        <p:txBody>
          <a:bodyPr wrap="square" lIns="0" tIns="0" rIns="0" bIns="0" rtlCol="0" anchor="t"/>
          <a:lstStyle/>
          <a:p>
            <a:pPr indent="0" marL="0">
              <a:buNone/>
            </a:pPr>
            <a:r>
              <a:rPr lang="en-US" sz="1100" dirty="0">
                <a:solidFill>
                  <a:srgbClr val="8C8FA1"/>
                </a:solidFill>
                <a:latin typeface="Calibri" pitchFamily="34" charset="0"/>
                <a:ea typeface="Calibri" pitchFamily="34" charset="-122"/>
                <a:cs typeface="Calibri" pitchFamily="34" charset="-120"/>
              </a:rPr>
              <a:t>Demo field — the pattern NWIS is built to break.</a:t>
            </a:r>
            <a:endParaRPr lang="en-US" sz="1100" dirty="0"/>
          </a:p>
        </p:txBody>
      </p:sp>
      <p:sp>
        <p:nvSpPr>
          <p:cNvPr id="23" name="Text 1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4" name="Text 19"/>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THE INSIGHT</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Engineers don't lack data — they lack the link</a:t>
            </a:r>
            <a:endParaRPr lang="en-US" sz="3200" dirty="0"/>
          </a:p>
        </p:txBody>
      </p:sp>
      <p:sp>
        <p:nvSpPr>
          <p:cNvPr id="4" name="Shape 2"/>
          <p:cNvSpPr/>
          <p:nvPr/>
        </p:nvSpPr>
        <p:spPr>
          <a:xfrm>
            <a:off x="548640" y="1783080"/>
            <a:ext cx="5029200" cy="3063240"/>
          </a:xfrm>
          <a:prstGeom prst="roundRect">
            <a:avLst>
              <a:gd name="adj" fmla="val 896"/>
            </a:avLst>
          </a:prstGeom>
          <a:solidFill>
            <a:srgbClr val="121219"/>
          </a:solidFill>
          <a:ln w="12700">
            <a:solidFill>
              <a:srgbClr val="32323E"/>
            </a:solidFill>
            <a:prstDash val="solid"/>
          </a:ln>
        </p:spPr>
      </p:sp>
      <p:sp>
        <p:nvSpPr>
          <p:cNvPr id="5" name="Shape 3"/>
          <p:cNvSpPr/>
          <p:nvPr/>
        </p:nvSpPr>
        <p:spPr>
          <a:xfrm>
            <a:off x="868680" y="2103120"/>
            <a:ext cx="685800" cy="685800"/>
          </a:xfrm>
          <a:prstGeom prst="ellipse">
            <a:avLst/>
          </a:prstGeom>
          <a:solidFill>
            <a:srgbClr val="1F1F29"/>
          </a:solidFill>
          <a:ln w="15875">
            <a:solidFill>
              <a:srgbClr val="12A679"/>
            </a:solidFill>
            <a:prstDash val="solid"/>
          </a:ln>
        </p:spPr>
      </p:sp>
      <p:pic>
        <p:nvPicPr>
          <p:cNvPr id="6" name="Image 0" descr="preencoded.png">    </p:cNvPr>
          <p:cNvPicPr>
            <a:picLocks noChangeAspect="1"/>
          </p:cNvPicPr>
          <p:nvPr/>
        </p:nvPicPr>
        <p:blipFill>
          <a:blip r:embed="rId1"/>
          <a:stretch>
            <a:fillRect/>
          </a:stretch>
        </p:blipFill>
        <p:spPr>
          <a:xfrm>
            <a:off x="1019556" y="2253996"/>
            <a:ext cx="384048" cy="384048"/>
          </a:xfrm>
          <a:prstGeom prst="rect">
            <a:avLst/>
          </a:prstGeom>
        </p:spPr>
      </p:pic>
      <p:sp>
        <p:nvSpPr>
          <p:cNvPr id="7" name="Text 4"/>
          <p:cNvSpPr txBox="1"/>
          <p:nvPr/>
        </p:nvSpPr>
        <p:spPr>
          <a:xfrm>
            <a:off x="868680" y="2971800"/>
            <a:ext cx="4480560" cy="457200"/>
          </a:xfrm>
          <a:prstGeom prst="rect">
            <a:avLst/>
          </a:prstGeom>
          <a:noFill/>
          <a:ln/>
        </p:spPr>
        <p:txBody>
          <a:bodyPr wrap="square" lIns="0" tIns="0" rIns="0" bIns="0" rtlCol="0" anchor="t"/>
          <a:lstStyle/>
          <a:p>
            <a:pPr indent="0" marL="0">
              <a:buNone/>
            </a:pPr>
            <a:r>
              <a:rPr lang="en-US" sz="2200" b="1" dirty="0">
                <a:solidFill>
                  <a:srgbClr val="F5F5F8"/>
                </a:solidFill>
                <a:latin typeface="Calibri" pitchFamily="34" charset="0"/>
                <a:ea typeface="Calibri" pitchFamily="34" charset="-122"/>
                <a:cs typeface="Calibri" pitchFamily="34" charset="-120"/>
              </a:rPr>
              <a:t>This depth, right now</a:t>
            </a:r>
            <a:endParaRPr lang="en-US" sz="2200" dirty="0"/>
          </a:p>
        </p:txBody>
      </p:sp>
      <p:sp>
        <p:nvSpPr>
          <p:cNvPr id="8" name="Text 5"/>
          <p:cNvSpPr txBox="1"/>
          <p:nvPr/>
        </p:nvSpPr>
        <p:spPr>
          <a:xfrm>
            <a:off x="868680" y="3474720"/>
            <a:ext cx="4389120" cy="822960"/>
          </a:xfrm>
          <a:prstGeom prst="rect">
            <a:avLst/>
          </a:prstGeom>
          <a:noFill/>
          <a:ln/>
        </p:spPr>
        <p:txBody>
          <a:bodyPr wrap="square" lIns="0" tIns="0" rIns="0" bIns="0" rtlCol="0" anchor="t"/>
          <a:lstStyle/>
          <a:p>
            <a:pPr indent="0" marL="0">
              <a:buNone/>
            </a:pPr>
            <a:r>
              <a:rPr lang="en-US" sz="1500" dirty="0">
                <a:solidFill>
                  <a:srgbClr val="C4C6D2"/>
                </a:solidFill>
                <a:latin typeface="Calibri" pitchFamily="34" charset="0"/>
                <a:ea typeface="Calibri" pitchFamily="34" charset="-122"/>
                <a:cs typeface="Calibri" pitchFamily="34" charset="-120"/>
              </a:rPr>
              <a:t>eRTMAC: 3,150 m · Barail Group · ECD 1.48 sg and climbing · torque steady</a:t>
            </a:r>
            <a:endParaRPr lang="en-US" sz="1500" dirty="0"/>
          </a:p>
        </p:txBody>
      </p:sp>
      <p:sp>
        <p:nvSpPr>
          <p:cNvPr id="9" name="Shape 6"/>
          <p:cNvSpPr/>
          <p:nvPr/>
        </p:nvSpPr>
        <p:spPr>
          <a:xfrm>
            <a:off x="6583680" y="1783080"/>
            <a:ext cx="5029200" cy="3063240"/>
          </a:xfrm>
          <a:prstGeom prst="roundRect">
            <a:avLst>
              <a:gd name="adj" fmla="val 896"/>
            </a:avLst>
          </a:prstGeom>
          <a:solidFill>
            <a:srgbClr val="121219"/>
          </a:solidFill>
          <a:ln w="12700">
            <a:solidFill>
              <a:srgbClr val="32323E"/>
            </a:solidFill>
            <a:prstDash val="solid"/>
          </a:ln>
        </p:spPr>
      </p:sp>
      <p:sp>
        <p:nvSpPr>
          <p:cNvPr id="10" name="Shape 7"/>
          <p:cNvSpPr/>
          <p:nvPr/>
        </p:nvSpPr>
        <p:spPr>
          <a:xfrm>
            <a:off x="6903720" y="2103120"/>
            <a:ext cx="685800" cy="685800"/>
          </a:xfrm>
          <a:prstGeom prst="ellipse">
            <a:avLst/>
          </a:prstGeom>
          <a:solidFill>
            <a:srgbClr val="1F1F29"/>
          </a:solidFill>
          <a:ln w="15875">
            <a:solidFill>
              <a:srgbClr val="12A679"/>
            </a:solidFill>
            <a:prstDash val="solid"/>
          </a:ln>
        </p:spPr>
      </p:sp>
      <p:pic>
        <p:nvPicPr>
          <p:cNvPr id="11" name="Image 1" descr="preencoded.png">    </p:cNvPr>
          <p:cNvPicPr>
            <a:picLocks noChangeAspect="1"/>
          </p:cNvPicPr>
          <p:nvPr/>
        </p:nvPicPr>
        <p:blipFill>
          <a:blip r:embed="rId2"/>
          <a:stretch>
            <a:fillRect/>
          </a:stretch>
        </p:blipFill>
        <p:spPr>
          <a:xfrm>
            <a:off x="7054596" y="2253996"/>
            <a:ext cx="384048" cy="384048"/>
          </a:xfrm>
          <a:prstGeom prst="rect">
            <a:avLst/>
          </a:prstGeom>
        </p:spPr>
      </p:pic>
      <p:sp>
        <p:nvSpPr>
          <p:cNvPr id="12" name="Text 8"/>
          <p:cNvSpPr txBox="1"/>
          <p:nvPr/>
        </p:nvSpPr>
        <p:spPr>
          <a:xfrm>
            <a:off x="6903720" y="2971800"/>
            <a:ext cx="4480560" cy="457200"/>
          </a:xfrm>
          <a:prstGeom prst="rect">
            <a:avLst/>
          </a:prstGeom>
          <a:noFill/>
          <a:ln/>
        </p:spPr>
        <p:txBody>
          <a:bodyPr wrap="square" lIns="0" tIns="0" rIns="0" bIns="0" rtlCol="0" anchor="t"/>
          <a:lstStyle/>
          <a:p>
            <a:pPr indent="0" marL="0">
              <a:buNone/>
            </a:pPr>
            <a:r>
              <a:rPr lang="en-US" sz="2200" b="1" dirty="0">
                <a:solidFill>
                  <a:srgbClr val="F5F5F8"/>
                </a:solidFill>
                <a:latin typeface="Calibri" pitchFamily="34" charset="0"/>
                <a:ea typeface="Calibri" pitchFamily="34" charset="-122"/>
                <a:cs typeface="Calibri" pitchFamily="34" charset="-120"/>
              </a:rPr>
              <a:t>What happened here before</a:t>
            </a:r>
            <a:endParaRPr lang="en-US" sz="2200" dirty="0"/>
          </a:p>
        </p:txBody>
      </p:sp>
      <p:sp>
        <p:nvSpPr>
          <p:cNvPr id="13" name="Text 9"/>
          <p:cNvSpPr txBox="1"/>
          <p:nvPr/>
        </p:nvSpPr>
        <p:spPr>
          <a:xfrm>
            <a:off x="6903720" y="3474720"/>
            <a:ext cx="4389120" cy="1005840"/>
          </a:xfrm>
          <a:prstGeom prst="rect">
            <a:avLst/>
          </a:prstGeom>
          <a:noFill/>
          <a:ln/>
        </p:spPr>
        <p:txBody>
          <a:bodyPr wrap="square" lIns="0" tIns="0" rIns="0" bIns="0" rtlCol="0" anchor="t"/>
          <a:lstStyle/>
          <a:p>
            <a:pPr indent="0" marL="0">
              <a:buNone/>
            </a:pPr>
            <a:r>
              <a:rPr lang="en-US" sz="1500" dirty="0">
                <a:solidFill>
                  <a:srgbClr val="C4C6D2"/>
                </a:solidFill>
                <a:latin typeface="Calibri" pitchFamily="34" charset="0"/>
                <a:ea typeface="Calibri" pitchFamily="34" charset="-122"/>
                <a:cs typeface="Calibri" pitchFamily="34" charset="-120"/>
              </a:rPr>
              <a:t>OIL-AX-99 lost 45 m³ at 3,150 m when ECD hit 1.52 sg; cured with LCM + MW 1.38 sg (DDR Day 42, p.3).</a:t>
            </a:r>
            <a:endParaRPr lang="en-US" sz="1500" dirty="0"/>
          </a:p>
        </p:txBody>
      </p:sp>
      <p:sp>
        <p:nvSpPr>
          <p:cNvPr id="14" name="Shape 10"/>
          <p:cNvSpPr/>
          <p:nvPr/>
        </p:nvSpPr>
        <p:spPr>
          <a:xfrm>
            <a:off x="5669280" y="2907792"/>
            <a:ext cx="822960" cy="822960"/>
          </a:xfrm>
          <a:prstGeom prst="ellipse">
            <a:avLst/>
          </a:prstGeom>
          <a:solidFill>
            <a:srgbClr val="A79DFF"/>
          </a:solidFill>
          <a:ln w="12700">
            <a:solidFill>
              <a:srgbClr val="A79DFF"/>
            </a:solidFill>
            <a:prstDash val="solid"/>
          </a:ln>
        </p:spPr>
      </p:sp>
      <p:pic>
        <p:nvPicPr>
          <p:cNvPr id="15" name="Image 2" descr="preencoded.png">    </p:cNvPr>
          <p:cNvPicPr>
            <a:picLocks noChangeAspect="1"/>
          </p:cNvPicPr>
          <p:nvPr/>
        </p:nvPicPr>
        <p:blipFill>
          <a:blip r:embed="rId3"/>
          <a:stretch>
            <a:fillRect/>
          </a:stretch>
        </p:blipFill>
        <p:spPr>
          <a:xfrm>
            <a:off x="5870448" y="3108960"/>
            <a:ext cx="420624" cy="420624"/>
          </a:xfrm>
          <a:prstGeom prst="rect">
            <a:avLst/>
          </a:prstGeom>
        </p:spPr>
      </p:pic>
      <p:sp>
        <p:nvSpPr>
          <p:cNvPr id="16" name="Text 11"/>
          <p:cNvSpPr txBox="1"/>
          <p:nvPr/>
        </p:nvSpPr>
        <p:spPr>
          <a:xfrm>
            <a:off x="548640" y="5257800"/>
            <a:ext cx="11064240" cy="457200"/>
          </a:xfrm>
          <a:prstGeom prst="rect">
            <a:avLst/>
          </a:prstGeom>
          <a:noFill/>
          <a:ln/>
        </p:spPr>
        <p:txBody>
          <a:bodyPr wrap="square" lIns="0" tIns="0" rIns="0" bIns="0" rtlCol="0" anchor="t"/>
          <a:lstStyle/>
          <a:p>
            <a:pPr algn="ctr" indent="0" marL="0">
              <a:buNone/>
            </a:pPr>
            <a:r>
              <a:rPr lang="en-US" sz="2000" b="1" dirty="0">
                <a:solidFill>
                  <a:srgbClr val="A79DFF"/>
                </a:solidFill>
                <a:latin typeface="Calibri" pitchFamily="34" charset="0"/>
                <a:ea typeface="Calibri" pitchFamily="34" charset="-122"/>
                <a:cs typeface="Calibri" pitchFamily="34" charset="-120"/>
              </a:rPr>
              <a:t>NWIS is that link — depth-aware, evidence-backed, explainable.</a:t>
            </a:r>
            <a:endParaRPr lang="en-US" sz="2000" dirty="0"/>
          </a:p>
        </p:txBody>
      </p:sp>
      <p:sp>
        <p:nvSpPr>
          <p:cNvPr id="17" name="Text 1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18" name="Text 1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THE SOLUTION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One workflow from the bit to the decision</a:t>
            </a:r>
            <a:endParaRPr lang="en-US" sz="3200" dirty="0"/>
          </a:p>
        </p:txBody>
      </p:sp>
      <p:sp>
        <p:nvSpPr>
          <p:cNvPr id="4" name="Shape 2"/>
          <p:cNvSpPr/>
          <p:nvPr/>
        </p:nvSpPr>
        <p:spPr>
          <a:xfrm>
            <a:off x="548640" y="1874520"/>
            <a:ext cx="2011680" cy="914400"/>
          </a:xfrm>
          <a:prstGeom prst="roundRect">
            <a:avLst>
              <a:gd name="adj" fmla="val 3000"/>
            </a:avLst>
          </a:prstGeom>
          <a:solidFill>
            <a:srgbClr val="121219"/>
          </a:solidFill>
          <a:ln w="12700">
            <a:solidFill>
              <a:srgbClr val="32323E"/>
            </a:solidFill>
            <a:prstDash val="solid"/>
          </a:ln>
        </p:spPr>
      </p:sp>
      <p:sp>
        <p:nvSpPr>
          <p:cNvPr id="5" name="Text 3"/>
          <p:cNvSpPr txBox="1"/>
          <p:nvPr/>
        </p:nvSpPr>
        <p:spPr>
          <a:xfrm>
            <a:off x="713232"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01</a:t>
            </a:r>
            <a:endParaRPr lang="en-US" sz="1200" dirty="0"/>
          </a:p>
        </p:txBody>
      </p:sp>
      <p:sp>
        <p:nvSpPr>
          <p:cNvPr id="6" name="Text 4"/>
          <p:cNvSpPr txBox="1"/>
          <p:nvPr/>
        </p:nvSpPr>
        <p:spPr>
          <a:xfrm>
            <a:off x="713232"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Active well</a:t>
            </a:r>
            <a:endParaRPr lang="en-US" sz="1400" dirty="0"/>
          </a:p>
        </p:txBody>
      </p:sp>
      <p:sp>
        <p:nvSpPr>
          <p:cNvPr id="7" name="Shape 5"/>
          <p:cNvSpPr/>
          <p:nvPr/>
        </p:nvSpPr>
        <p:spPr>
          <a:xfrm>
            <a:off x="2798064" y="1874520"/>
            <a:ext cx="2011680" cy="914400"/>
          </a:xfrm>
          <a:prstGeom prst="roundRect">
            <a:avLst>
              <a:gd name="adj" fmla="val 3000"/>
            </a:avLst>
          </a:prstGeom>
          <a:solidFill>
            <a:srgbClr val="121219"/>
          </a:solidFill>
          <a:ln w="12700">
            <a:solidFill>
              <a:srgbClr val="32323E"/>
            </a:solidFill>
            <a:prstDash val="solid"/>
          </a:ln>
        </p:spPr>
      </p:sp>
      <p:sp>
        <p:nvSpPr>
          <p:cNvPr id="8" name="Text 6"/>
          <p:cNvSpPr txBox="1"/>
          <p:nvPr/>
        </p:nvSpPr>
        <p:spPr>
          <a:xfrm>
            <a:off x="2962656"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02</a:t>
            </a:r>
            <a:endParaRPr lang="en-US" sz="1200" dirty="0"/>
          </a:p>
        </p:txBody>
      </p:sp>
      <p:sp>
        <p:nvSpPr>
          <p:cNvPr id="9" name="Text 7"/>
          <p:cNvSpPr txBox="1"/>
          <p:nvPr/>
        </p:nvSpPr>
        <p:spPr>
          <a:xfrm>
            <a:off x="2962656"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Current depth</a:t>
            </a:r>
            <a:endParaRPr lang="en-US" sz="1400" dirty="0"/>
          </a:p>
        </p:txBody>
      </p:sp>
      <p:sp>
        <p:nvSpPr>
          <p:cNvPr id="10" name="Shape 8"/>
          <p:cNvSpPr/>
          <p:nvPr/>
        </p:nvSpPr>
        <p:spPr>
          <a:xfrm>
            <a:off x="5047488" y="1874520"/>
            <a:ext cx="2011680" cy="914400"/>
          </a:xfrm>
          <a:prstGeom prst="roundRect">
            <a:avLst>
              <a:gd name="adj" fmla="val 3000"/>
            </a:avLst>
          </a:prstGeom>
          <a:solidFill>
            <a:srgbClr val="121219"/>
          </a:solidFill>
          <a:ln w="12700">
            <a:solidFill>
              <a:srgbClr val="32323E"/>
            </a:solidFill>
            <a:prstDash val="solid"/>
          </a:ln>
        </p:spPr>
      </p:sp>
      <p:sp>
        <p:nvSpPr>
          <p:cNvPr id="11" name="Text 9"/>
          <p:cNvSpPr txBox="1"/>
          <p:nvPr/>
        </p:nvSpPr>
        <p:spPr>
          <a:xfrm>
            <a:off x="5212080"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03</a:t>
            </a:r>
            <a:endParaRPr lang="en-US" sz="1200" dirty="0"/>
          </a:p>
        </p:txBody>
      </p:sp>
      <p:sp>
        <p:nvSpPr>
          <p:cNvPr id="12" name="Text 10"/>
          <p:cNvSpPr txBox="1"/>
          <p:nvPr/>
        </p:nvSpPr>
        <p:spPr>
          <a:xfrm>
            <a:off x="5212080"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Nearby wells</a:t>
            </a:r>
            <a:endParaRPr lang="en-US" sz="1400" dirty="0"/>
          </a:p>
        </p:txBody>
      </p:sp>
      <p:sp>
        <p:nvSpPr>
          <p:cNvPr id="13" name="Shape 11"/>
          <p:cNvSpPr/>
          <p:nvPr/>
        </p:nvSpPr>
        <p:spPr>
          <a:xfrm>
            <a:off x="7296912" y="1874520"/>
            <a:ext cx="2011680" cy="914400"/>
          </a:xfrm>
          <a:prstGeom prst="roundRect">
            <a:avLst>
              <a:gd name="adj" fmla="val 3000"/>
            </a:avLst>
          </a:prstGeom>
          <a:solidFill>
            <a:srgbClr val="121219"/>
          </a:solidFill>
          <a:ln w="12700">
            <a:solidFill>
              <a:srgbClr val="32323E"/>
            </a:solidFill>
            <a:prstDash val="solid"/>
          </a:ln>
        </p:spPr>
      </p:sp>
      <p:sp>
        <p:nvSpPr>
          <p:cNvPr id="14" name="Text 12"/>
          <p:cNvSpPr txBox="1"/>
          <p:nvPr/>
        </p:nvSpPr>
        <p:spPr>
          <a:xfrm>
            <a:off x="7461504"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04</a:t>
            </a:r>
            <a:endParaRPr lang="en-US" sz="1200" dirty="0"/>
          </a:p>
        </p:txBody>
      </p:sp>
      <p:sp>
        <p:nvSpPr>
          <p:cNvPr id="15" name="Text 13"/>
          <p:cNvSpPr txBox="1"/>
          <p:nvPr/>
        </p:nvSpPr>
        <p:spPr>
          <a:xfrm>
            <a:off x="7461504"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Historical events</a:t>
            </a:r>
            <a:endParaRPr lang="en-US" sz="1400" dirty="0"/>
          </a:p>
        </p:txBody>
      </p:sp>
      <p:sp>
        <p:nvSpPr>
          <p:cNvPr id="16" name="Shape 14"/>
          <p:cNvSpPr/>
          <p:nvPr/>
        </p:nvSpPr>
        <p:spPr>
          <a:xfrm>
            <a:off x="9546336" y="1874520"/>
            <a:ext cx="2011680" cy="914400"/>
          </a:xfrm>
          <a:prstGeom prst="roundRect">
            <a:avLst>
              <a:gd name="adj" fmla="val 3000"/>
            </a:avLst>
          </a:prstGeom>
          <a:solidFill>
            <a:srgbClr val="121219"/>
          </a:solidFill>
          <a:ln w="12700">
            <a:solidFill>
              <a:srgbClr val="32323E"/>
            </a:solidFill>
            <a:prstDash val="solid"/>
          </a:ln>
        </p:spPr>
      </p:sp>
      <p:sp>
        <p:nvSpPr>
          <p:cNvPr id="17" name="Text 15"/>
          <p:cNvSpPr txBox="1"/>
          <p:nvPr/>
        </p:nvSpPr>
        <p:spPr>
          <a:xfrm>
            <a:off x="9710928"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05</a:t>
            </a:r>
            <a:endParaRPr lang="en-US" sz="1200" dirty="0"/>
          </a:p>
        </p:txBody>
      </p:sp>
      <p:sp>
        <p:nvSpPr>
          <p:cNvPr id="18" name="Text 16"/>
          <p:cNvSpPr txBox="1"/>
          <p:nvPr/>
        </p:nvSpPr>
        <p:spPr>
          <a:xfrm>
            <a:off x="9710928"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Depth / formation correlation</a:t>
            </a:r>
            <a:endParaRPr lang="en-US" sz="1400" dirty="0"/>
          </a:p>
        </p:txBody>
      </p:sp>
      <p:sp>
        <p:nvSpPr>
          <p:cNvPr id="19" name="Shape 17"/>
          <p:cNvSpPr/>
          <p:nvPr/>
        </p:nvSpPr>
        <p:spPr>
          <a:xfrm>
            <a:off x="1673352" y="3108960"/>
            <a:ext cx="2011680" cy="914400"/>
          </a:xfrm>
          <a:prstGeom prst="roundRect">
            <a:avLst>
              <a:gd name="adj" fmla="val 3000"/>
            </a:avLst>
          </a:prstGeom>
          <a:solidFill>
            <a:srgbClr val="121219"/>
          </a:solidFill>
          <a:ln w="12700">
            <a:solidFill>
              <a:srgbClr val="32323E"/>
            </a:solidFill>
            <a:prstDash val="solid"/>
          </a:ln>
        </p:spPr>
      </p:sp>
      <p:sp>
        <p:nvSpPr>
          <p:cNvPr id="20" name="Text 18"/>
          <p:cNvSpPr txBox="1"/>
          <p:nvPr/>
        </p:nvSpPr>
        <p:spPr>
          <a:xfrm>
            <a:off x="1837944" y="323697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06</a:t>
            </a:r>
            <a:endParaRPr lang="en-US" sz="1200" dirty="0"/>
          </a:p>
        </p:txBody>
      </p:sp>
      <p:sp>
        <p:nvSpPr>
          <p:cNvPr id="21" name="Text 19"/>
          <p:cNvSpPr txBox="1"/>
          <p:nvPr/>
        </p:nvSpPr>
        <p:spPr>
          <a:xfrm>
            <a:off x="1837944"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Evidence</a:t>
            </a:r>
            <a:endParaRPr lang="en-US" sz="1400" dirty="0"/>
          </a:p>
        </p:txBody>
      </p:sp>
      <p:sp>
        <p:nvSpPr>
          <p:cNvPr id="22" name="Shape 20"/>
          <p:cNvSpPr/>
          <p:nvPr/>
        </p:nvSpPr>
        <p:spPr>
          <a:xfrm>
            <a:off x="3922776" y="3108960"/>
            <a:ext cx="2011680" cy="914400"/>
          </a:xfrm>
          <a:prstGeom prst="roundRect">
            <a:avLst>
              <a:gd name="adj" fmla="val 3000"/>
            </a:avLst>
          </a:prstGeom>
          <a:solidFill>
            <a:srgbClr val="1F1F29"/>
          </a:solidFill>
          <a:ln w="12700">
            <a:solidFill>
              <a:srgbClr val="32323E"/>
            </a:solidFill>
            <a:prstDash val="solid"/>
          </a:ln>
        </p:spPr>
      </p:sp>
      <p:sp>
        <p:nvSpPr>
          <p:cNvPr id="23" name="Text 21"/>
          <p:cNvSpPr txBox="1"/>
          <p:nvPr/>
        </p:nvSpPr>
        <p:spPr>
          <a:xfrm>
            <a:off x="4087368" y="3236976"/>
            <a:ext cx="548640" cy="274320"/>
          </a:xfrm>
          <a:prstGeom prst="rect">
            <a:avLst/>
          </a:prstGeom>
          <a:noFill/>
          <a:ln/>
        </p:spPr>
        <p:txBody>
          <a:bodyPr wrap="square" lIns="0" tIns="0" rIns="0" bIns="0" rtlCol="0" anchor="t"/>
          <a:lstStyle/>
          <a:p>
            <a:pPr indent="0" marL="0">
              <a:buNone/>
            </a:pPr>
            <a:r>
              <a:rPr lang="en-US" sz="1200" b="1" dirty="0">
                <a:solidFill>
                  <a:srgbClr val="F2A60C"/>
                </a:solidFill>
                <a:latin typeface="Consolas" pitchFamily="34" charset="0"/>
                <a:ea typeface="Consolas" pitchFamily="34" charset="-122"/>
                <a:cs typeface="Consolas" pitchFamily="34" charset="-120"/>
              </a:rPr>
              <a:t>07</a:t>
            </a:r>
            <a:endParaRPr lang="en-US" sz="1200" dirty="0"/>
          </a:p>
        </p:txBody>
      </p:sp>
      <p:sp>
        <p:nvSpPr>
          <p:cNvPr id="24" name="Text 22"/>
          <p:cNvSpPr txBox="1"/>
          <p:nvPr/>
        </p:nvSpPr>
        <p:spPr>
          <a:xfrm>
            <a:off x="4087368"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Risk signal</a:t>
            </a:r>
            <a:endParaRPr lang="en-US" sz="1400" dirty="0"/>
          </a:p>
        </p:txBody>
      </p:sp>
      <p:sp>
        <p:nvSpPr>
          <p:cNvPr id="25" name="Shape 23"/>
          <p:cNvSpPr/>
          <p:nvPr/>
        </p:nvSpPr>
        <p:spPr>
          <a:xfrm>
            <a:off x="6172200" y="3108960"/>
            <a:ext cx="2011680" cy="914400"/>
          </a:xfrm>
          <a:prstGeom prst="roundRect">
            <a:avLst>
              <a:gd name="adj" fmla="val 3000"/>
            </a:avLst>
          </a:prstGeom>
          <a:solidFill>
            <a:srgbClr val="1F1F29"/>
          </a:solidFill>
          <a:ln w="12700">
            <a:solidFill>
              <a:srgbClr val="32323E"/>
            </a:solidFill>
            <a:prstDash val="solid"/>
          </a:ln>
        </p:spPr>
      </p:sp>
      <p:sp>
        <p:nvSpPr>
          <p:cNvPr id="26" name="Text 24"/>
          <p:cNvSpPr txBox="1"/>
          <p:nvPr/>
        </p:nvSpPr>
        <p:spPr>
          <a:xfrm>
            <a:off x="6336792" y="3236976"/>
            <a:ext cx="548640" cy="274320"/>
          </a:xfrm>
          <a:prstGeom prst="rect">
            <a:avLst/>
          </a:prstGeom>
          <a:noFill/>
          <a:ln/>
        </p:spPr>
        <p:txBody>
          <a:bodyPr wrap="square" lIns="0" tIns="0" rIns="0" bIns="0" rtlCol="0" anchor="t"/>
          <a:lstStyle/>
          <a:p>
            <a:pPr indent="0" marL="0">
              <a:buNone/>
            </a:pPr>
            <a:r>
              <a:rPr lang="en-US" sz="1200" b="1" dirty="0">
                <a:solidFill>
                  <a:srgbClr val="F2A60C"/>
                </a:solidFill>
                <a:latin typeface="Consolas" pitchFamily="34" charset="0"/>
                <a:ea typeface="Consolas" pitchFamily="34" charset="-122"/>
                <a:cs typeface="Consolas" pitchFamily="34" charset="-120"/>
              </a:rPr>
              <a:t>08</a:t>
            </a:r>
            <a:endParaRPr lang="en-US" sz="1200" dirty="0"/>
          </a:p>
        </p:txBody>
      </p:sp>
      <p:sp>
        <p:nvSpPr>
          <p:cNvPr id="27" name="Text 25"/>
          <p:cNvSpPr txBox="1"/>
          <p:nvPr/>
        </p:nvSpPr>
        <p:spPr>
          <a:xfrm>
            <a:off x="6336792"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Proactive alert</a:t>
            </a:r>
            <a:endParaRPr lang="en-US" sz="1400" dirty="0"/>
          </a:p>
        </p:txBody>
      </p:sp>
      <p:sp>
        <p:nvSpPr>
          <p:cNvPr id="28" name="Shape 26"/>
          <p:cNvSpPr/>
          <p:nvPr/>
        </p:nvSpPr>
        <p:spPr>
          <a:xfrm>
            <a:off x="8421624" y="3108960"/>
            <a:ext cx="2011680" cy="914400"/>
          </a:xfrm>
          <a:prstGeom prst="roundRect">
            <a:avLst>
              <a:gd name="adj" fmla="val 3000"/>
            </a:avLst>
          </a:prstGeom>
          <a:solidFill>
            <a:srgbClr val="1F1F29"/>
          </a:solidFill>
          <a:ln w="12700">
            <a:solidFill>
              <a:srgbClr val="32323E"/>
            </a:solidFill>
            <a:prstDash val="solid"/>
          </a:ln>
        </p:spPr>
      </p:sp>
      <p:sp>
        <p:nvSpPr>
          <p:cNvPr id="29" name="Text 27"/>
          <p:cNvSpPr txBox="1"/>
          <p:nvPr/>
        </p:nvSpPr>
        <p:spPr>
          <a:xfrm>
            <a:off x="8586216" y="3236976"/>
            <a:ext cx="548640" cy="274320"/>
          </a:xfrm>
          <a:prstGeom prst="rect">
            <a:avLst/>
          </a:prstGeom>
          <a:noFill/>
          <a:ln/>
        </p:spPr>
        <p:txBody>
          <a:bodyPr wrap="square" lIns="0" tIns="0" rIns="0" bIns="0" rtlCol="0" anchor="t"/>
          <a:lstStyle/>
          <a:p>
            <a:pPr indent="0" marL="0">
              <a:buNone/>
            </a:pPr>
            <a:r>
              <a:rPr lang="en-US" sz="1200" b="1" dirty="0">
                <a:solidFill>
                  <a:srgbClr val="F2A60C"/>
                </a:solidFill>
                <a:latin typeface="Consolas" pitchFamily="34" charset="0"/>
                <a:ea typeface="Consolas" pitchFamily="34" charset="-122"/>
                <a:cs typeface="Consolas" pitchFamily="34" charset="-120"/>
              </a:rPr>
              <a:t>09</a:t>
            </a:r>
            <a:endParaRPr lang="en-US" sz="1200" dirty="0"/>
          </a:p>
        </p:txBody>
      </p:sp>
      <p:sp>
        <p:nvSpPr>
          <p:cNvPr id="30" name="Text 28"/>
          <p:cNvSpPr txBox="1"/>
          <p:nvPr/>
        </p:nvSpPr>
        <p:spPr>
          <a:xfrm>
            <a:off x="8586216"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Recommended checks</a:t>
            </a:r>
            <a:endParaRPr lang="en-US" sz="1400" dirty="0"/>
          </a:p>
        </p:txBody>
      </p:sp>
      <p:sp>
        <p:nvSpPr>
          <p:cNvPr id="31" name="Shape 29"/>
          <p:cNvSpPr/>
          <p:nvPr/>
        </p:nvSpPr>
        <p:spPr>
          <a:xfrm>
            <a:off x="548640" y="4617720"/>
            <a:ext cx="502920" cy="502920"/>
          </a:xfrm>
          <a:prstGeom prst="ellipse">
            <a:avLst/>
          </a:prstGeom>
          <a:solidFill>
            <a:srgbClr val="1F1F29"/>
          </a:solidFill>
          <a:ln w="15875">
            <a:solidFill>
              <a:srgbClr val="32323E"/>
            </a:solidFill>
            <a:prstDash val="solid"/>
          </a:ln>
        </p:spPr>
      </p:sp>
      <p:pic>
        <p:nvPicPr>
          <p:cNvPr id="32" name="Image 0" descr="preencoded.png">    </p:cNvPr>
          <p:cNvPicPr>
            <a:picLocks noChangeAspect="1"/>
          </p:cNvPicPr>
          <p:nvPr/>
        </p:nvPicPr>
        <p:blipFill>
          <a:blip r:embed="rId1"/>
          <a:stretch>
            <a:fillRect/>
          </a:stretch>
        </p:blipFill>
        <p:spPr>
          <a:xfrm>
            <a:off x="659282" y="4728362"/>
            <a:ext cx="281635" cy="281635"/>
          </a:xfrm>
          <a:prstGeom prst="rect">
            <a:avLst/>
          </a:prstGeom>
        </p:spPr>
      </p:pic>
      <p:sp>
        <p:nvSpPr>
          <p:cNvPr id="33" name="Text 30"/>
          <p:cNvSpPr txBox="1"/>
          <p:nvPr/>
        </p:nvSpPr>
        <p:spPr>
          <a:xfrm>
            <a:off x="1188720"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GIS map</a:t>
            </a:r>
            <a:endParaRPr lang="en-US" sz="1500" dirty="0"/>
          </a:p>
        </p:txBody>
      </p:sp>
      <p:sp>
        <p:nvSpPr>
          <p:cNvPr id="34" name="Text 31"/>
          <p:cNvSpPr txBox="1"/>
          <p:nvPr/>
        </p:nvSpPr>
        <p:spPr>
          <a:xfrm>
            <a:off x="1188720"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Offsets in a user radius, well paths, bit position</a:t>
            </a:r>
            <a:endParaRPr lang="en-US" sz="1200" dirty="0"/>
          </a:p>
        </p:txBody>
      </p:sp>
      <p:sp>
        <p:nvSpPr>
          <p:cNvPr id="35" name="Shape 32"/>
          <p:cNvSpPr/>
          <p:nvPr/>
        </p:nvSpPr>
        <p:spPr>
          <a:xfrm>
            <a:off x="3364992" y="4617720"/>
            <a:ext cx="502920" cy="502920"/>
          </a:xfrm>
          <a:prstGeom prst="ellipse">
            <a:avLst/>
          </a:prstGeom>
          <a:solidFill>
            <a:srgbClr val="1F1F29"/>
          </a:solidFill>
          <a:ln w="15875">
            <a:solidFill>
              <a:srgbClr val="32323E"/>
            </a:solidFill>
            <a:prstDash val="solid"/>
          </a:ln>
        </p:spPr>
      </p:sp>
      <p:pic>
        <p:nvPicPr>
          <p:cNvPr id="36" name="Image 1" descr="preencoded.png">    </p:cNvPr>
          <p:cNvPicPr>
            <a:picLocks noChangeAspect="1"/>
          </p:cNvPicPr>
          <p:nvPr/>
        </p:nvPicPr>
        <p:blipFill>
          <a:blip r:embed="rId2"/>
          <a:stretch>
            <a:fillRect/>
          </a:stretch>
        </p:blipFill>
        <p:spPr>
          <a:xfrm>
            <a:off x="3475634" y="4728362"/>
            <a:ext cx="281635" cy="281635"/>
          </a:xfrm>
          <a:prstGeom prst="rect">
            <a:avLst/>
          </a:prstGeom>
        </p:spPr>
      </p:pic>
      <p:sp>
        <p:nvSpPr>
          <p:cNvPr id="37" name="Text 33"/>
          <p:cNvSpPr txBox="1"/>
          <p:nvPr/>
        </p:nvSpPr>
        <p:spPr>
          <a:xfrm>
            <a:off x="4005072"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Correlation</a:t>
            </a:r>
            <a:endParaRPr lang="en-US" sz="1500" dirty="0"/>
          </a:p>
        </p:txBody>
      </p:sp>
      <p:sp>
        <p:nvSpPr>
          <p:cNvPr id="38" name="Text 34"/>
          <p:cNvSpPr txBox="1"/>
          <p:nvPr/>
        </p:nvSpPr>
        <p:spPr>
          <a:xfrm>
            <a:off x="4005072"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Formation tops &amp; parameters on one depth axis</a:t>
            </a:r>
            <a:endParaRPr lang="en-US" sz="1200" dirty="0"/>
          </a:p>
        </p:txBody>
      </p:sp>
      <p:sp>
        <p:nvSpPr>
          <p:cNvPr id="39" name="Shape 35"/>
          <p:cNvSpPr/>
          <p:nvPr/>
        </p:nvSpPr>
        <p:spPr>
          <a:xfrm>
            <a:off x="6181344" y="4617720"/>
            <a:ext cx="502920" cy="502920"/>
          </a:xfrm>
          <a:prstGeom prst="ellipse">
            <a:avLst/>
          </a:prstGeom>
          <a:solidFill>
            <a:srgbClr val="1F1F29"/>
          </a:solidFill>
          <a:ln w="15875">
            <a:solidFill>
              <a:srgbClr val="32323E"/>
            </a:solidFill>
            <a:prstDash val="solid"/>
          </a:ln>
        </p:spPr>
      </p:sp>
      <p:pic>
        <p:nvPicPr>
          <p:cNvPr id="40" name="Image 2" descr="preencoded.png">    </p:cNvPr>
          <p:cNvPicPr>
            <a:picLocks noChangeAspect="1"/>
          </p:cNvPicPr>
          <p:nvPr/>
        </p:nvPicPr>
        <p:blipFill>
          <a:blip r:embed="rId3"/>
          <a:stretch>
            <a:fillRect/>
          </a:stretch>
        </p:blipFill>
        <p:spPr>
          <a:xfrm>
            <a:off x="6291986" y="4728362"/>
            <a:ext cx="281635" cy="281635"/>
          </a:xfrm>
          <a:prstGeom prst="rect">
            <a:avLst/>
          </a:prstGeom>
        </p:spPr>
      </p:pic>
      <p:sp>
        <p:nvSpPr>
          <p:cNvPr id="41" name="Text 36"/>
          <p:cNvSpPr txBox="1"/>
          <p:nvPr/>
        </p:nvSpPr>
        <p:spPr>
          <a:xfrm>
            <a:off x="6821424"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Evidence search</a:t>
            </a:r>
            <a:endParaRPr lang="en-US" sz="1500" dirty="0"/>
          </a:p>
        </p:txBody>
      </p:sp>
      <p:sp>
        <p:nvSpPr>
          <p:cNvPr id="42" name="Text 37"/>
          <p:cNvSpPr txBox="1"/>
          <p:nvPr/>
        </p:nvSpPr>
        <p:spPr>
          <a:xfrm>
            <a:off x="6821424"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Cited answers from reports &amp; events</a:t>
            </a:r>
            <a:endParaRPr lang="en-US" sz="1200" dirty="0"/>
          </a:p>
        </p:txBody>
      </p:sp>
      <p:sp>
        <p:nvSpPr>
          <p:cNvPr id="43" name="Shape 38"/>
          <p:cNvSpPr/>
          <p:nvPr/>
        </p:nvSpPr>
        <p:spPr>
          <a:xfrm>
            <a:off x="8997696" y="4617720"/>
            <a:ext cx="502920" cy="502920"/>
          </a:xfrm>
          <a:prstGeom prst="ellipse">
            <a:avLst/>
          </a:prstGeom>
          <a:solidFill>
            <a:srgbClr val="1F1F29"/>
          </a:solidFill>
          <a:ln w="15875">
            <a:solidFill>
              <a:srgbClr val="32323E"/>
            </a:solidFill>
            <a:prstDash val="solid"/>
          </a:ln>
        </p:spPr>
      </p:sp>
      <p:pic>
        <p:nvPicPr>
          <p:cNvPr id="44" name="Image 3" descr="preencoded.png">    </p:cNvPr>
          <p:cNvPicPr>
            <a:picLocks noChangeAspect="1"/>
          </p:cNvPicPr>
          <p:nvPr/>
        </p:nvPicPr>
        <p:blipFill>
          <a:blip r:embed="rId4"/>
          <a:stretch>
            <a:fillRect/>
          </a:stretch>
        </p:blipFill>
        <p:spPr>
          <a:xfrm>
            <a:off x="9108338" y="4728362"/>
            <a:ext cx="281635" cy="281635"/>
          </a:xfrm>
          <a:prstGeom prst="rect">
            <a:avLst/>
          </a:prstGeom>
        </p:spPr>
      </p:pic>
      <p:sp>
        <p:nvSpPr>
          <p:cNvPr id="45" name="Text 39"/>
          <p:cNvSpPr txBox="1"/>
          <p:nvPr/>
        </p:nvSpPr>
        <p:spPr>
          <a:xfrm>
            <a:off x="9637776"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Explainable alerts</a:t>
            </a:r>
            <a:endParaRPr lang="en-US" sz="1500" dirty="0"/>
          </a:p>
        </p:txBody>
      </p:sp>
      <p:sp>
        <p:nvSpPr>
          <p:cNvPr id="46" name="Text 40"/>
          <p:cNvSpPr txBox="1"/>
          <p:nvPr/>
        </p:nvSpPr>
        <p:spPr>
          <a:xfrm>
            <a:off x="9637776"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Why? — factors, wells, pages, checks</a:t>
            </a:r>
            <a:endParaRPr lang="en-US" sz="1200" dirty="0"/>
          </a:p>
        </p:txBody>
      </p:sp>
      <p:sp>
        <p:nvSpPr>
          <p:cNvPr id="47" name="Text 41"/>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dirty="0">
                <a:solidFill>
                  <a:srgbClr val="8C8FA1"/>
                </a:solidFill>
                <a:latin typeface="Calibri" pitchFamily="34" charset="0"/>
                <a:ea typeface="Calibri" pitchFamily="34" charset="-122"/>
                <a:cs typeface="Calibri" pitchFamily="34" charset="-120"/>
              </a:rPr>
              <a:t>A standalone intelligence layer beside eRTMAC — it informs the engineer; it does not control the rig.</a:t>
            </a:r>
            <a:endParaRPr lang="en-US" sz="1300" dirty="0"/>
          </a:p>
        </p:txBody>
      </p:sp>
      <p:sp>
        <p:nvSpPr>
          <p:cNvPr id="48" name="Text 4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49" name="Text 4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LIVE DEMO</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Drill 3,100 → 3,600 m and watch history speak up</a:t>
            </a:r>
            <a:endParaRPr lang="en-US" sz="3200" dirty="0"/>
          </a:p>
        </p:txBody>
      </p:sp>
      <p:sp>
        <p:nvSpPr>
          <p:cNvPr id="4" name="Shape 2"/>
          <p:cNvSpPr/>
          <p:nvPr/>
        </p:nvSpPr>
        <p:spPr>
          <a:xfrm>
            <a:off x="548640" y="1545336"/>
            <a:ext cx="7516368" cy="4275963"/>
          </a:xfrm>
          <a:prstGeom prst="roundRect">
            <a:avLst>
              <a:gd name="adj" fmla="val 642"/>
            </a:avLst>
          </a:prstGeom>
          <a:solidFill>
            <a:srgbClr val="121219"/>
          </a:solidFill>
          <a:ln w="12700">
            <a:solidFill>
              <a:srgbClr val="32323E"/>
            </a:solidFill>
            <a:prstDash val="solid"/>
          </a:ln>
        </p:spPr>
      </p:sp>
      <p:pic>
        <p:nvPicPr>
          <p:cNvPr id="5" name="Image 0" descr="C:\Users\aryab\OneDrive\Desktop\sihps2\docs\screenshots\02-mud-loss-alert.png">    </p:cNvPr>
          <p:cNvPicPr>
            <a:picLocks noChangeAspect="1"/>
          </p:cNvPicPr>
          <p:nvPr/>
        </p:nvPicPr>
        <p:blipFill>
          <a:blip r:embed="rId1"/>
          <a:stretch>
            <a:fillRect/>
          </a:stretch>
        </p:blipFill>
        <p:spPr>
          <a:xfrm>
            <a:off x="603504" y="1600200"/>
            <a:ext cx="7406640" cy="4166235"/>
          </a:xfrm>
          <a:prstGeom prst="rect">
            <a:avLst/>
          </a:prstGeom>
        </p:spPr>
      </p:pic>
      <p:sp>
        <p:nvSpPr>
          <p:cNvPr id="6" name="Shape 3"/>
          <p:cNvSpPr/>
          <p:nvPr/>
        </p:nvSpPr>
        <p:spPr>
          <a:xfrm>
            <a:off x="8321040" y="1572768"/>
            <a:ext cx="3291840" cy="1207008"/>
          </a:xfrm>
          <a:prstGeom prst="roundRect">
            <a:avLst>
              <a:gd name="adj" fmla="val 2273"/>
            </a:avLst>
          </a:prstGeom>
          <a:solidFill>
            <a:srgbClr val="121219"/>
          </a:solidFill>
          <a:ln w="12700">
            <a:solidFill>
              <a:srgbClr val="32323E"/>
            </a:solidFill>
            <a:prstDash val="solid"/>
          </a:ln>
        </p:spPr>
      </p:sp>
      <p:sp>
        <p:nvSpPr>
          <p:cNvPr id="7" name="Text 4"/>
          <p:cNvSpPr txBox="1"/>
          <p:nvPr/>
        </p:nvSpPr>
        <p:spPr>
          <a:xfrm>
            <a:off x="8549640" y="1700784"/>
            <a:ext cx="1463040" cy="320040"/>
          </a:xfrm>
          <a:prstGeom prst="rect">
            <a:avLst/>
          </a:prstGeom>
          <a:noFill/>
          <a:ln/>
        </p:spPr>
        <p:txBody>
          <a:bodyPr wrap="square" lIns="0" tIns="0" rIns="0" bIns="0" rtlCol="0" anchor="t"/>
          <a:lstStyle/>
          <a:p>
            <a:pPr indent="0" marL="0">
              <a:buNone/>
            </a:pPr>
            <a:r>
              <a:rPr lang="en-US" sz="1800" b="1" dirty="0">
                <a:solidFill>
                  <a:srgbClr val="F76B15"/>
                </a:solidFill>
                <a:latin typeface="Consolas" pitchFamily="34" charset="0"/>
                <a:ea typeface="Consolas" pitchFamily="34" charset="-122"/>
                <a:cs typeface="Consolas" pitchFamily="34" charset="-120"/>
              </a:rPr>
              <a:t>3,150 m</a:t>
            </a:r>
            <a:endParaRPr lang="en-US" sz="1800" dirty="0"/>
          </a:p>
        </p:txBody>
      </p:sp>
      <p:sp>
        <p:nvSpPr>
          <p:cNvPr id="8" name="Text 5"/>
          <p:cNvSpPr txBox="1"/>
          <p:nvPr/>
        </p:nvSpPr>
        <p:spPr>
          <a:xfrm>
            <a:off x="8549640" y="2029968"/>
            <a:ext cx="2926080" cy="274320"/>
          </a:xfrm>
          <a:prstGeom prst="rect">
            <a:avLst/>
          </a:prstGeom>
          <a:noFill/>
          <a:ln/>
        </p:spPr>
        <p:txBody>
          <a:bodyPr wrap="square" lIns="0" tIns="0" rIns="0" bIns="0" rtlCol="0" anchor="t"/>
          <a:lstStyle/>
          <a:p>
            <a:pPr indent="0" marL="0">
              <a:buNone/>
            </a:pPr>
            <a:r>
              <a:rPr lang="en-US" sz="1300" b="1" dirty="0">
                <a:solidFill>
                  <a:srgbClr val="F5F5F8"/>
                </a:solidFill>
                <a:latin typeface="Calibri" pitchFamily="34" charset="0"/>
                <a:ea typeface="Calibri" pitchFamily="34" charset="-122"/>
                <a:cs typeface="Calibri" pitchFamily="34" charset="-120"/>
              </a:rPr>
              <a:t>Mud loss — HIGH → critical</a:t>
            </a:r>
            <a:endParaRPr lang="en-US" sz="1300" dirty="0"/>
          </a:p>
        </p:txBody>
      </p:sp>
      <p:sp>
        <p:nvSpPr>
          <p:cNvPr id="9" name="Text 6"/>
          <p:cNvSpPr txBox="1"/>
          <p:nvPr/>
        </p:nvSpPr>
        <p:spPr>
          <a:xfrm>
            <a:off x="8549640" y="2304288"/>
            <a:ext cx="2926080" cy="41148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OIL-AX-99 &amp; 55 lost returns here; ECD rising above programme</a:t>
            </a:r>
            <a:endParaRPr lang="en-US" sz="1050" dirty="0"/>
          </a:p>
        </p:txBody>
      </p:sp>
      <p:sp>
        <p:nvSpPr>
          <p:cNvPr id="10" name="Shape 7"/>
          <p:cNvSpPr/>
          <p:nvPr/>
        </p:nvSpPr>
        <p:spPr>
          <a:xfrm>
            <a:off x="8321040" y="2944368"/>
            <a:ext cx="3291840" cy="1207008"/>
          </a:xfrm>
          <a:prstGeom prst="roundRect">
            <a:avLst>
              <a:gd name="adj" fmla="val 2273"/>
            </a:avLst>
          </a:prstGeom>
          <a:solidFill>
            <a:srgbClr val="121219"/>
          </a:solidFill>
          <a:ln w="12700">
            <a:solidFill>
              <a:srgbClr val="32323E"/>
            </a:solidFill>
            <a:prstDash val="solid"/>
          </a:ln>
        </p:spPr>
      </p:sp>
      <p:sp>
        <p:nvSpPr>
          <p:cNvPr id="11" name="Text 8"/>
          <p:cNvSpPr txBox="1"/>
          <p:nvPr/>
        </p:nvSpPr>
        <p:spPr>
          <a:xfrm>
            <a:off x="8549640" y="3072384"/>
            <a:ext cx="1463040" cy="320040"/>
          </a:xfrm>
          <a:prstGeom prst="rect">
            <a:avLst/>
          </a:prstGeom>
          <a:noFill/>
          <a:ln/>
        </p:spPr>
        <p:txBody>
          <a:bodyPr wrap="square" lIns="0" tIns="0" rIns="0" bIns="0" rtlCol="0" anchor="t"/>
          <a:lstStyle/>
          <a:p>
            <a:pPr indent="0" marL="0">
              <a:buNone/>
            </a:pPr>
            <a:r>
              <a:rPr lang="en-US" sz="1800" b="1" dirty="0">
                <a:solidFill>
                  <a:srgbClr val="F76B15"/>
                </a:solidFill>
                <a:latin typeface="Consolas" pitchFamily="34" charset="0"/>
                <a:ea typeface="Consolas" pitchFamily="34" charset="-122"/>
                <a:cs typeface="Consolas" pitchFamily="34" charset="-120"/>
              </a:rPr>
              <a:t>3,380 m</a:t>
            </a:r>
            <a:endParaRPr lang="en-US" sz="1800" dirty="0"/>
          </a:p>
        </p:txBody>
      </p:sp>
      <p:sp>
        <p:nvSpPr>
          <p:cNvPr id="12" name="Text 9"/>
          <p:cNvSpPr txBox="1"/>
          <p:nvPr/>
        </p:nvSpPr>
        <p:spPr>
          <a:xfrm>
            <a:off x="8549640" y="3401568"/>
            <a:ext cx="2926080" cy="274320"/>
          </a:xfrm>
          <a:prstGeom prst="rect">
            <a:avLst/>
          </a:prstGeom>
          <a:noFill/>
          <a:ln/>
        </p:spPr>
        <p:txBody>
          <a:bodyPr wrap="square" lIns="0" tIns="0" rIns="0" bIns="0" rtlCol="0" anchor="t"/>
          <a:lstStyle/>
          <a:p>
            <a:pPr indent="0" marL="0">
              <a:buNone/>
            </a:pPr>
            <a:r>
              <a:rPr lang="en-US" sz="1300" b="1" dirty="0">
                <a:solidFill>
                  <a:srgbClr val="F5F5F8"/>
                </a:solidFill>
                <a:latin typeface="Calibri" pitchFamily="34" charset="0"/>
                <a:ea typeface="Calibri" pitchFamily="34" charset="-122"/>
                <a:cs typeface="Calibri" pitchFamily="34" charset="-120"/>
              </a:rPr>
              <a:t>Stuck pipe — HIGH → critical</a:t>
            </a:r>
            <a:endParaRPr lang="en-US" sz="1300" dirty="0"/>
          </a:p>
        </p:txBody>
      </p:sp>
      <p:sp>
        <p:nvSpPr>
          <p:cNvPr id="13" name="Text 10"/>
          <p:cNvSpPr txBox="1"/>
          <p:nvPr/>
        </p:nvSpPr>
        <p:spPr>
          <a:xfrm>
            <a:off x="8549640" y="3675888"/>
            <a:ext cx="2926080" cy="41148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OIL-AX-88, 66, 11 stuck in the Kopili; torque 1.3× baseline</a:t>
            </a:r>
            <a:endParaRPr lang="en-US" sz="1050" dirty="0"/>
          </a:p>
        </p:txBody>
      </p:sp>
      <p:sp>
        <p:nvSpPr>
          <p:cNvPr id="14" name="Shape 11"/>
          <p:cNvSpPr/>
          <p:nvPr/>
        </p:nvSpPr>
        <p:spPr>
          <a:xfrm>
            <a:off x="8321040" y="4315968"/>
            <a:ext cx="3291840" cy="1207008"/>
          </a:xfrm>
          <a:prstGeom prst="roundRect">
            <a:avLst>
              <a:gd name="adj" fmla="val 2273"/>
            </a:avLst>
          </a:prstGeom>
          <a:solidFill>
            <a:srgbClr val="121219"/>
          </a:solidFill>
          <a:ln w="12700">
            <a:solidFill>
              <a:srgbClr val="32323E"/>
            </a:solidFill>
            <a:prstDash val="solid"/>
          </a:ln>
        </p:spPr>
      </p:sp>
      <p:sp>
        <p:nvSpPr>
          <p:cNvPr id="15" name="Text 12"/>
          <p:cNvSpPr txBox="1"/>
          <p:nvPr/>
        </p:nvSpPr>
        <p:spPr>
          <a:xfrm>
            <a:off x="8549640" y="4443984"/>
            <a:ext cx="1463040" cy="320040"/>
          </a:xfrm>
          <a:prstGeom prst="rect">
            <a:avLst/>
          </a:prstGeom>
          <a:noFill/>
          <a:ln/>
        </p:spPr>
        <p:txBody>
          <a:bodyPr wrap="square" lIns="0" tIns="0" rIns="0" bIns="0" rtlCol="0" anchor="t"/>
          <a:lstStyle/>
          <a:p>
            <a:pPr indent="0" marL="0">
              <a:buNone/>
            </a:pPr>
            <a:r>
              <a:rPr lang="en-US" sz="1800" b="1" dirty="0">
                <a:solidFill>
                  <a:srgbClr val="E5383B"/>
                </a:solidFill>
                <a:latin typeface="Consolas" pitchFamily="34" charset="0"/>
                <a:ea typeface="Consolas" pitchFamily="34" charset="-122"/>
                <a:cs typeface="Consolas" pitchFamily="34" charset="-120"/>
              </a:rPr>
              <a:t>3,580 m</a:t>
            </a:r>
            <a:endParaRPr lang="en-US" sz="1800" dirty="0"/>
          </a:p>
        </p:txBody>
      </p:sp>
      <p:sp>
        <p:nvSpPr>
          <p:cNvPr id="16" name="Text 13"/>
          <p:cNvSpPr txBox="1"/>
          <p:nvPr/>
        </p:nvSpPr>
        <p:spPr>
          <a:xfrm>
            <a:off x="8549640" y="4773168"/>
            <a:ext cx="2926080" cy="274320"/>
          </a:xfrm>
          <a:prstGeom prst="rect">
            <a:avLst/>
          </a:prstGeom>
          <a:noFill/>
          <a:ln/>
        </p:spPr>
        <p:txBody>
          <a:bodyPr wrap="square" lIns="0" tIns="0" rIns="0" bIns="0" rtlCol="0" anchor="t"/>
          <a:lstStyle/>
          <a:p>
            <a:pPr indent="0" marL="0">
              <a:buNone/>
            </a:pPr>
            <a:r>
              <a:rPr lang="en-US" sz="1300" b="1" dirty="0">
                <a:solidFill>
                  <a:srgbClr val="F5F5F8"/>
                </a:solidFill>
                <a:latin typeface="Calibri" pitchFamily="34" charset="0"/>
                <a:ea typeface="Calibri" pitchFamily="34" charset="-122"/>
                <a:cs typeface="Calibri" pitchFamily="34" charset="-120"/>
              </a:rPr>
              <a:t>Kick / overpressure — CRITICAL</a:t>
            </a:r>
            <a:endParaRPr lang="en-US" sz="1300" dirty="0"/>
          </a:p>
        </p:txBody>
      </p:sp>
      <p:sp>
        <p:nvSpPr>
          <p:cNvPr id="17" name="Text 14"/>
          <p:cNvSpPr txBox="1"/>
          <p:nvPr/>
        </p:nvSpPr>
        <p:spPr>
          <a:xfrm>
            <a:off x="8549640" y="5047488"/>
            <a:ext cx="2926080" cy="41148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OIL-AX-33 kicked at the Sylhet top; MW 1.44 &lt; 1.52 sg</a:t>
            </a:r>
            <a:endParaRPr lang="en-US" sz="1050" dirty="0"/>
          </a:p>
        </p:txBody>
      </p:sp>
      <p:sp>
        <p:nvSpPr>
          <p:cNvPr id="18" name="Text 15"/>
          <p:cNvSpPr txBox="1"/>
          <p:nvPr/>
        </p:nvSpPr>
        <p:spPr>
          <a:xfrm>
            <a:off x="603504" y="5989320"/>
            <a:ext cx="10881360" cy="274320"/>
          </a:xfrm>
          <a:prstGeom prst="rect">
            <a:avLst/>
          </a:prstGeom>
          <a:noFill/>
          <a:ln/>
        </p:spPr>
        <p:txBody>
          <a:bodyPr wrap="square" lIns="0" tIns="0" rIns="0" bIns="0" rtlCol="0" anchor="t"/>
          <a:lstStyle/>
          <a:p>
            <a:pPr indent="0" marL="0">
              <a:buNone/>
            </a:pPr>
            <a:r>
              <a:rPr lang="en-US" sz="1200" dirty="0">
                <a:solidFill>
                  <a:srgbClr val="8C8FA1"/>
                </a:solidFill>
                <a:latin typeface="Calibri" pitchFamily="34" charset="0"/>
                <a:ea typeface="Calibri" pitchFamily="34" charset="-122"/>
                <a:cs typeface="Calibri" pitchFamily="34" charset="-120"/>
              </a:rPr>
              <a:t>Torque window at 3,500 m stays a watch card: medium history and no live confirmation → no alarm fatigue.</a:t>
            </a:r>
            <a:endParaRPr lang="en-US" sz="1200" dirty="0"/>
          </a:p>
        </p:txBody>
      </p:sp>
      <p:sp>
        <p:nvSpPr>
          <p:cNvPr id="19" name="Text 1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7"/>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SEE BELOW THE SURFACE</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The whole field as a cut-away 3D block</a:t>
            </a:r>
            <a:endParaRPr lang="en-US" sz="3200" dirty="0"/>
          </a:p>
        </p:txBody>
      </p:sp>
      <p:sp>
        <p:nvSpPr>
          <p:cNvPr id="4" name="Shape 2"/>
          <p:cNvSpPr/>
          <p:nvPr/>
        </p:nvSpPr>
        <p:spPr>
          <a:xfrm>
            <a:off x="548640" y="1545336"/>
            <a:ext cx="7516368" cy="4275963"/>
          </a:xfrm>
          <a:prstGeom prst="roundRect">
            <a:avLst>
              <a:gd name="adj" fmla="val 642"/>
            </a:avLst>
          </a:prstGeom>
          <a:solidFill>
            <a:srgbClr val="121219"/>
          </a:solidFill>
          <a:ln w="12700">
            <a:solidFill>
              <a:srgbClr val="32323E"/>
            </a:solidFill>
            <a:prstDash val="solid"/>
          </a:ln>
        </p:spPr>
      </p:sp>
      <p:pic>
        <p:nvPicPr>
          <p:cNvPr id="5" name="Image 0" descr="C:\Users\aryab\OneDrive\Desktop\sihps2\docs\screenshots\17-subsurface-3d.png">    </p:cNvPr>
          <p:cNvPicPr>
            <a:picLocks noChangeAspect="1"/>
          </p:cNvPicPr>
          <p:nvPr/>
        </p:nvPicPr>
        <p:blipFill>
          <a:blip r:embed="rId1"/>
          <a:stretch>
            <a:fillRect/>
          </a:stretch>
        </p:blipFill>
        <p:spPr>
          <a:xfrm>
            <a:off x="603504" y="1600200"/>
            <a:ext cx="7406640" cy="4166235"/>
          </a:xfrm>
          <a:prstGeom prst="rect">
            <a:avLst/>
          </a:prstGeom>
        </p:spPr>
      </p:pic>
      <p:sp>
        <p:nvSpPr>
          <p:cNvPr id="6" name="Shape 3"/>
          <p:cNvSpPr/>
          <p:nvPr/>
        </p:nvSpPr>
        <p:spPr>
          <a:xfrm>
            <a:off x="8321040" y="1645920"/>
            <a:ext cx="548640" cy="548640"/>
          </a:xfrm>
          <a:prstGeom prst="ellipse">
            <a:avLst/>
          </a:prstGeom>
          <a:solidFill>
            <a:srgbClr val="1F1F29"/>
          </a:solidFill>
          <a:ln w="15875">
            <a:solidFill>
              <a:srgbClr val="32323E"/>
            </a:solidFill>
            <a:prstDash val="solid"/>
          </a:ln>
        </p:spPr>
      </p:sp>
      <p:pic>
        <p:nvPicPr>
          <p:cNvPr id="7" name="Image 1" descr="preencoded.png">    </p:cNvPr>
          <p:cNvPicPr>
            <a:picLocks noChangeAspect="1"/>
          </p:cNvPicPr>
          <p:nvPr/>
        </p:nvPicPr>
        <p:blipFill>
          <a:blip r:embed="rId2"/>
          <a:stretch>
            <a:fillRect/>
          </a:stretch>
        </p:blipFill>
        <p:spPr>
          <a:xfrm>
            <a:off x="8441741" y="1766621"/>
            <a:ext cx="307238" cy="307238"/>
          </a:xfrm>
          <a:prstGeom prst="rect">
            <a:avLst/>
          </a:prstGeom>
        </p:spPr>
      </p:pic>
      <p:sp>
        <p:nvSpPr>
          <p:cNvPr id="8" name="Text 4"/>
          <p:cNvSpPr txBox="1"/>
          <p:nvPr/>
        </p:nvSpPr>
        <p:spPr>
          <a:xfrm>
            <a:off x="9006840" y="1645920"/>
            <a:ext cx="2651760" cy="32004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Strata from every offset</a:t>
            </a:r>
            <a:endParaRPr lang="en-US" sz="1500" dirty="0"/>
          </a:p>
        </p:txBody>
      </p:sp>
      <p:sp>
        <p:nvSpPr>
          <p:cNvPr id="9" name="Text 5"/>
          <p:cNvSpPr txBox="1"/>
          <p:nvPr/>
        </p:nvSpPr>
        <p:spPr>
          <a:xfrm>
            <a:off x="9006840" y="1993392"/>
            <a:ext cx="2651760" cy="960120"/>
          </a:xfrm>
          <a:prstGeom prst="rect">
            <a:avLst/>
          </a:prstGeom>
          <a:noFill/>
          <a:ln/>
        </p:spPr>
        <p:txBody>
          <a:bodyPr wrap="square" lIns="0" tIns="0" rIns="0" bIns="0" rtlCol="0" anchor="t"/>
          <a:lstStyle/>
          <a:p>
            <a:pPr indent="0" marL="0">
              <a:buNone/>
            </a:pPr>
            <a:r>
              <a:rPr lang="en-US" sz="1150" dirty="0">
                <a:solidFill>
                  <a:srgbClr val="C4C6D2"/>
                </a:solidFill>
                <a:latin typeface="Calibri" pitchFamily="34" charset="0"/>
                <a:ea typeface="Calibri" pitchFamily="34" charset="-122"/>
                <a:cs typeface="Calibri" pitchFamily="34" charset="-120"/>
              </a:rPr>
              <a:t>Formation tops interpolated between the wells; true well paths in TVD; Esri imagery on top.</a:t>
            </a:r>
            <a:endParaRPr lang="en-US" sz="1150" dirty="0"/>
          </a:p>
        </p:txBody>
      </p:sp>
      <p:sp>
        <p:nvSpPr>
          <p:cNvPr id="10" name="Shape 6"/>
          <p:cNvSpPr/>
          <p:nvPr/>
        </p:nvSpPr>
        <p:spPr>
          <a:xfrm>
            <a:off x="8321040" y="3017520"/>
            <a:ext cx="548640" cy="548640"/>
          </a:xfrm>
          <a:prstGeom prst="ellipse">
            <a:avLst/>
          </a:prstGeom>
          <a:solidFill>
            <a:srgbClr val="1F1F29"/>
          </a:solidFill>
          <a:ln w="15875">
            <a:solidFill>
              <a:srgbClr val="32323E"/>
            </a:solidFill>
            <a:prstDash val="solid"/>
          </a:ln>
        </p:spPr>
      </p:sp>
      <p:pic>
        <p:nvPicPr>
          <p:cNvPr id="11" name="Image 2" descr="preencoded.png">    </p:cNvPr>
          <p:cNvPicPr>
            <a:picLocks noChangeAspect="1"/>
          </p:cNvPicPr>
          <p:nvPr/>
        </p:nvPicPr>
        <p:blipFill>
          <a:blip r:embed="rId3"/>
          <a:stretch>
            <a:fillRect/>
          </a:stretch>
        </p:blipFill>
        <p:spPr>
          <a:xfrm>
            <a:off x="8441741" y="3138221"/>
            <a:ext cx="307238" cy="307238"/>
          </a:xfrm>
          <a:prstGeom prst="rect">
            <a:avLst/>
          </a:prstGeom>
        </p:spPr>
      </p:pic>
      <p:sp>
        <p:nvSpPr>
          <p:cNvPr id="12" name="Text 7"/>
          <p:cNvSpPr txBox="1"/>
          <p:nvPr/>
        </p:nvSpPr>
        <p:spPr>
          <a:xfrm>
            <a:off x="9006840" y="3017520"/>
            <a:ext cx="2651760" cy="32004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The bit's depth plane</a:t>
            </a:r>
            <a:endParaRPr lang="en-US" sz="1500" dirty="0"/>
          </a:p>
        </p:txBody>
      </p:sp>
      <p:sp>
        <p:nvSpPr>
          <p:cNvPr id="13" name="Text 8"/>
          <p:cNvSpPr txBox="1"/>
          <p:nvPr/>
        </p:nvSpPr>
        <p:spPr>
          <a:xfrm>
            <a:off x="9006840" y="3364992"/>
            <a:ext cx="2651760" cy="960120"/>
          </a:xfrm>
          <a:prstGeom prst="rect">
            <a:avLst/>
          </a:prstGeom>
          <a:noFill/>
          <a:ln/>
        </p:spPr>
        <p:txBody>
          <a:bodyPr wrap="square" lIns="0" tIns="0" rIns="0" bIns="0" rtlCol="0" anchor="t"/>
          <a:lstStyle/>
          <a:p>
            <a:pPr indent="0" marL="0">
              <a:buNone/>
            </a:pPr>
            <a:r>
              <a:rPr lang="en-US" sz="1150" dirty="0">
                <a:solidFill>
                  <a:srgbClr val="C4C6D2"/>
                </a:solidFill>
                <a:latin typeface="Calibri" pitchFamily="34" charset="0"/>
                <a:ea typeface="Calibri" pitchFamily="34" charset="-122"/>
                <a:cs typeface="Calibri" pitchFamily="34" charset="-120"/>
              </a:rPr>
              <a:t>Slices the field at the bit — offsets that saw trouble at this depth glow, and evidence streams to the bit.</a:t>
            </a:r>
            <a:endParaRPr lang="en-US" sz="1150" dirty="0"/>
          </a:p>
        </p:txBody>
      </p:sp>
      <p:sp>
        <p:nvSpPr>
          <p:cNvPr id="14" name="Shape 9"/>
          <p:cNvSpPr/>
          <p:nvPr/>
        </p:nvSpPr>
        <p:spPr>
          <a:xfrm>
            <a:off x="8321040" y="4389120"/>
            <a:ext cx="548640" cy="548640"/>
          </a:xfrm>
          <a:prstGeom prst="ellipse">
            <a:avLst/>
          </a:prstGeom>
          <a:solidFill>
            <a:srgbClr val="1F1F29"/>
          </a:solidFill>
          <a:ln w="15875">
            <a:solidFill>
              <a:srgbClr val="32323E"/>
            </a:solidFill>
            <a:prstDash val="solid"/>
          </a:ln>
        </p:spPr>
      </p:sp>
      <p:pic>
        <p:nvPicPr>
          <p:cNvPr id="15" name="Image 3" descr="preencoded.png">    </p:cNvPr>
          <p:cNvPicPr>
            <a:picLocks noChangeAspect="1"/>
          </p:cNvPicPr>
          <p:nvPr/>
        </p:nvPicPr>
        <p:blipFill>
          <a:blip r:embed="rId4"/>
          <a:stretch>
            <a:fillRect/>
          </a:stretch>
        </p:blipFill>
        <p:spPr>
          <a:xfrm>
            <a:off x="8441741" y="4509821"/>
            <a:ext cx="307238" cy="307238"/>
          </a:xfrm>
          <a:prstGeom prst="rect">
            <a:avLst/>
          </a:prstGeom>
        </p:spPr>
      </p:pic>
      <p:sp>
        <p:nvSpPr>
          <p:cNvPr id="16" name="Text 10"/>
          <p:cNvSpPr txBox="1"/>
          <p:nvPr/>
        </p:nvSpPr>
        <p:spPr>
          <a:xfrm>
            <a:off x="9006840" y="4389120"/>
            <a:ext cx="2651760" cy="32004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Hazards on the plan</a:t>
            </a:r>
            <a:endParaRPr lang="en-US" sz="1500" dirty="0"/>
          </a:p>
        </p:txBody>
      </p:sp>
      <p:sp>
        <p:nvSpPr>
          <p:cNvPr id="17" name="Text 11"/>
          <p:cNvSpPr txBox="1"/>
          <p:nvPr/>
        </p:nvSpPr>
        <p:spPr>
          <a:xfrm>
            <a:off x="9006840" y="4736592"/>
            <a:ext cx="2651760" cy="960120"/>
          </a:xfrm>
          <a:prstGeom prst="rect">
            <a:avLst/>
          </a:prstGeom>
          <a:noFill/>
          <a:ln/>
        </p:spPr>
        <p:txBody>
          <a:bodyPr wrap="square" lIns="0" tIns="0" rIns="0" bIns="0" rtlCol="0" anchor="t"/>
          <a:lstStyle/>
          <a:p>
            <a:pPr indent="0" marL="0">
              <a:buNone/>
            </a:pPr>
            <a:r>
              <a:rPr lang="en-US" sz="1150" dirty="0">
                <a:solidFill>
                  <a:srgbClr val="C4C6D2"/>
                </a:solidFill>
                <a:latin typeface="Calibri" pitchFamily="34" charset="0"/>
                <a:ea typeface="Calibri" pitchFamily="34" charset="-122"/>
                <a:cs typeface="Calibri" pitchFamily="34" charset="-120"/>
              </a:rPr>
              <a:t>Risk windows wrap the active path; an alert flashes the plane and flies the camera to the evidence.</a:t>
            </a:r>
            <a:endParaRPr lang="en-US" sz="1150" dirty="0"/>
          </a:p>
        </p:txBody>
      </p:sp>
      <p:sp>
        <p:nvSpPr>
          <p:cNvPr id="18" name="Text 12"/>
          <p:cNvSpPr txBox="1"/>
          <p:nvPr/>
        </p:nvSpPr>
        <p:spPr>
          <a:xfrm>
            <a:off x="603504" y="5989320"/>
            <a:ext cx="10881360" cy="274320"/>
          </a:xfrm>
          <a:prstGeom prst="rect">
            <a:avLst/>
          </a:prstGeom>
          <a:noFill/>
          <a:ln/>
        </p:spPr>
        <p:txBody>
          <a:bodyPr wrap="square" lIns="0" tIns="0" rIns="0" bIns="0" rtlCol="0" anchor="t"/>
          <a:lstStyle/>
          <a:p>
            <a:pPr indent="0" marL="0">
              <a:buNone/>
            </a:pPr>
            <a:r>
              <a:rPr lang="en-US" sz="1200" dirty="0">
                <a:solidFill>
                  <a:srgbClr val="8C8FA1"/>
                </a:solidFill>
                <a:latin typeface="Calibri" pitchFamily="34" charset="0"/>
                <a:ea typeface="Calibri" pitchFamily="34" charset="-122"/>
                <a:cs typeface="Calibri" pitchFamily="34" charset="-120"/>
              </a:rPr>
              <a:t>Same evaluation as the map, alerts and Why? — click any event to open its source report page.</a:t>
            </a:r>
            <a:endParaRPr lang="en-US" sz="1200" dirty="0"/>
          </a:p>
        </p:txBody>
      </p:sp>
      <p:sp>
        <p:nvSpPr>
          <p:cNvPr id="19" name="Text 1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LOOK-AHEAD BRIEF</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Shift handover and drill-the-well-on-paper in one click</a:t>
            </a:r>
            <a:endParaRPr lang="en-US" sz="3200" dirty="0"/>
          </a:p>
        </p:txBody>
      </p:sp>
      <p:sp>
        <p:nvSpPr>
          <p:cNvPr id="4" name="Shape 2"/>
          <p:cNvSpPr/>
          <p:nvPr/>
        </p:nvSpPr>
        <p:spPr>
          <a:xfrm>
            <a:off x="548640" y="1545336"/>
            <a:ext cx="7516368" cy="4275963"/>
          </a:xfrm>
          <a:prstGeom prst="roundRect">
            <a:avLst>
              <a:gd name="adj" fmla="val 642"/>
            </a:avLst>
          </a:prstGeom>
          <a:solidFill>
            <a:srgbClr val="121219"/>
          </a:solidFill>
          <a:ln w="12700">
            <a:solidFill>
              <a:srgbClr val="32323E"/>
            </a:solidFill>
            <a:prstDash val="solid"/>
          </a:ln>
        </p:spPr>
      </p:sp>
      <p:pic>
        <p:nvPicPr>
          <p:cNvPr id="5" name="Image 0" descr="C:\Users\aryab\OneDrive\Desktop\sihps2\docs\screenshots\18-look-ahead-brief.png">    </p:cNvPr>
          <p:cNvPicPr>
            <a:picLocks noChangeAspect="1"/>
          </p:cNvPicPr>
          <p:nvPr/>
        </p:nvPicPr>
        <p:blipFill>
          <a:blip r:embed="rId1"/>
          <a:stretch>
            <a:fillRect/>
          </a:stretch>
        </p:blipFill>
        <p:spPr>
          <a:xfrm>
            <a:off x="603504" y="1600200"/>
            <a:ext cx="7406640" cy="4166235"/>
          </a:xfrm>
          <a:prstGeom prst="rect">
            <a:avLst/>
          </a:prstGeom>
        </p:spPr>
      </p:pic>
      <p:sp>
        <p:nvSpPr>
          <p:cNvPr id="6" name="Shape 3"/>
          <p:cNvSpPr/>
          <p:nvPr/>
        </p:nvSpPr>
        <p:spPr>
          <a:xfrm>
            <a:off x="8321040" y="1572768"/>
            <a:ext cx="3291840" cy="1417320"/>
          </a:xfrm>
          <a:prstGeom prst="roundRect">
            <a:avLst>
              <a:gd name="adj" fmla="val 1935"/>
            </a:avLst>
          </a:prstGeom>
          <a:solidFill>
            <a:srgbClr val="1F1F29"/>
          </a:solidFill>
          <a:ln w="12700">
            <a:solidFill>
              <a:srgbClr val="32323E"/>
            </a:solidFill>
            <a:prstDash val="solid"/>
          </a:ln>
        </p:spPr>
      </p:sp>
      <p:sp>
        <p:nvSpPr>
          <p:cNvPr id="7" name="Text 4"/>
          <p:cNvSpPr txBox="1"/>
          <p:nvPr/>
        </p:nvSpPr>
        <p:spPr>
          <a:xfrm>
            <a:off x="8549640" y="1691640"/>
            <a:ext cx="2926080" cy="548640"/>
          </a:xfrm>
          <a:prstGeom prst="rect">
            <a:avLst/>
          </a:prstGeom>
          <a:noFill/>
          <a:ln/>
        </p:spPr>
        <p:txBody>
          <a:bodyPr wrap="square" lIns="0" tIns="0" rIns="0" bIns="0" rtlCol="0" anchor="t"/>
          <a:lstStyle/>
          <a:p>
            <a:pPr indent="0" marL="0">
              <a:buNone/>
            </a:pPr>
            <a:r>
              <a:rPr lang="en-US" sz="3000" b="1" dirty="0">
                <a:solidFill>
                  <a:srgbClr val="F2A60C"/>
                </a:solidFill>
                <a:latin typeface="Consolas" pitchFamily="34" charset="0"/>
                <a:ea typeface="Consolas" pitchFamily="34" charset="-122"/>
                <a:cs typeface="Consolas" pitchFamily="34" charset="-120"/>
              </a:rPr>
              <a:t>8.8 h</a:t>
            </a:r>
            <a:endParaRPr lang="en-US" sz="3000" dirty="0"/>
          </a:p>
        </p:txBody>
      </p:sp>
      <p:sp>
        <p:nvSpPr>
          <p:cNvPr id="8" name="Text 5"/>
          <p:cNvSpPr txBox="1"/>
          <p:nvPr/>
        </p:nvSpPr>
        <p:spPr>
          <a:xfrm>
            <a:off x="8549640" y="2286000"/>
            <a:ext cx="2926080" cy="640080"/>
          </a:xfrm>
          <a:prstGeom prst="rect">
            <a:avLst/>
          </a:prstGeom>
          <a:noFill/>
          <a:ln/>
        </p:spPr>
        <p:txBody>
          <a:bodyPr wrap="square" lIns="0" tIns="0" rIns="0" bIns="0" rtlCol="0" anchor="t"/>
          <a:lstStyle/>
          <a:p>
            <a:pPr indent="0" marL="0">
              <a:buNone/>
            </a:pPr>
            <a:r>
              <a:rPr lang="en-US" sz="1150" dirty="0">
                <a:solidFill>
                  <a:srgbClr val="C4C6D2"/>
                </a:solidFill>
                <a:latin typeface="Calibri" pitchFamily="34" charset="0"/>
                <a:ea typeface="Calibri" pitchFamily="34" charset="-122"/>
                <a:cs typeface="Calibri" pitchFamily="34" charset="-120"/>
              </a:rPr>
              <a:t>expected NPT in the next 300 m ≈ ₹11 lakh · worst case 54 h ≈ ₹68 lakh</a:t>
            </a:r>
            <a:endParaRPr lang="en-US" sz="1150" dirty="0"/>
          </a:p>
        </p:txBody>
      </p:sp>
      <p:sp>
        <p:nvSpPr>
          <p:cNvPr id="9" name="Shape 6"/>
          <p:cNvSpPr/>
          <p:nvPr/>
        </p:nvSpPr>
        <p:spPr>
          <a:xfrm>
            <a:off x="8321040" y="3200400"/>
            <a:ext cx="457200" cy="457200"/>
          </a:xfrm>
          <a:prstGeom prst="ellipse">
            <a:avLst/>
          </a:prstGeom>
          <a:solidFill>
            <a:srgbClr val="1F1F29"/>
          </a:solidFill>
          <a:ln w="15875">
            <a:solidFill>
              <a:srgbClr val="32323E"/>
            </a:solidFill>
            <a:prstDash val="solid"/>
          </a:ln>
        </p:spPr>
      </p:sp>
      <p:pic>
        <p:nvPicPr>
          <p:cNvPr id="10" name="Image 1" descr="preencoded.png">    </p:cNvPr>
          <p:cNvPicPr>
            <a:picLocks noChangeAspect="1"/>
          </p:cNvPicPr>
          <p:nvPr/>
        </p:nvPicPr>
        <p:blipFill>
          <a:blip r:embed="rId2"/>
          <a:stretch>
            <a:fillRect/>
          </a:stretch>
        </p:blipFill>
        <p:spPr>
          <a:xfrm>
            <a:off x="8421624" y="3300984"/>
            <a:ext cx="256032" cy="256032"/>
          </a:xfrm>
          <a:prstGeom prst="rect">
            <a:avLst/>
          </a:prstGeom>
        </p:spPr>
      </p:pic>
      <p:sp>
        <p:nvSpPr>
          <p:cNvPr id="11" name="Text 7"/>
          <p:cNvSpPr txBox="1"/>
          <p:nvPr/>
        </p:nvSpPr>
        <p:spPr>
          <a:xfrm>
            <a:off x="8915400" y="3200400"/>
            <a:ext cx="2743200" cy="274320"/>
          </a:xfrm>
          <a:prstGeom prst="rect">
            <a:avLst/>
          </a:prstGeom>
          <a:noFill/>
          <a:ln/>
        </p:spPr>
        <p:txBody>
          <a:bodyPr wrap="square" lIns="0" tIns="0" rIns="0" bIns="0" rtlCol="0" anchor="t"/>
          <a:lstStyle/>
          <a:p>
            <a:pPr indent="0" marL="0">
              <a:buNone/>
            </a:pPr>
            <a:r>
              <a:rPr lang="en-US" sz="1350" b="1" dirty="0">
                <a:solidFill>
                  <a:srgbClr val="F5F5F8"/>
                </a:solidFill>
                <a:latin typeface="Calibri" pitchFamily="34" charset="0"/>
                <a:ea typeface="Calibri" pitchFamily="34" charset="-122"/>
                <a:cs typeface="Calibri" pitchFamily="34" charset="-120"/>
              </a:rPr>
              <a:t>What worked, ranked</a:t>
            </a:r>
            <a:endParaRPr lang="en-US" sz="1350" dirty="0"/>
          </a:p>
        </p:txBody>
      </p:sp>
      <p:sp>
        <p:nvSpPr>
          <p:cNvPr id="12" name="Text 8"/>
          <p:cNvSpPr txBox="1"/>
          <p:nvPr/>
        </p:nvSpPr>
        <p:spPr>
          <a:xfrm>
            <a:off x="8915400" y="3474720"/>
            <a:ext cx="2743200" cy="59436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Offset mitigations ordered by the NPT they took — fastest recovery first.</a:t>
            </a:r>
            <a:endParaRPr lang="en-US" sz="1050" dirty="0"/>
          </a:p>
        </p:txBody>
      </p:sp>
      <p:sp>
        <p:nvSpPr>
          <p:cNvPr id="13" name="Shape 9"/>
          <p:cNvSpPr/>
          <p:nvPr/>
        </p:nvSpPr>
        <p:spPr>
          <a:xfrm>
            <a:off x="8321040" y="4133088"/>
            <a:ext cx="457200" cy="457200"/>
          </a:xfrm>
          <a:prstGeom prst="ellipse">
            <a:avLst/>
          </a:prstGeom>
          <a:solidFill>
            <a:srgbClr val="1F1F29"/>
          </a:solidFill>
          <a:ln w="15875">
            <a:solidFill>
              <a:srgbClr val="32323E"/>
            </a:solidFill>
            <a:prstDash val="solid"/>
          </a:ln>
        </p:spPr>
      </p:sp>
      <p:pic>
        <p:nvPicPr>
          <p:cNvPr id="14" name="Image 2" descr="preencoded.png">    </p:cNvPr>
          <p:cNvPicPr>
            <a:picLocks noChangeAspect="1"/>
          </p:cNvPicPr>
          <p:nvPr/>
        </p:nvPicPr>
        <p:blipFill>
          <a:blip r:embed="rId3"/>
          <a:stretch>
            <a:fillRect/>
          </a:stretch>
        </p:blipFill>
        <p:spPr>
          <a:xfrm>
            <a:off x="8421624" y="4233672"/>
            <a:ext cx="256032" cy="256032"/>
          </a:xfrm>
          <a:prstGeom prst="rect">
            <a:avLst/>
          </a:prstGeom>
        </p:spPr>
      </p:pic>
      <p:sp>
        <p:nvSpPr>
          <p:cNvPr id="15" name="Text 10"/>
          <p:cNvSpPr txBox="1"/>
          <p:nvPr/>
        </p:nvSpPr>
        <p:spPr>
          <a:xfrm>
            <a:off x="8915400" y="4133088"/>
            <a:ext cx="2743200" cy="274320"/>
          </a:xfrm>
          <a:prstGeom prst="rect">
            <a:avLst/>
          </a:prstGeom>
          <a:noFill/>
          <a:ln/>
        </p:spPr>
        <p:txBody>
          <a:bodyPr wrap="square" lIns="0" tIns="0" rIns="0" bIns="0" rtlCol="0" anchor="t"/>
          <a:lstStyle/>
          <a:p>
            <a:pPr indent="0" marL="0">
              <a:buNone/>
            </a:pPr>
            <a:r>
              <a:rPr lang="en-US" sz="1350" b="1" dirty="0">
                <a:solidFill>
                  <a:srgbClr val="F5F5F8"/>
                </a:solidFill>
                <a:latin typeface="Calibri" pitchFamily="34" charset="0"/>
                <a:ea typeface="Calibri" pitchFamily="34" charset="-122"/>
                <a:cs typeface="Calibri" pitchFamily="34" charset="-120"/>
              </a:rPr>
              <a:t>Mud-weight window</a:t>
            </a:r>
            <a:endParaRPr lang="en-US" sz="1350" dirty="0"/>
          </a:p>
        </p:txBody>
      </p:sp>
      <p:sp>
        <p:nvSpPr>
          <p:cNvPr id="16" name="Text 11"/>
          <p:cNvSpPr txBox="1"/>
          <p:nvPr/>
        </p:nvSpPr>
        <p:spPr>
          <a:xfrm>
            <a:off x="8915400" y="4407408"/>
            <a:ext cx="2743200" cy="59436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Offset-calibrated pore/frac limits per window; programme breaches flagged.</a:t>
            </a:r>
            <a:endParaRPr lang="en-US" sz="1050" dirty="0"/>
          </a:p>
        </p:txBody>
      </p:sp>
      <p:sp>
        <p:nvSpPr>
          <p:cNvPr id="17" name="Shape 12"/>
          <p:cNvSpPr/>
          <p:nvPr/>
        </p:nvSpPr>
        <p:spPr>
          <a:xfrm>
            <a:off x="8321040" y="5065776"/>
            <a:ext cx="457200" cy="457200"/>
          </a:xfrm>
          <a:prstGeom prst="ellipse">
            <a:avLst/>
          </a:prstGeom>
          <a:solidFill>
            <a:srgbClr val="1F1F29"/>
          </a:solidFill>
          <a:ln w="15875">
            <a:solidFill>
              <a:srgbClr val="32323E"/>
            </a:solidFill>
            <a:prstDash val="solid"/>
          </a:ln>
        </p:spPr>
      </p:sp>
      <p:pic>
        <p:nvPicPr>
          <p:cNvPr id="18" name="Image 3" descr="preencoded.png">    </p:cNvPr>
          <p:cNvPicPr>
            <a:picLocks noChangeAspect="1"/>
          </p:cNvPicPr>
          <p:nvPr/>
        </p:nvPicPr>
        <p:blipFill>
          <a:blip r:embed="rId4"/>
          <a:stretch>
            <a:fillRect/>
          </a:stretch>
        </p:blipFill>
        <p:spPr>
          <a:xfrm>
            <a:off x="8421624" y="5166360"/>
            <a:ext cx="256032" cy="256032"/>
          </a:xfrm>
          <a:prstGeom prst="rect">
            <a:avLst/>
          </a:prstGeom>
        </p:spPr>
      </p:pic>
      <p:sp>
        <p:nvSpPr>
          <p:cNvPr id="19" name="Text 13"/>
          <p:cNvSpPr txBox="1"/>
          <p:nvPr/>
        </p:nvSpPr>
        <p:spPr>
          <a:xfrm>
            <a:off x="8915400" y="5065776"/>
            <a:ext cx="2743200" cy="274320"/>
          </a:xfrm>
          <a:prstGeom prst="rect">
            <a:avLst/>
          </a:prstGeom>
          <a:noFill/>
          <a:ln/>
        </p:spPr>
        <p:txBody>
          <a:bodyPr wrap="square" lIns="0" tIns="0" rIns="0" bIns="0" rtlCol="0" anchor="t"/>
          <a:lstStyle/>
          <a:p>
            <a:pPr indent="0" marL="0">
              <a:buNone/>
            </a:pPr>
            <a:r>
              <a:rPr lang="en-US" sz="1350" b="1" dirty="0">
                <a:solidFill>
                  <a:srgbClr val="F5F5F8"/>
                </a:solidFill>
                <a:latin typeface="Calibri" pitchFamily="34" charset="0"/>
                <a:ea typeface="Calibri" pitchFamily="34" charset="-122"/>
                <a:cs typeface="Calibri" pitchFamily="34" charset="-120"/>
              </a:rPr>
              <a:t>Hand it over</a:t>
            </a:r>
            <a:endParaRPr lang="en-US" sz="1350" dirty="0"/>
          </a:p>
        </p:txBody>
      </p:sp>
      <p:sp>
        <p:nvSpPr>
          <p:cNvPr id="20" name="Text 14"/>
          <p:cNvSpPr txBox="1"/>
          <p:nvPr/>
        </p:nvSpPr>
        <p:spPr>
          <a:xfrm>
            <a:off x="8915400" y="5340096"/>
            <a:ext cx="2743200" cy="59436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Checklist + sign-off; print/PDF, copy to WhatsApp, or read it aloud.</a:t>
            </a:r>
            <a:endParaRPr lang="en-US" sz="1050" dirty="0"/>
          </a:p>
        </p:txBody>
      </p:sp>
      <p:sp>
        <p:nvSpPr>
          <p:cNvPr id="21" name="Text 15"/>
          <p:cNvSpPr txBox="1"/>
          <p:nvPr/>
        </p:nvSpPr>
        <p:spPr>
          <a:xfrm>
            <a:off x="603504" y="5989320"/>
            <a:ext cx="10881360" cy="274320"/>
          </a:xfrm>
          <a:prstGeom prst="rect">
            <a:avLst/>
          </a:prstGeom>
          <a:noFill/>
          <a:ln/>
        </p:spPr>
        <p:txBody>
          <a:bodyPr wrap="square" lIns="0" tIns="0" rIns="0" bIns="0" rtlCol="0" anchor="t"/>
          <a:lstStyle/>
          <a:p>
            <a:pPr indent="0" marL="0">
              <a:buNone/>
            </a:pPr>
            <a:r>
              <a:rPr lang="en-US" sz="1100" dirty="0">
                <a:solidFill>
                  <a:srgbClr val="8C8FA1"/>
                </a:solidFill>
                <a:latin typeface="Calibri" pitchFamily="34" charset="0"/>
                <a:ea typeface="Calibri" pitchFamily="34" charset="-122"/>
                <a:cs typeface="Calibri" pitchFamily="34" charset="-120"/>
              </a:rPr>
              <a:t>Projected from offset history only — no future parameters; every line cited to a report page. ₹30 lakh/day spread rate is an editable assumption.</a:t>
            </a:r>
            <a:endParaRPr lang="en-US" sz="1100" dirty="0"/>
          </a:p>
        </p:txBody>
      </p:sp>
      <p:sp>
        <p:nvSpPr>
          <p:cNvPr id="22" name="Text 1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3" name="Text 17"/>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EXPLAINABLE RISK</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Every alert shows its working</a:t>
            </a:r>
            <a:endParaRPr lang="en-US" sz="3200" dirty="0"/>
          </a:p>
        </p:txBody>
      </p:sp>
      <p:sp>
        <p:nvSpPr>
          <p:cNvPr id="4" name="Shape 2"/>
          <p:cNvSpPr/>
          <p:nvPr/>
        </p:nvSpPr>
        <p:spPr>
          <a:xfrm>
            <a:off x="548640" y="1645920"/>
            <a:ext cx="4754880" cy="4434840"/>
          </a:xfrm>
          <a:prstGeom prst="roundRect">
            <a:avLst>
              <a:gd name="adj" fmla="val 619"/>
            </a:avLst>
          </a:prstGeom>
          <a:solidFill>
            <a:srgbClr val="121219"/>
          </a:solidFill>
          <a:ln w="12700">
            <a:solidFill>
              <a:srgbClr val="32323E"/>
            </a:solidFill>
            <a:prstDash val="solid"/>
          </a:ln>
        </p:spPr>
      </p:sp>
      <p:sp>
        <p:nvSpPr>
          <p:cNvPr id="5" name="Text 3"/>
          <p:cNvSpPr txBox="1"/>
          <p:nvPr/>
        </p:nvSpPr>
        <p:spPr>
          <a:xfrm>
            <a:off x="822960" y="1828800"/>
            <a:ext cx="4297680" cy="365760"/>
          </a:xfrm>
          <a:prstGeom prst="rect">
            <a:avLst/>
          </a:prstGeom>
          <a:noFill/>
          <a:ln/>
        </p:spPr>
        <p:txBody>
          <a:bodyPr wrap="square" lIns="0" tIns="0" rIns="0" bIns="0" rtlCol="0" anchor="t"/>
          <a:lstStyle/>
          <a:p>
            <a:pPr indent="0" marL="0">
              <a:buNone/>
            </a:pPr>
            <a:r>
              <a:rPr lang="en-US" sz="1700" b="1" dirty="0">
                <a:solidFill>
                  <a:srgbClr val="F5F5F8"/>
                </a:solidFill>
                <a:latin typeface="Calibri" pitchFamily="34" charset="0"/>
                <a:ea typeface="Calibri" pitchFamily="34" charset="-122"/>
                <a:cs typeface="Calibri" pitchFamily="34" charset="-120"/>
              </a:rPr>
              <a:t>Risk score = Σ weight × factor</a:t>
            </a:r>
            <a:endParaRPr lang="en-US" sz="1700" dirty="0"/>
          </a:p>
        </p:txBody>
      </p:sp>
      <p:graphicFrame>
        <p:nvGraphicFramePr>
          <p:cNvPr id="6" name="Chart 0" descr=""/>
          <p:cNvGraphicFramePr/>
          <p:nvPr/>
        </p:nvGraphicFramePr>
        <p:xfrm>
          <a:off x="731520" y="2240280"/>
          <a:ext cx="4434840" cy="2514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22960" y="4800600"/>
            <a:ext cx="4343400" cy="12344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Thresholds 0.35 · 0.55 · 0.75 (medium · high · critical)</a:t>
            </a:r>
            <a:endParaRPr lang="en-US" sz="1150" dirty="0"/>
          </a:p>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Medium-history zones need live confirmation to alert</a:t>
            </a:r>
            <a:endParaRPr lang="en-US" sz="1150" dirty="0"/>
          </a:p>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Confidence from supporting wells, sources and similarity</a:t>
            </a:r>
            <a:endParaRPr lang="en-US" sz="1150" dirty="0"/>
          </a:p>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Learned cross-check: logistic model backtested on 12 offset wells — AUC 0.86 vs 0.76 hand-set</a:t>
            </a:r>
            <a:endParaRPr lang="en-US" sz="1150" dirty="0"/>
          </a:p>
        </p:txBody>
      </p:sp>
      <p:sp>
        <p:nvSpPr>
          <p:cNvPr id="8" name="Shape 5"/>
          <p:cNvSpPr/>
          <p:nvPr/>
        </p:nvSpPr>
        <p:spPr>
          <a:xfrm>
            <a:off x="6345936" y="1591056"/>
            <a:ext cx="5230368" cy="4059936"/>
          </a:xfrm>
          <a:prstGeom prst="roundRect">
            <a:avLst>
              <a:gd name="adj" fmla="val 676"/>
            </a:avLst>
          </a:prstGeom>
          <a:solidFill>
            <a:srgbClr val="121219"/>
          </a:solidFill>
          <a:ln w="12700">
            <a:solidFill>
              <a:srgbClr val="32323E"/>
            </a:solidFill>
            <a:prstDash val="solid"/>
          </a:ln>
        </p:spPr>
      </p:sp>
      <p:pic>
        <p:nvPicPr>
          <p:cNvPr id="9" name="Image 0" descr="C:\Users\aryab\OneDrive\Desktop\sihps2\tools\.why-crop.png">    </p:cNvPr>
          <p:cNvPicPr>
            <a:picLocks noChangeAspect="1"/>
          </p:cNvPicPr>
          <p:nvPr/>
        </p:nvPicPr>
        <p:blipFill>
          <a:blip r:embed="rId2"/>
          <a:stretch>
            <a:fillRect/>
          </a:stretch>
        </p:blipFill>
        <p:spPr>
          <a:xfrm>
            <a:off x="6400800" y="1645920"/>
            <a:ext cx="5120640" cy="3703320"/>
          </a:xfrm>
          <a:prstGeom prst="rect">
            <a:avLst/>
          </a:prstGeom>
        </p:spPr>
      </p:pic>
      <p:sp>
        <p:nvSpPr>
          <p:cNvPr id="10" name="Text 6"/>
          <p:cNvSpPr txBox="1"/>
          <p:nvPr/>
        </p:nvSpPr>
        <p:spPr>
          <a:xfrm>
            <a:off x="6345936" y="5760720"/>
            <a:ext cx="5303520" cy="457200"/>
          </a:xfrm>
          <a:prstGeom prst="rect">
            <a:avLst/>
          </a:prstGeom>
          <a:noFill/>
          <a:ln/>
        </p:spPr>
        <p:txBody>
          <a:bodyPr wrap="square" lIns="0" tIns="0" rIns="0" bIns="0" rtlCol="0" anchor="t"/>
          <a:lstStyle/>
          <a:p>
            <a:pPr indent="0" marL="0">
              <a:buNone/>
            </a:pPr>
            <a:r>
              <a:rPr lang="en-US" sz="1150" b="1" dirty="0">
                <a:solidFill>
                  <a:srgbClr val="A79DFF"/>
                </a:solidFill>
                <a:latin typeface="Calibri" pitchFamily="34" charset="0"/>
                <a:ea typeface="Calibri" pitchFamily="34" charset="-122"/>
                <a:cs typeface="Calibri" pitchFamily="34" charset="-120"/>
              </a:rPr>
              <a:t>WHAT · WHERE · WHEN · WHY · WHICH wells · WHAT evidence · WHAT to check · HOW confident</a:t>
            </a:r>
            <a:endParaRPr lang="en-US" sz="1150" dirty="0"/>
          </a:p>
        </p:txBody>
      </p:sp>
      <p:sp>
        <p:nvSpPr>
          <p:cNvPr id="11" name="Text 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12" name="Text 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EVIDENCE-FIRST AI</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No answer without a source page</a:t>
            </a:r>
            <a:endParaRPr lang="en-US" sz="3200" dirty="0"/>
          </a:p>
        </p:txBody>
      </p:sp>
      <p:sp>
        <p:nvSpPr>
          <p:cNvPr id="4" name="Shape 2"/>
          <p:cNvSpPr/>
          <p:nvPr/>
        </p:nvSpPr>
        <p:spPr>
          <a:xfrm>
            <a:off x="548640" y="1591056"/>
            <a:ext cx="6876288" cy="3915918"/>
          </a:xfrm>
          <a:prstGeom prst="roundRect">
            <a:avLst>
              <a:gd name="adj" fmla="val 701"/>
            </a:avLst>
          </a:prstGeom>
          <a:solidFill>
            <a:srgbClr val="121219"/>
          </a:solidFill>
          <a:ln w="12700">
            <a:solidFill>
              <a:srgbClr val="32323E"/>
            </a:solidFill>
            <a:prstDash val="solid"/>
          </a:ln>
        </p:spPr>
      </p:sp>
      <p:pic>
        <p:nvPicPr>
          <p:cNvPr id="5" name="Image 0" descr="C:\Users\aryab\OneDrive\Desktop\sihps2\docs\screenshots\08-evidence-search.png">    </p:cNvPr>
          <p:cNvPicPr>
            <a:picLocks noChangeAspect="1"/>
          </p:cNvPicPr>
          <p:nvPr/>
        </p:nvPicPr>
        <p:blipFill>
          <a:blip r:embed="rId1"/>
          <a:stretch>
            <a:fillRect/>
          </a:stretch>
        </p:blipFill>
        <p:spPr>
          <a:xfrm>
            <a:off x="603504" y="1645920"/>
            <a:ext cx="6766560" cy="3806190"/>
          </a:xfrm>
          <a:prstGeom prst="rect">
            <a:avLst/>
          </a:prstGeom>
        </p:spPr>
      </p:pic>
      <p:sp>
        <p:nvSpPr>
          <p:cNvPr id="6" name="Shape 3"/>
          <p:cNvSpPr/>
          <p:nvPr/>
        </p:nvSpPr>
        <p:spPr>
          <a:xfrm>
            <a:off x="7726680" y="1691640"/>
            <a:ext cx="548640" cy="548640"/>
          </a:xfrm>
          <a:prstGeom prst="ellipse">
            <a:avLst/>
          </a:prstGeom>
          <a:solidFill>
            <a:srgbClr val="1F1F29"/>
          </a:solidFill>
          <a:ln w="15875">
            <a:solidFill>
              <a:srgbClr val="32323E"/>
            </a:solidFill>
            <a:prstDash val="solid"/>
          </a:ln>
        </p:spPr>
      </p:sp>
      <p:pic>
        <p:nvPicPr>
          <p:cNvPr id="7" name="Image 1" descr="preencoded.png">    </p:cNvPr>
          <p:cNvPicPr>
            <a:picLocks noChangeAspect="1"/>
          </p:cNvPicPr>
          <p:nvPr/>
        </p:nvPicPr>
        <p:blipFill>
          <a:blip r:embed="rId2"/>
          <a:stretch>
            <a:fillRect/>
          </a:stretch>
        </p:blipFill>
        <p:spPr>
          <a:xfrm>
            <a:off x="7847381" y="1812341"/>
            <a:ext cx="307238" cy="307238"/>
          </a:xfrm>
          <a:prstGeom prst="rect">
            <a:avLst/>
          </a:prstGeom>
        </p:spPr>
      </p:pic>
      <p:sp>
        <p:nvSpPr>
          <p:cNvPr id="8" name="Text 4"/>
          <p:cNvSpPr txBox="1"/>
          <p:nvPr/>
        </p:nvSpPr>
        <p:spPr>
          <a:xfrm>
            <a:off x="8412480" y="1691640"/>
            <a:ext cx="3200400" cy="320040"/>
          </a:xfrm>
          <a:prstGeom prst="rect">
            <a:avLst/>
          </a:prstGeom>
          <a:noFill/>
          <a:ln/>
        </p:spPr>
        <p:txBody>
          <a:bodyPr wrap="square" lIns="0" tIns="0" rIns="0" bIns="0" rtlCol="0" anchor="t"/>
          <a:lstStyle/>
          <a:p>
            <a:pPr indent="0" marL="0">
              <a:buNone/>
            </a:pPr>
            <a:r>
              <a:rPr lang="en-US" sz="1600" b="1" dirty="0">
                <a:solidFill>
                  <a:srgbClr val="F5F5F8"/>
                </a:solidFill>
                <a:latin typeface="Calibri" pitchFamily="34" charset="0"/>
                <a:ea typeface="Calibri" pitchFamily="34" charset="-122"/>
                <a:cs typeface="Calibri" pitchFamily="34" charset="-120"/>
              </a:rPr>
              <a:t>Hybrid retrieval</a:t>
            </a:r>
            <a:endParaRPr lang="en-US" sz="1600" dirty="0"/>
          </a:p>
        </p:txBody>
      </p:sp>
      <p:sp>
        <p:nvSpPr>
          <p:cNvPr id="9" name="Text 5"/>
          <p:cNvSpPr txBox="1"/>
          <p:nvPr/>
        </p:nvSpPr>
        <p:spPr>
          <a:xfrm>
            <a:off x="8412480" y="2039112"/>
            <a:ext cx="3200400" cy="82296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Keyword 0.40 + semantic 0.35 + metadata 0.25 (depth, formation, risk family, well)</a:t>
            </a:r>
            <a:endParaRPr lang="en-US" sz="1200" dirty="0"/>
          </a:p>
        </p:txBody>
      </p:sp>
      <p:sp>
        <p:nvSpPr>
          <p:cNvPr id="10" name="Shape 6"/>
          <p:cNvSpPr/>
          <p:nvPr/>
        </p:nvSpPr>
        <p:spPr>
          <a:xfrm>
            <a:off x="7726680" y="3017520"/>
            <a:ext cx="548640" cy="548640"/>
          </a:xfrm>
          <a:prstGeom prst="ellipse">
            <a:avLst/>
          </a:prstGeom>
          <a:solidFill>
            <a:srgbClr val="1F1F29"/>
          </a:solidFill>
          <a:ln w="15875">
            <a:solidFill>
              <a:srgbClr val="32323E"/>
            </a:solidFill>
            <a:prstDash val="solid"/>
          </a:ln>
        </p:spPr>
      </p:sp>
      <p:pic>
        <p:nvPicPr>
          <p:cNvPr id="11" name="Image 2" descr="preencoded.png">    </p:cNvPr>
          <p:cNvPicPr>
            <a:picLocks noChangeAspect="1"/>
          </p:cNvPicPr>
          <p:nvPr/>
        </p:nvPicPr>
        <p:blipFill>
          <a:blip r:embed="rId3"/>
          <a:stretch>
            <a:fillRect/>
          </a:stretch>
        </p:blipFill>
        <p:spPr>
          <a:xfrm>
            <a:off x="7847381" y="3138221"/>
            <a:ext cx="307238" cy="307238"/>
          </a:xfrm>
          <a:prstGeom prst="rect">
            <a:avLst/>
          </a:prstGeom>
        </p:spPr>
      </p:pic>
      <p:sp>
        <p:nvSpPr>
          <p:cNvPr id="12" name="Text 7"/>
          <p:cNvSpPr txBox="1"/>
          <p:nvPr/>
        </p:nvSpPr>
        <p:spPr>
          <a:xfrm>
            <a:off x="8412480" y="3017520"/>
            <a:ext cx="3200400" cy="320040"/>
          </a:xfrm>
          <a:prstGeom prst="rect">
            <a:avLst/>
          </a:prstGeom>
          <a:noFill/>
          <a:ln/>
        </p:spPr>
        <p:txBody>
          <a:bodyPr wrap="square" lIns="0" tIns="0" rIns="0" bIns="0" rtlCol="0" anchor="t"/>
          <a:lstStyle/>
          <a:p>
            <a:pPr indent="0" marL="0">
              <a:buNone/>
            </a:pPr>
            <a:r>
              <a:rPr lang="en-US" sz="1600" b="1" dirty="0">
                <a:solidFill>
                  <a:srgbClr val="F5F5F8"/>
                </a:solidFill>
                <a:latin typeface="Calibri" pitchFamily="34" charset="0"/>
                <a:ea typeface="Calibri" pitchFamily="34" charset="-122"/>
                <a:cs typeface="Calibri" pitchFamily="34" charset="-120"/>
              </a:rPr>
              <a:t>Understands drilling queries</a:t>
            </a:r>
            <a:endParaRPr lang="en-US" sz="1600" dirty="0"/>
          </a:p>
        </p:txBody>
      </p:sp>
      <p:sp>
        <p:nvSpPr>
          <p:cNvPr id="13" name="Text 8"/>
          <p:cNvSpPr txBox="1"/>
          <p:nvPr/>
        </p:nvSpPr>
        <p:spPr>
          <a:xfrm>
            <a:off x="8412480" y="3364992"/>
            <a:ext cx="3200400" cy="82296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“near 3400 m”, “this formation”, “lost returns” ≈ mud loss, “current risk”</a:t>
            </a:r>
            <a:endParaRPr lang="en-US" sz="1200" dirty="0"/>
          </a:p>
        </p:txBody>
      </p:sp>
      <p:sp>
        <p:nvSpPr>
          <p:cNvPr id="14" name="Shape 9"/>
          <p:cNvSpPr/>
          <p:nvPr/>
        </p:nvSpPr>
        <p:spPr>
          <a:xfrm>
            <a:off x="7726680" y="4343400"/>
            <a:ext cx="548640" cy="548640"/>
          </a:xfrm>
          <a:prstGeom prst="ellipse">
            <a:avLst/>
          </a:prstGeom>
          <a:solidFill>
            <a:srgbClr val="1F1F29"/>
          </a:solidFill>
          <a:ln w="15875">
            <a:solidFill>
              <a:srgbClr val="32323E"/>
            </a:solidFill>
            <a:prstDash val="solid"/>
          </a:ln>
        </p:spPr>
      </p:sp>
      <p:pic>
        <p:nvPicPr>
          <p:cNvPr id="15" name="Image 3" descr="preencoded.png">    </p:cNvPr>
          <p:cNvPicPr>
            <a:picLocks noChangeAspect="1"/>
          </p:cNvPicPr>
          <p:nvPr/>
        </p:nvPicPr>
        <p:blipFill>
          <a:blip r:embed="rId4"/>
          <a:stretch>
            <a:fillRect/>
          </a:stretch>
        </p:blipFill>
        <p:spPr>
          <a:xfrm>
            <a:off x="7847381" y="4464101"/>
            <a:ext cx="307238" cy="307238"/>
          </a:xfrm>
          <a:prstGeom prst="rect">
            <a:avLst/>
          </a:prstGeom>
        </p:spPr>
      </p:pic>
      <p:sp>
        <p:nvSpPr>
          <p:cNvPr id="16" name="Text 10"/>
          <p:cNvSpPr txBox="1"/>
          <p:nvPr/>
        </p:nvSpPr>
        <p:spPr>
          <a:xfrm>
            <a:off x="8412480" y="4343400"/>
            <a:ext cx="3200400" cy="320040"/>
          </a:xfrm>
          <a:prstGeom prst="rect">
            <a:avLst/>
          </a:prstGeom>
          <a:noFill/>
          <a:ln/>
        </p:spPr>
        <p:txBody>
          <a:bodyPr wrap="square" lIns="0" tIns="0" rIns="0" bIns="0" rtlCol="0" anchor="t"/>
          <a:lstStyle/>
          <a:p>
            <a:pPr indent="0" marL="0">
              <a:buNone/>
            </a:pPr>
            <a:r>
              <a:rPr lang="en-US" sz="1600" b="1" dirty="0">
                <a:solidFill>
                  <a:srgbClr val="F5F5F8"/>
                </a:solidFill>
                <a:latin typeface="Calibri" pitchFamily="34" charset="0"/>
                <a:ea typeface="Calibri" pitchFamily="34" charset="-122"/>
                <a:cs typeface="Calibri" pitchFamily="34" charset="-120"/>
              </a:rPr>
              <a:t>Cited, or it says so</a:t>
            </a:r>
            <a:endParaRPr lang="en-US" sz="1600" dirty="0"/>
          </a:p>
        </p:txBody>
      </p:sp>
      <p:sp>
        <p:nvSpPr>
          <p:cNvPr id="17" name="Text 11"/>
          <p:cNvSpPr txBox="1"/>
          <p:nvPr/>
        </p:nvSpPr>
        <p:spPr>
          <a:xfrm>
            <a:off x="8412480" y="4690872"/>
            <a:ext cx="3200400" cy="82296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Every sentence carries [n] citations; below threshold → “Insufficient evidence”</a:t>
            </a:r>
            <a:endParaRPr lang="en-US" sz="1200" dirty="0"/>
          </a:p>
        </p:txBody>
      </p:sp>
      <p:sp>
        <p:nvSpPr>
          <p:cNvPr id="18" name="Text 12"/>
          <p:cNvSpPr txBox="1"/>
          <p:nvPr/>
        </p:nvSpPr>
        <p:spPr>
          <a:xfrm>
            <a:off x="603504" y="5669280"/>
            <a:ext cx="10972800" cy="457200"/>
          </a:xfrm>
          <a:prstGeom prst="rect">
            <a:avLst/>
          </a:prstGeom>
          <a:noFill/>
          <a:ln/>
        </p:spPr>
        <p:txBody>
          <a:bodyPr wrap="square" lIns="0" tIns="0" rIns="0" bIns="0" rtlCol="0" anchor="t"/>
          <a:lstStyle/>
          <a:p>
            <a:pPr indent="0" marL="0">
              <a:buNone/>
            </a:pPr>
            <a:r>
              <a:rPr lang="en-US" sz="1200" dirty="0">
                <a:solidFill>
                  <a:srgbClr val="8C8FA1"/>
                </a:solidFill>
                <a:latin typeface="Calibri" pitchFamily="34" charset="0"/>
                <a:ea typeface="Calibri" pitchFamily="34" charset="-122"/>
                <a:cs typeface="Calibri" pitchFamily="34" charset="-120"/>
              </a:rPr>
              <a:t>Offline and deterministic for the demo; an optional Claude adapter writes the answer over the same cited evidence and is discarded if it cites nothing.</a:t>
            </a:r>
            <a:endParaRPr lang="en-US" sz="1200" dirty="0"/>
          </a:p>
        </p:txBody>
      </p:sp>
      <p:sp>
        <p:nvSpPr>
          <p:cNvPr id="19" name="Text 1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DOCUMENT INTELLIGENCE</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Reports become structured, reviewed knowledge</a:t>
            </a:r>
            <a:endParaRPr lang="en-US" sz="3200" dirty="0"/>
          </a:p>
        </p:txBody>
      </p:sp>
      <p:sp>
        <p:nvSpPr>
          <p:cNvPr id="4" name="Shape 2"/>
          <p:cNvSpPr/>
          <p:nvPr/>
        </p:nvSpPr>
        <p:spPr>
          <a:xfrm>
            <a:off x="1051560" y="1691640"/>
            <a:ext cx="457200" cy="457200"/>
          </a:xfrm>
          <a:prstGeom prst="ellipse">
            <a:avLst/>
          </a:prstGeom>
          <a:solidFill>
            <a:srgbClr val="1F1F29"/>
          </a:solidFill>
          <a:ln w="15875">
            <a:solidFill>
              <a:srgbClr val="A79DFF"/>
            </a:solidFill>
            <a:prstDash val="solid"/>
          </a:ln>
        </p:spPr>
      </p:sp>
      <p:sp>
        <p:nvSpPr>
          <p:cNvPr id="5" name="Text 3"/>
          <p:cNvSpPr txBox="1"/>
          <p:nvPr/>
        </p:nvSpPr>
        <p:spPr>
          <a:xfrm>
            <a:off x="10515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5486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Upload</a:t>
            </a:r>
            <a:endParaRPr lang="en-US" sz="1200" dirty="0"/>
          </a:p>
        </p:txBody>
      </p:sp>
      <p:sp>
        <p:nvSpPr>
          <p:cNvPr id="7" name="Shape 5"/>
          <p:cNvSpPr/>
          <p:nvPr/>
        </p:nvSpPr>
        <p:spPr>
          <a:xfrm>
            <a:off x="1572768" y="1920240"/>
            <a:ext cx="1097280" cy="0"/>
          </a:xfrm>
          <a:prstGeom prst="line">
            <a:avLst/>
          </a:prstGeom>
          <a:noFill/>
          <a:ln w="19050">
            <a:solidFill>
              <a:srgbClr val="32323E"/>
            </a:solidFill>
            <a:prstDash val="solid"/>
          </a:ln>
        </p:spPr>
      </p:sp>
      <p:sp>
        <p:nvSpPr>
          <p:cNvPr id="8" name="Shape 6"/>
          <p:cNvSpPr/>
          <p:nvPr/>
        </p:nvSpPr>
        <p:spPr>
          <a:xfrm>
            <a:off x="2651760" y="1691640"/>
            <a:ext cx="457200" cy="457200"/>
          </a:xfrm>
          <a:prstGeom prst="ellipse">
            <a:avLst/>
          </a:prstGeom>
          <a:solidFill>
            <a:srgbClr val="1F1F29"/>
          </a:solidFill>
          <a:ln w="15875">
            <a:solidFill>
              <a:srgbClr val="A79DFF"/>
            </a:solidFill>
            <a:prstDash val="solid"/>
          </a:ln>
        </p:spPr>
      </p:sp>
      <p:sp>
        <p:nvSpPr>
          <p:cNvPr id="9" name="Text 7"/>
          <p:cNvSpPr txBox="1"/>
          <p:nvPr/>
        </p:nvSpPr>
        <p:spPr>
          <a:xfrm>
            <a:off x="26517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21488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Text / OCR</a:t>
            </a:r>
            <a:endParaRPr lang="en-US" sz="1200" dirty="0"/>
          </a:p>
        </p:txBody>
      </p:sp>
      <p:sp>
        <p:nvSpPr>
          <p:cNvPr id="11" name="Shape 9"/>
          <p:cNvSpPr/>
          <p:nvPr/>
        </p:nvSpPr>
        <p:spPr>
          <a:xfrm>
            <a:off x="3172968" y="1920240"/>
            <a:ext cx="1097280" cy="0"/>
          </a:xfrm>
          <a:prstGeom prst="line">
            <a:avLst/>
          </a:prstGeom>
          <a:noFill/>
          <a:ln w="19050">
            <a:solidFill>
              <a:srgbClr val="32323E"/>
            </a:solidFill>
            <a:prstDash val="solid"/>
          </a:ln>
        </p:spPr>
      </p:sp>
      <p:sp>
        <p:nvSpPr>
          <p:cNvPr id="12" name="Shape 10"/>
          <p:cNvSpPr/>
          <p:nvPr/>
        </p:nvSpPr>
        <p:spPr>
          <a:xfrm>
            <a:off x="4251960" y="1691640"/>
            <a:ext cx="457200" cy="457200"/>
          </a:xfrm>
          <a:prstGeom prst="ellipse">
            <a:avLst/>
          </a:prstGeom>
          <a:solidFill>
            <a:srgbClr val="1F1F29"/>
          </a:solidFill>
          <a:ln w="15875">
            <a:solidFill>
              <a:srgbClr val="A79DFF"/>
            </a:solidFill>
            <a:prstDash val="solid"/>
          </a:ln>
        </p:spPr>
      </p:sp>
      <p:sp>
        <p:nvSpPr>
          <p:cNvPr id="13" name="Text 11"/>
          <p:cNvSpPr txBox="1"/>
          <p:nvPr/>
        </p:nvSpPr>
        <p:spPr>
          <a:xfrm>
            <a:off x="42519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37490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Chunk &amp; tag</a:t>
            </a:r>
            <a:endParaRPr lang="en-US" sz="1200" dirty="0"/>
          </a:p>
        </p:txBody>
      </p:sp>
      <p:sp>
        <p:nvSpPr>
          <p:cNvPr id="15" name="Shape 13"/>
          <p:cNvSpPr/>
          <p:nvPr/>
        </p:nvSpPr>
        <p:spPr>
          <a:xfrm>
            <a:off x="4773168" y="1920240"/>
            <a:ext cx="1097280" cy="0"/>
          </a:xfrm>
          <a:prstGeom prst="line">
            <a:avLst/>
          </a:prstGeom>
          <a:noFill/>
          <a:ln w="19050">
            <a:solidFill>
              <a:srgbClr val="32323E"/>
            </a:solidFill>
            <a:prstDash val="solid"/>
          </a:ln>
        </p:spPr>
      </p:sp>
      <p:sp>
        <p:nvSpPr>
          <p:cNvPr id="16" name="Shape 14"/>
          <p:cNvSpPr/>
          <p:nvPr/>
        </p:nvSpPr>
        <p:spPr>
          <a:xfrm>
            <a:off x="5852160" y="1691640"/>
            <a:ext cx="457200" cy="457200"/>
          </a:xfrm>
          <a:prstGeom prst="ellipse">
            <a:avLst/>
          </a:prstGeom>
          <a:solidFill>
            <a:srgbClr val="1F1F29"/>
          </a:solidFill>
          <a:ln w="15875">
            <a:solidFill>
              <a:srgbClr val="A79DFF"/>
            </a:solidFill>
            <a:prstDash val="solid"/>
          </a:ln>
        </p:spPr>
      </p:sp>
      <p:sp>
        <p:nvSpPr>
          <p:cNvPr id="17" name="Text 15"/>
          <p:cNvSpPr txBox="1"/>
          <p:nvPr/>
        </p:nvSpPr>
        <p:spPr>
          <a:xfrm>
            <a:off x="58521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53492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Extract events</a:t>
            </a:r>
            <a:endParaRPr lang="en-US" sz="1200" dirty="0"/>
          </a:p>
        </p:txBody>
      </p:sp>
      <p:sp>
        <p:nvSpPr>
          <p:cNvPr id="19" name="Shape 17"/>
          <p:cNvSpPr/>
          <p:nvPr/>
        </p:nvSpPr>
        <p:spPr>
          <a:xfrm>
            <a:off x="6373368" y="1920240"/>
            <a:ext cx="1097280" cy="0"/>
          </a:xfrm>
          <a:prstGeom prst="line">
            <a:avLst/>
          </a:prstGeom>
          <a:noFill/>
          <a:ln w="19050">
            <a:solidFill>
              <a:srgbClr val="32323E"/>
            </a:solidFill>
            <a:prstDash val="solid"/>
          </a:ln>
        </p:spPr>
      </p:sp>
      <p:sp>
        <p:nvSpPr>
          <p:cNvPr id="20" name="Shape 18"/>
          <p:cNvSpPr/>
          <p:nvPr/>
        </p:nvSpPr>
        <p:spPr>
          <a:xfrm>
            <a:off x="7452360" y="1691640"/>
            <a:ext cx="457200" cy="457200"/>
          </a:xfrm>
          <a:prstGeom prst="ellipse">
            <a:avLst/>
          </a:prstGeom>
          <a:solidFill>
            <a:srgbClr val="1F1F29"/>
          </a:solidFill>
          <a:ln w="15875">
            <a:solidFill>
              <a:srgbClr val="A79DFF"/>
            </a:solidFill>
            <a:prstDash val="solid"/>
          </a:ln>
        </p:spPr>
      </p:sp>
      <p:sp>
        <p:nvSpPr>
          <p:cNvPr id="21" name="Text 19"/>
          <p:cNvSpPr txBox="1"/>
          <p:nvPr/>
        </p:nvSpPr>
        <p:spPr>
          <a:xfrm>
            <a:off x="74523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69494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Dedupe &amp; provenance</a:t>
            </a:r>
            <a:endParaRPr lang="en-US" sz="1200" dirty="0"/>
          </a:p>
        </p:txBody>
      </p:sp>
      <p:sp>
        <p:nvSpPr>
          <p:cNvPr id="23" name="Shape 21"/>
          <p:cNvSpPr/>
          <p:nvPr/>
        </p:nvSpPr>
        <p:spPr>
          <a:xfrm>
            <a:off x="7973568" y="1920240"/>
            <a:ext cx="1097280" cy="0"/>
          </a:xfrm>
          <a:prstGeom prst="line">
            <a:avLst/>
          </a:prstGeom>
          <a:noFill/>
          <a:ln w="19050">
            <a:solidFill>
              <a:srgbClr val="32323E"/>
            </a:solidFill>
            <a:prstDash val="solid"/>
          </a:ln>
        </p:spPr>
      </p:sp>
      <p:sp>
        <p:nvSpPr>
          <p:cNvPr id="24" name="Shape 22"/>
          <p:cNvSpPr/>
          <p:nvPr/>
        </p:nvSpPr>
        <p:spPr>
          <a:xfrm>
            <a:off x="9052560" y="1691640"/>
            <a:ext cx="457200" cy="457200"/>
          </a:xfrm>
          <a:prstGeom prst="ellipse">
            <a:avLst/>
          </a:prstGeom>
          <a:solidFill>
            <a:srgbClr val="F2A60C"/>
          </a:solidFill>
          <a:ln w="15875">
            <a:solidFill>
              <a:srgbClr val="F2A60C"/>
            </a:solidFill>
            <a:prstDash val="solid"/>
          </a:ln>
        </p:spPr>
      </p:sp>
      <p:sp>
        <p:nvSpPr>
          <p:cNvPr id="25" name="Text 23"/>
          <p:cNvSpPr txBox="1"/>
          <p:nvPr/>
        </p:nvSpPr>
        <p:spPr>
          <a:xfrm>
            <a:off x="9052560" y="1691640"/>
            <a:ext cx="457200" cy="457200"/>
          </a:xfrm>
          <a:prstGeom prst="rect">
            <a:avLst/>
          </a:prstGeom>
          <a:noFill/>
          <a:ln/>
        </p:spPr>
        <p:txBody>
          <a:bodyPr wrap="square" lIns="0" tIns="0" rIns="0" bIns="0" rtlCol="0" anchor="ctr"/>
          <a:lstStyle/>
          <a:p>
            <a:pPr algn="ctr" indent="0" marL="0">
              <a:buNone/>
            </a:pPr>
            <a:r>
              <a:rPr lang="en-US" sz="1300" b="1" dirty="0">
                <a:solidFill>
                  <a:srgbClr val="09090E"/>
                </a:solidFill>
                <a:latin typeface="Calibri" pitchFamily="34" charset="0"/>
                <a:ea typeface="Calibri" pitchFamily="34" charset="-122"/>
                <a:cs typeface="Calibri" pitchFamily="34" charset="-120"/>
              </a:rPr>
              <a:t>6</a:t>
            </a:r>
            <a:endParaRPr lang="en-US" sz="1300" dirty="0"/>
          </a:p>
        </p:txBody>
      </p:sp>
      <p:sp>
        <p:nvSpPr>
          <p:cNvPr id="26" name="Text 24"/>
          <p:cNvSpPr txBox="1"/>
          <p:nvPr/>
        </p:nvSpPr>
        <p:spPr>
          <a:xfrm>
            <a:off x="85496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Human review</a:t>
            </a:r>
            <a:endParaRPr lang="en-US" sz="1200" dirty="0"/>
          </a:p>
        </p:txBody>
      </p:sp>
      <p:sp>
        <p:nvSpPr>
          <p:cNvPr id="27" name="Shape 25"/>
          <p:cNvSpPr/>
          <p:nvPr/>
        </p:nvSpPr>
        <p:spPr>
          <a:xfrm>
            <a:off x="9573768" y="1920240"/>
            <a:ext cx="1097280" cy="0"/>
          </a:xfrm>
          <a:prstGeom prst="line">
            <a:avLst/>
          </a:prstGeom>
          <a:noFill/>
          <a:ln w="19050">
            <a:solidFill>
              <a:srgbClr val="32323E"/>
            </a:solidFill>
            <a:prstDash val="solid"/>
          </a:ln>
        </p:spPr>
      </p:sp>
      <p:sp>
        <p:nvSpPr>
          <p:cNvPr id="28" name="Shape 26"/>
          <p:cNvSpPr/>
          <p:nvPr/>
        </p:nvSpPr>
        <p:spPr>
          <a:xfrm>
            <a:off x="10652760" y="1691640"/>
            <a:ext cx="457200" cy="457200"/>
          </a:xfrm>
          <a:prstGeom prst="ellipse">
            <a:avLst/>
          </a:prstGeom>
          <a:solidFill>
            <a:srgbClr val="1F1F29"/>
          </a:solidFill>
          <a:ln w="15875">
            <a:solidFill>
              <a:srgbClr val="A79DFF"/>
            </a:solidFill>
            <a:prstDash val="solid"/>
          </a:ln>
        </p:spPr>
      </p:sp>
      <p:sp>
        <p:nvSpPr>
          <p:cNvPr id="29" name="Text 27"/>
          <p:cNvSpPr txBox="1"/>
          <p:nvPr/>
        </p:nvSpPr>
        <p:spPr>
          <a:xfrm>
            <a:off x="106527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7</a:t>
            </a:r>
            <a:endParaRPr lang="en-US" sz="1300" dirty="0"/>
          </a:p>
        </p:txBody>
      </p:sp>
      <p:sp>
        <p:nvSpPr>
          <p:cNvPr id="30" name="Text 28"/>
          <p:cNvSpPr txBox="1"/>
          <p:nvPr/>
        </p:nvSpPr>
        <p:spPr>
          <a:xfrm>
            <a:off x="101498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Knowledge base</a:t>
            </a:r>
            <a:endParaRPr lang="en-US" sz="1200" dirty="0"/>
          </a:p>
        </p:txBody>
      </p:sp>
      <p:sp>
        <p:nvSpPr>
          <p:cNvPr id="31" name="Shape 29"/>
          <p:cNvSpPr/>
          <p:nvPr/>
        </p:nvSpPr>
        <p:spPr>
          <a:xfrm>
            <a:off x="548640" y="2871216"/>
            <a:ext cx="5687568" cy="3247263"/>
          </a:xfrm>
          <a:prstGeom prst="roundRect">
            <a:avLst>
              <a:gd name="adj" fmla="val 845"/>
            </a:avLst>
          </a:prstGeom>
          <a:solidFill>
            <a:srgbClr val="121219"/>
          </a:solidFill>
          <a:ln w="12700">
            <a:solidFill>
              <a:srgbClr val="32323E"/>
            </a:solidFill>
            <a:prstDash val="solid"/>
          </a:ln>
        </p:spPr>
      </p:sp>
      <p:pic>
        <p:nvPicPr>
          <p:cNvPr id="32" name="Image 0" descr="C:\Users\aryab\OneDrive\Desktop\sihps2\docs\screenshots\11-document-review.png">    </p:cNvPr>
          <p:cNvPicPr>
            <a:picLocks noChangeAspect="1"/>
          </p:cNvPicPr>
          <p:nvPr/>
        </p:nvPicPr>
        <p:blipFill>
          <a:blip r:embed="rId1"/>
          <a:stretch>
            <a:fillRect/>
          </a:stretch>
        </p:blipFill>
        <p:spPr>
          <a:xfrm>
            <a:off x="603504" y="2926080"/>
            <a:ext cx="5577840" cy="3137535"/>
          </a:xfrm>
          <a:prstGeom prst="rect">
            <a:avLst/>
          </a:prstGeom>
        </p:spPr>
      </p:pic>
      <p:sp>
        <p:nvSpPr>
          <p:cNvPr id="33" name="Text 30"/>
          <p:cNvSpPr txBox="1"/>
          <p:nvPr/>
        </p:nvSpPr>
        <p:spPr>
          <a:xfrm>
            <a:off x="6583680" y="2971800"/>
            <a:ext cx="4983480" cy="29260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Text-layer PDFs, plus scanned PDFs and images read by Tesseract OCR (per-page word confidence)</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Rule-based NLP finds losses, sticking, kicks, torque, cementing, NPT with depth, formation, cause, mitigation</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Confidence scoring; &lt; 75% flagged for human review</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Duplicate check against the knowledge base — the sample report's torque rise matches an existing record</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Nothing is saved until an engineer approves it — then it is searchable and used by the risk engine</a:t>
            </a:r>
            <a:endParaRPr lang="en-US" sz="1350" dirty="0"/>
          </a:p>
        </p:txBody>
      </p:sp>
      <p:sp>
        <p:nvSpPr>
          <p:cNvPr id="34" name="Text 3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35" name="Text 32"/>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PROVEN ON REAL RECORDS</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The same pipeline on real operator well histories</a:t>
            </a:r>
            <a:endParaRPr lang="en-US" sz="3200" dirty="0"/>
          </a:p>
        </p:txBody>
      </p:sp>
      <p:sp>
        <p:nvSpPr>
          <p:cNvPr id="4" name="Shape 2"/>
          <p:cNvSpPr/>
          <p:nvPr/>
        </p:nvSpPr>
        <p:spPr>
          <a:xfrm>
            <a:off x="548640" y="1545336"/>
            <a:ext cx="7516368" cy="4275963"/>
          </a:xfrm>
          <a:prstGeom prst="roundRect">
            <a:avLst>
              <a:gd name="adj" fmla="val 642"/>
            </a:avLst>
          </a:prstGeom>
          <a:solidFill>
            <a:srgbClr val="121219"/>
          </a:solidFill>
          <a:ln w="12700">
            <a:solidFill>
              <a:srgbClr val="32323E"/>
            </a:solidFill>
            <a:prstDash val="solid"/>
          </a:ln>
        </p:spPr>
      </p:sp>
      <p:pic>
        <p:nvPicPr>
          <p:cNvPr id="5" name="Image 0" descr="C:\Users\aryab\OneDrive\Desktop\sihps2\docs\screenshots\21-real-data-proof.png">    </p:cNvPr>
          <p:cNvPicPr>
            <a:picLocks noChangeAspect="1"/>
          </p:cNvPicPr>
          <p:nvPr/>
        </p:nvPicPr>
        <p:blipFill>
          <a:blip r:embed="rId1"/>
          <a:stretch>
            <a:fillRect/>
          </a:stretch>
        </p:blipFill>
        <p:spPr>
          <a:xfrm>
            <a:off x="603504" y="1600200"/>
            <a:ext cx="7406640" cy="4166235"/>
          </a:xfrm>
          <a:prstGeom prst="rect">
            <a:avLst/>
          </a:prstGeom>
        </p:spPr>
      </p:pic>
      <p:sp>
        <p:nvSpPr>
          <p:cNvPr id="6" name="Shape 3"/>
          <p:cNvSpPr/>
          <p:nvPr/>
        </p:nvSpPr>
        <p:spPr>
          <a:xfrm>
            <a:off x="8321040" y="1572768"/>
            <a:ext cx="3291840" cy="1207008"/>
          </a:xfrm>
          <a:prstGeom prst="roundRect">
            <a:avLst>
              <a:gd name="adj" fmla="val 2273"/>
            </a:avLst>
          </a:prstGeom>
          <a:solidFill>
            <a:srgbClr val="121219"/>
          </a:solidFill>
          <a:ln w="12700">
            <a:solidFill>
              <a:srgbClr val="32323E"/>
            </a:solidFill>
            <a:prstDash val="solid"/>
          </a:ln>
        </p:spPr>
      </p:sp>
      <p:sp>
        <p:nvSpPr>
          <p:cNvPr id="7" name="Text 4"/>
          <p:cNvSpPr txBox="1"/>
          <p:nvPr/>
        </p:nvSpPr>
        <p:spPr>
          <a:xfrm>
            <a:off x="8549640" y="1682496"/>
            <a:ext cx="2926080" cy="457200"/>
          </a:xfrm>
          <a:prstGeom prst="rect">
            <a:avLst/>
          </a:prstGeom>
          <a:noFill/>
          <a:ln/>
        </p:spPr>
        <p:txBody>
          <a:bodyPr wrap="square" lIns="0" tIns="0" rIns="0" bIns="0" rtlCol="0" anchor="t"/>
          <a:lstStyle/>
          <a:p>
            <a:pPr indent="0" marL="0">
              <a:buNone/>
            </a:pPr>
            <a:r>
              <a:rPr lang="en-US" sz="2400" b="1" dirty="0">
                <a:solidFill>
                  <a:srgbClr val="F2A60C"/>
                </a:solidFill>
                <a:latin typeface="Consolas" pitchFamily="34" charset="0"/>
                <a:ea typeface="Consolas" pitchFamily="34" charset="-122"/>
                <a:cs typeface="Consolas" pitchFamily="34" charset="-120"/>
              </a:rPr>
              <a:t>1,970</a:t>
            </a:r>
            <a:endParaRPr lang="en-US" sz="2400" dirty="0"/>
          </a:p>
        </p:txBody>
      </p:sp>
      <p:sp>
        <p:nvSpPr>
          <p:cNvPr id="8" name="Text 5"/>
          <p:cNvSpPr txBox="1"/>
          <p:nvPr/>
        </p:nvSpPr>
        <p:spPr>
          <a:xfrm>
            <a:off x="8549640" y="2139696"/>
            <a:ext cx="2926080" cy="274320"/>
          </a:xfrm>
          <a:prstGeom prst="rect">
            <a:avLst/>
          </a:prstGeom>
          <a:noFill/>
          <a:ln/>
        </p:spPr>
        <p:txBody>
          <a:bodyPr wrap="square" lIns="0" tIns="0" rIns="0" bIns="0" rtlCol="0" anchor="t"/>
          <a:lstStyle/>
          <a:p>
            <a:pPr indent="0" marL="0">
              <a:buNone/>
            </a:pPr>
            <a:r>
              <a:rPr lang="en-US" sz="1250" b="1" dirty="0">
                <a:solidFill>
                  <a:srgbClr val="F5F5F8"/>
                </a:solidFill>
                <a:latin typeface="Calibri" pitchFamily="34" charset="0"/>
                <a:ea typeface="Calibri" pitchFamily="34" charset="-122"/>
                <a:cs typeface="Calibri" pitchFamily="34" charset="-120"/>
              </a:rPr>
              <a:t>public well histories read</a:t>
            </a:r>
            <a:endParaRPr lang="en-US" sz="1250" dirty="0"/>
          </a:p>
        </p:txBody>
      </p:sp>
      <p:sp>
        <p:nvSpPr>
          <p:cNvPr id="9" name="Text 6"/>
          <p:cNvSpPr txBox="1"/>
          <p:nvPr/>
        </p:nvSpPr>
        <p:spPr>
          <a:xfrm>
            <a:off x="8549640" y="2395728"/>
            <a:ext cx="2926080" cy="365760"/>
          </a:xfrm>
          <a:prstGeom prst="rect">
            <a:avLst/>
          </a:prstGeom>
          <a:noFill/>
          <a:ln/>
        </p:spPr>
        <p:txBody>
          <a:bodyPr wrap="square" lIns="0" tIns="0" rIns="0" bIns="0" rtlCol="0" anchor="t"/>
          <a:lstStyle/>
          <a:p>
            <a:pPr indent="0" marL="0">
              <a:buNone/>
            </a:pPr>
            <a:r>
              <a:rPr lang="en-US" sz="1000" dirty="0">
                <a:solidFill>
                  <a:srgbClr val="C4C6D2"/>
                </a:solidFill>
                <a:latin typeface="Calibri" pitchFamily="34" charset="0"/>
                <a:ea typeface="Calibri" pitchFamily="34" charset="-122"/>
                <a:cs typeface="Calibri" pitchFamily="34" charset="-120"/>
              </a:rPr>
              <a:t>783k words · 3.8 s</a:t>
            </a:r>
            <a:endParaRPr lang="en-US" sz="1000" dirty="0"/>
          </a:p>
        </p:txBody>
      </p:sp>
      <p:sp>
        <p:nvSpPr>
          <p:cNvPr id="10" name="Shape 7"/>
          <p:cNvSpPr/>
          <p:nvPr/>
        </p:nvSpPr>
        <p:spPr>
          <a:xfrm>
            <a:off x="8321040" y="2944368"/>
            <a:ext cx="3291840" cy="1207008"/>
          </a:xfrm>
          <a:prstGeom prst="roundRect">
            <a:avLst>
              <a:gd name="adj" fmla="val 2273"/>
            </a:avLst>
          </a:prstGeom>
          <a:solidFill>
            <a:srgbClr val="121219"/>
          </a:solidFill>
          <a:ln w="12700">
            <a:solidFill>
              <a:srgbClr val="32323E"/>
            </a:solidFill>
            <a:prstDash val="solid"/>
          </a:ln>
        </p:spPr>
      </p:sp>
      <p:sp>
        <p:nvSpPr>
          <p:cNvPr id="11" name="Text 8"/>
          <p:cNvSpPr txBox="1"/>
          <p:nvPr/>
        </p:nvSpPr>
        <p:spPr>
          <a:xfrm>
            <a:off x="8549640" y="3054096"/>
            <a:ext cx="2926080" cy="457200"/>
          </a:xfrm>
          <a:prstGeom prst="rect">
            <a:avLst/>
          </a:prstGeom>
          <a:noFill/>
          <a:ln/>
        </p:spPr>
        <p:txBody>
          <a:bodyPr wrap="square" lIns="0" tIns="0" rIns="0" bIns="0" rtlCol="0" anchor="t"/>
          <a:lstStyle/>
          <a:p>
            <a:pPr indent="0" marL="0">
              <a:buNone/>
            </a:pPr>
            <a:r>
              <a:rPr lang="en-US" sz="2400" b="1" dirty="0">
                <a:solidFill>
                  <a:srgbClr val="F2A60C"/>
                </a:solidFill>
                <a:latin typeface="Consolas" pitchFamily="34" charset="0"/>
                <a:ea typeface="Consolas" pitchFamily="34" charset="-122"/>
                <a:cs typeface="Consolas" pitchFamily="34" charset="-120"/>
              </a:rPr>
              <a:t>611</a:t>
            </a:r>
            <a:endParaRPr lang="en-US" sz="2400" dirty="0"/>
          </a:p>
        </p:txBody>
      </p:sp>
      <p:sp>
        <p:nvSpPr>
          <p:cNvPr id="12" name="Text 9"/>
          <p:cNvSpPr txBox="1"/>
          <p:nvPr/>
        </p:nvSpPr>
        <p:spPr>
          <a:xfrm>
            <a:off x="8549640" y="3511296"/>
            <a:ext cx="2926080" cy="274320"/>
          </a:xfrm>
          <a:prstGeom prst="rect">
            <a:avLst/>
          </a:prstGeom>
          <a:noFill/>
          <a:ln/>
        </p:spPr>
        <p:txBody>
          <a:bodyPr wrap="square" lIns="0" tIns="0" rIns="0" bIns="0" rtlCol="0" anchor="t"/>
          <a:lstStyle/>
          <a:p>
            <a:pPr indent="0" marL="0">
              <a:buNone/>
            </a:pPr>
            <a:r>
              <a:rPr lang="en-US" sz="1250" b="1" dirty="0">
                <a:solidFill>
                  <a:srgbClr val="F5F5F8"/>
                </a:solidFill>
                <a:latin typeface="Calibri" pitchFamily="34" charset="0"/>
                <a:ea typeface="Calibri" pitchFamily="34" charset="-122"/>
                <a:cs typeface="Calibri" pitchFamily="34" charset="-120"/>
              </a:rPr>
              <a:t>drilling problems found</a:t>
            </a:r>
            <a:endParaRPr lang="en-US" sz="1250" dirty="0"/>
          </a:p>
        </p:txBody>
      </p:sp>
      <p:sp>
        <p:nvSpPr>
          <p:cNvPr id="13" name="Text 10"/>
          <p:cNvSpPr txBox="1"/>
          <p:nvPr/>
        </p:nvSpPr>
        <p:spPr>
          <a:xfrm>
            <a:off x="8549640" y="3767328"/>
            <a:ext cx="2926080" cy="365760"/>
          </a:xfrm>
          <a:prstGeom prst="rect">
            <a:avLst/>
          </a:prstGeom>
          <a:noFill/>
          <a:ln/>
        </p:spPr>
        <p:txBody>
          <a:bodyPr wrap="square" lIns="0" tIns="0" rIns="0" bIns="0" rtlCol="0" anchor="t"/>
          <a:lstStyle/>
          <a:p>
            <a:pPr indent="0" marL="0">
              <a:buNone/>
            </a:pPr>
            <a:r>
              <a:rPr lang="en-US" sz="1000" dirty="0">
                <a:solidFill>
                  <a:srgbClr val="C4C6D2"/>
                </a:solidFill>
                <a:latin typeface="Calibri" pitchFamily="34" charset="0"/>
                <a:ea typeface="Calibri" pitchFamily="34" charset="-122"/>
                <a:cs typeface="Calibri" pitchFamily="34" charset="-120"/>
              </a:rPr>
              <a:t>in 475 wellbores, each tied to its sentence</a:t>
            </a:r>
            <a:endParaRPr lang="en-US" sz="1000" dirty="0"/>
          </a:p>
        </p:txBody>
      </p:sp>
      <p:sp>
        <p:nvSpPr>
          <p:cNvPr id="14" name="Shape 11"/>
          <p:cNvSpPr/>
          <p:nvPr/>
        </p:nvSpPr>
        <p:spPr>
          <a:xfrm>
            <a:off x="8321040" y="4315968"/>
            <a:ext cx="3291840" cy="1207008"/>
          </a:xfrm>
          <a:prstGeom prst="roundRect">
            <a:avLst>
              <a:gd name="adj" fmla="val 2273"/>
            </a:avLst>
          </a:prstGeom>
          <a:solidFill>
            <a:srgbClr val="121219"/>
          </a:solidFill>
          <a:ln w="12700">
            <a:solidFill>
              <a:srgbClr val="32323E"/>
            </a:solidFill>
            <a:prstDash val="solid"/>
          </a:ln>
        </p:spPr>
      </p:sp>
      <p:sp>
        <p:nvSpPr>
          <p:cNvPr id="15" name="Text 12"/>
          <p:cNvSpPr txBox="1"/>
          <p:nvPr/>
        </p:nvSpPr>
        <p:spPr>
          <a:xfrm>
            <a:off x="8549640" y="4425696"/>
            <a:ext cx="2926080" cy="457200"/>
          </a:xfrm>
          <a:prstGeom prst="rect">
            <a:avLst/>
          </a:prstGeom>
          <a:noFill/>
          <a:ln/>
        </p:spPr>
        <p:txBody>
          <a:bodyPr wrap="square" lIns="0" tIns="0" rIns="0" bIns="0" rtlCol="0" anchor="t"/>
          <a:lstStyle/>
          <a:p>
            <a:pPr indent="0" marL="0">
              <a:buNone/>
            </a:pPr>
            <a:r>
              <a:rPr lang="en-US" sz="2400" b="1" dirty="0">
                <a:solidFill>
                  <a:srgbClr val="12A679"/>
                </a:solidFill>
                <a:latin typeface="Consolas" pitchFamily="34" charset="0"/>
                <a:ea typeface="Consolas" pitchFamily="34" charset="-122"/>
                <a:cs typeface="Consolas" pitchFamily="34" charset="-120"/>
              </a:rPr>
              <a:t>94%</a:t>
            </a:r>
            <a:endParaRPr lang="en-US" sz="2400" dirty="0"/>
          </a:p>
        </p:txBody>
      </p:sp>
      <p:sp>
        <p:nvSpPr>
          <p:cNvPr id="16" name="Text 13"/>
          <p:cNvSpPr txBox="1"/>
          <p:nvPr/>
        </p:nvSpPr>
        <p:spPr>
          <a:xfrm>
            <a:off x="8549640" y="4882896"/>
            <a:ext cx="2926080" cy="274320"/>
          </a:xfrm>
          <a:prstGeom prst="rect">
            <a:avLst/>
          </a:prstGeom>
          <a:noFill/>
          <a:ln/>
        </p:spPr>
        <p:txBody>
          <a:bodyPr wrap="square" lIns="0" tIns="0" rIns="0" bIns="0" rtlCol="0" anchor="t"/>
          <a:lstStyle/>
          <a:p>
            <a:pPr indent="0" marL="0">
              <a:buNone/>
            </a:pPr>
            <a:r>
              <a:rPr lang="en-US" sz="1250" b="1" dirty="0">
                <a:solidFill>
                  <a:srgbClr val="F5F5F8"/>
                </a:solidFill>
                <a:latin typeface="Calibri" pitchFamily="34" charset="0"/>
                <a:ea typeface="Calibri" pitchFamily="34" charset="-122"/>
                <a:cs typeface="Calibri" pitchFamily="34" charset="-120"/>
              </a:rPr>
              <a:t>held-out precision</a:t>
            </a:r>
            <a:endParaRPr lang="en-US" sz="1250" dirty="0"/>
          </a:p>
        </p:txBody>
      </p:sp>
      <p:sp>
        <p:nvSpPr>
          <p:cNvPr id="17" name="Text 14"/>
          <p:cNvSpPr txBox="1"/>
          <p:nvPr/>
        </p:nvSpPr>
        <p:spPr>
          <a:xfrm>
            <a:off x="8549640" y="5138928"/>
            <a:ext cx="2926080" cy="365760"/>
          </a:xfrm>
          <a:prstGeom prst="rect">
            <a:avLst/>
          </a:prstGeom>
          <a:noFill/>
          <a:ln/>
        </p:spPr>
        <p:txBody>
          <a:bodyPr wrap="square" lIns="0" tIns="0" rIns="0" bIns="0" rtlCol="0" anchor="t"/>
          <a:lstStyle/>
          <a:p>
            <a:pPr indent="0" marL="0">
              <a:buNone/>
            </a:pPr>
            <a:r>
              <a:rPr lang="en-US" sz="1000" dirty="0">
                <a:solidFill>
                  <a:srgbClr val="C4C6D2"/>
                </a:solidFill>
                <a:latin typeface="Calibri" pitchFamily="34" charset="0"/>
                <a:ea typeface="Calibri" pitchFamily="34" charset="-122"/>
                <a:cs typeface="Calibri" pitchFamily="34" charset="-120"/>
              </a:rPr>
              <a:t>hand-checked on 50 wells the rules never saw · depth right 94%</a:t>
            </a:r>
            <a:endParaRPr lang="en-US" sz="1000" dirty="0"/>
          </a:p>
        </p:txBody>
      </p:sp>
      <p:sp>
        <p:nvSpPr>
          <p:cNvPr id="18" name="Text 15"/>
          <p:cNvSpPr txBox="1"/>
          <p:nvPr/>
        </p:nvSpPr>
        <p:spPr>
          <a:xfrm>
            <a:off x="603504" y="5897880"/>
            <a:ext cx="10881360" cy="457200"/>
          </a:xfrm>
          <a:prstGeom prst="rect">
            <a:avLst/>
          </a:prstGeom>
          <a:noFill/>
          <a:ln/>
        </p:spPr>
        <p:txBody>
          <a:bodyPr wrap="square" lIns="0" tIns="0" rIns="0" bIns="0" rtlCol="0" anchor="t"/>
          <a:lstStyle/>
          <a:p>
            <a:pPr indent="0" marL="0">
              <a:buNone/>
            </a:pPr>
            <a:r>
              <a:rPr lang="en-US" sz="1100" dirty="0">
                <a:solidFill>
                  <a:srgbClr val="8C8FA1"/>
                </a:solidFill>
                <a:latin typeface="Calibri" pitchFamily="34" charset="0"/>
                <a:ea typeface="Calibri" pitchFamily="34" charset="-122"/>
                <a:cs typeface="Calibri" pitchFamily="34" charset="-120"/>
              </a:rPr>
              <a:t>Norwegian Offshore Directorate FactPages (NLOD 2.0): real formation tops, mud weights and leak-off tests drive the same offset analysis. Real data made the NLP better: kick-off ≠ kick, negation, depth nearest the trigger.</a:t>
            </a:r>
            <a:endParaRPr lang="en-US" sz="1100" dirty="0"/>
          </a:p>
        </p:txBody>
      </p:sp>
      <p:sp>
        <p:nvSpPr>
          <p:cNvPr id="19" name="Text 1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7"/>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ARCHITECTURE &amp; INTEGRATION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Built to plug into OIL's systems</a:t>
            </a:r>
            <a:endParaRPr lang="en-US" sz="3200" dirty="0"/>
          </a:p>
        </p:txBody>
      </p:sp>
      <p:sp>
        <p:nvSpPr>
          <p:cNvPr id="4" name="Shape 2"/>
          <p:cNvSpPr/>
          <p:nvPr/>
        </p:nvSpPr>
        <p:spPr>
          <a:xfrm>
            <a:off x="548640" y="1691640"/>
            <a:ext cx="2514600" cy="3291840"/>
          </a:xfrm>
          <a:prstGeom prst="roundRect">
            <a:avLst>
              <a:gd name="adj" fmla="val 1091"/>
            </a:avLst>
          </a:prstGeom>
          <a:solidFill>
            <a:srgbClr val="121219"/>
          </a:solidFill>
          <a:ln w="12700">
            <a:solidFill>
              <a:srgbClr val="32323E"/>
            </a:solidFill>
            <a:prstDash val="solid"/>
          </a:ln>
        </p:spPr>
      </p:sp>
      <p:sp>
        <p:nvSpPr>
          <p:cNvPr id="5" name="Text 3"/>
          <p:cNvSpPr txBox="1"/>
          <p:nvPr/>
        </p:nvSpPr>
        <p:spPr>
          <a:xfrm>
            <a:off x="777240" y="1874520"/>
            <a:ext cx="2103120" cy="365760"/>
          </a:xfrm>
          <a:prstGeom prst="rect">
            <a:avLst/>
          </a:prstGeom>
          <a:noFill/>
          <a:ln/>
        </p:spPr>
        <p:txBody>
          <a:bodyPr wrap="square" lIns="0" tIns="0" rIns="0" bIns="0" rtlCol="0" anchor="t"/>
          <a:lstStyle/>
          <a:p>
            <a:pPr indent="0" marL="0">
              <a:buNone/>
            </a:pPr>
            <a:r>
              <a:rPr lang="en-US" sz="1500" b="1" dirty="0">
                <a:solidFill>
                  <a:srgbClr val="A79DFF"/>
                </a:solidFill>
                <a:latin typeface="Calibri" pitchFamily="34" charset="0"/>
                <a:ea typeface="Calibri" pitchFamily="34" charset="-122"/>
                <a:cs typeface="Calibri" pitchFamily="34" charset="-120"/>
              </a:rPr>
              <a:t>Sources</a:t>
            </a:r>
            <a:endParaRPr lang="en-US" sz="1500" dirty="0"/>
          </a:p>
        </p:txBody>
      </p:sp>
      <p:sp>
        <p:nvSpPr>
          <p:cNvPr id="6" name="Text 4"/>
          <p:cNvSpPr txBox="1"/>
          <p:nvPr/>
        </p:nvSpPr>
        <p:spPr>
          <a:xfrm>
            <a:off x="77724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DDR · WCR · mud logs</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eRTMAC parameter stream</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Surveys · formation tops</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Casing &amp; mud programmes</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Public: Sodir FactPages</a:t>
            </a:r>
            <a:endParaRPr lang="en-US" sz="1250" dirty="0"/>
          </a:p>
        </p:txBody>
      </p:sp>
      <p:sp>
        <p:nvSpPr>
          <p:cNvPr id="7" name="Text 5"/>
          <p:cNvSpPr txBox="1"/>
          <p:nvPr/>
        </p:nvSpPr>
        <p:spPr>
          <a:xfrm>
            <a:off x="3072384" y="3017520"/>
            <a:ext cx="310896" cy="457200"/>
          </a:xfrm>
          <a:prstGeom prst="rect">
            <a:avLst/>
          </a:prstGeom>
          <a:noFill/>
          <a:ln/>
        </p:spPr>
        <p:txBody>
          <a:bodyPr wrap="square" lIns="0" tIns="0" rIns="0" bIns="0" rtlCol="0" anchor="t"/>
          <a:lstStyle/>
          <a:p>
            <a:pPr algn="ctr" indent="0" marL="0">
              <a:buNone/>
            </a:pPr>
            <a:r>
              <a:rPr lang="en-US" sz="2400" b="1" dirty="0">
                <a:solidFill>
                  <a:srgbClr val="A79DFF"/>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3383280" y="1691640"/>
            <a:ext cx="2514600" cy="3291840"/>
          </a:xfrm>
          <a:prstGeom prst="roundRect">
            <a:avLst>
              <a:gd name="adj" fmla="val 1091"/>
            </a:avLst>
          </a:prstGeom>
          <a:solidFill>
            <a:srgbClr val="1F1F29"/>
          </a:solidFill>
          <a:ln w="12700">
            <a:solidFill>
              <a:srgbClr val="32323E"/>
            </a:solidFill>
            <a:prstDash val="solid"/>
          </a:ln>
        </p:spPr>
      </p:sp>
      <p:sp>
        <p:nvSpPr>
          <p:cNvPr id="9" name="Text 7"/>
          <p:cNvSpPr txBox="1"/>
          <p:nvPr/>
        </p:nvSpPr>
        <p:spPr>
          <a:xfrm>
            <a:off x="3611880" y="1874520"/>
            <a:ext cx="2103120" cy="365760"/>
          </a:xfrm>
          <a:prstGeom prst="rect">
            <a:avLst/>
          </a:prstGeom>
          <a:noFill/>
          <a:ln/>
        </p:spPr>
        <p:txBody>
          <a:bodyPr wrap="square" lIns="0" tIns="0" rIns="0" bIns="0" rtlCol="0" anchor="t"/>
          <a:lstStyle/>
          <a:p>
            <a:pPr indent="0" marL="0">
              <a:buNone/>
            </a:pPr>
            <a:r>
              <a:rPr lang="en-US" sz="1500" b="1" dirty="0">
                <a:solidFill>
                  <a:srgbClr val="A79DFF"/>
                </a:solidFill>
                <a:latin typeface="Calibri" pitchFamily="34" charset="0"/>
                <a:ea typeface="Calibri" pitchFamily="34" charset="-122"/>
                <a:cs typeface="Calibri" pitchFamily="34" charset="-120"/>
              </a:rPr>
              <a:t>NWIS services (FastAPI)</a:t>
            </a:r>
            <a:endParaRPr lang="en-US" sz="1500" dirty="0"/>
          </a:p>
        </p:txBody>
      </p:sp>
      <p:sp>
        <p:nvSpPr>
          <p:cNvPr id="10" name="Text 8"/>
          <p:cNvSpPr txBox="1"/>
          <p:nvPr/>
        </p:nvSpPr>
        <p:spPr>
          <a:xfrm>
            <a:off x="361188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Document pipeline</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Knowledge base (SQL)</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Hybrid evidence search</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Explainable risk engine</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Well similarity</a:t>
            </a:r>
            <a:endParaRPr lang="en-US" sz="1250" dirty="0"/>
          </a:p>
        </p:txBody>
      </p:sp>
      <p:sp>
        <p:nvSpPr>
          <p:cNvPr id="11" name="Text 9"/>
          <p:cNvSpPr txBox="1"/>
          <p:nvPr/>
        </p:nvSpPr>
        <p:spPr>
          <a:xfrm>
            <a:off x="5907024" y="3017520"/>
            <a:ext cx="310896" cy="457200"/>
          </a:xfrm>
          <a:prstGeom prst="rect">
            <a:avLst/>
          </a:prstGeom>
          <a:noFill/>
          <a:ln/>
        </p:spPr>
        <p:txBody>
          <a:bodyPr wrap="square" lIns="0" tIns="0" rIns="0" bIns="0" rtlCol="0" anchor="t"/>
          <a:lstStyle/>
          <a:p>
            <a:pPr algn="ctr" indent="0" marL="0">
              <a:buNone/>
            </a:pPr>
            <a:r>
              <a:rPr lang="en-US" sz="2400" b="1" dirty="0">
                <a:solidFill>
                  <a:srgbClr val="A79DFF"/>
                </a:solidFill>
                <a:latin typeface="Calibri" pitchFamily="34" charset="0"/>
                <a:ea typeface="Calibri" pitchFamily="34" charset="-122"/>
                <a:cs typeface="Calibri" pitchFamily="34" charset="-120"/>
              </a:rPr>
              <a:t>→</a:t>
            </a:r>
            <a:endParaRPr lang="en-US" sz="2400" dirty="0"/>
          </a:p>
        </p:txBody>
      </p:sp>
      <p:sp>
        <p:nvSpPr>
          <p:cNvPr id="12" name="Shape 10"/>
          <p:cNvSpPr/>
          <p:nvPr/>
        </p:nvSpPr>
        <p:spPr>
          <a:xfrm>
            <a:off x="6217920" y="1691640"/>
            <a:ext cx="2514600" cy="3291840"/>
          </a:xfrm>
          <a:prstGeom prst="roundRect">
            <a:avLst>
              <a:gd name="adj" fmla="val 1091"/>
            </a:avLst>
          </a:prstGeom>
          <a:solidFill>
            <a:srgbClr val="121219"/>
          </a:solidFill>
          <a:ln w="12700">
            <a:solidFill>
              <a:srgbClr val="32323E"/>
            </a:solidFill>
            <a:prstDash val="solid"/>
          </a:ln>
        </p:spPr>
      </p:sp>
      <p:sp>
        <p:nvSpPr>
          <p:cNvPr id="13" name="Text 11"/>
          <p:cNvSpPr txBox="1"/>
          <p:nvPr/>
        </p:nvSpPr>
        <p:spPr>
          <a:xfrm>
            <a:off x="6446520" y="1874520"/>
            <a:ext cx="2103120" cy="365760"/>
          </a:xfrm>
          <a:prstGeom prst="rect">
            <a:avLst/>
          </a:prstGeom>
          <a:noFill/>
          <a:ln/>
        </p:spPr>
        <p:txBody>
          <a:bodyPr wrap="square" lIns="0" tIns="0" rIns="0" bIns="0" rtlCol="0" anchor="t"/>
          <a:lstStyle/>
          <a:p>
            <a:pPr indent="0" marL="0">
              <a:buNone/>
            </a:pPr>
            <a:r>
              <a:rPr lang="en-US" sz="1500" b="1" dirty="0">
                <a:solidFill>
                  <a:srgbClr val="A79DFF"/>
                </a:solidFill>
                <a:latin typeface="Calibri" pitchFamily="34" charset="0"/>
                <a:ea typeface="Calibri" pitchFamily="34" charset="-122"/>
                <a:cs typeface="Calibri" pitchFamily="34" charset="-120"/>
              </a:rPr>
              <a:t>Cockpit (Next.js)</a:t>
            </a:r>
            <a:endParaRPr lang="en-US" sz="1500" dirty="0"/>
          </a:p>
        </p:txBody>
      </p:sp>
      <p:sp>
        <p:nvSpPr>
          <p:cNvPr id="14" name="Text 12"/>
          <p:cNvSpPr txBox="1"/>
          <p:nvPr/>
        </p:nvSpPr>
        <p:spPr>
          <a:xfrm>
            <a:off x="644652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Command Center + Subsurface 3D</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Look-ahead brief</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Well Intelligence &amp; Compare</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Evidence Search</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Risk Explorer</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Document Intelligence</a:t>
            </a:r>
            <a:endParaRPr lang="en-US" sz="1250" dirty="0"/>
          </a:p>
        </p:txBody>
      </p:sp>
      <p:sp>
        <p:nvSpPr>
          <p:cNvPr id="15" name="Shape 13"/>
          <p:cNvSpPr/>
          <p:nvPr/>
        </p:nvSpPr>
        <p:spPr>
          <a:xfrm>
            <a:off x="9098280" y="1691640"/>
            <a:ext cx="2514600" cy="3291840"/>
          </a:xfrm>
          <a:prstGeom prst="roundRect">
            <a:avLst>
              <a:gd name="adj" fmla="val 1091"/>
            </a:avLst>
          </a:prstGeom>
          <a:solidFill>
            <a:srgbClr val="1F1F29"/>
          </a:solidFill>
          <a:ln w="12700">
            <a:solidFill>
              <a:srgbClr val="32323E"/>
            </a:solidFill>
            <a:prstDash val="solid"/>
          </a:ln>
        </p:spPr>
      </p:sp>
      <p:sp>
        <p:nvSpPr>
          <p:cNvPr id="16" name="Text 14"/>
          <p:cNvSpPr txBox="1"/>
          <p:nvPr/>
        </p:nvSpPr>
        <p:spPr>
          <a:xfrm>
            <a:off x="9326880" y="1874520"/>
            <a:ext cx="2103120" cy="365760"/>
          </a:xfrm>
          <a:prstGeom prst="rect">
            <a:avLst/>
          </a:prstGeom>
          <a:noFill/>
          <a:ln/>
        </p:spPr>
        <p:txBody>
          <a:bodyPr wrap="square" lIns="0" tIns="0" rIns="0" bIns="0" rtlCol="0" anchor="t"/>
          <a:lstStyle/>
          <a:p>
            <a:pPr indent="0" marL="0">
              <a:buNone/>
            </a:pPr>
            <a:r>
              <a:rPr lang="en-US" sz="1500" b="1" dirty="0">
                <a:solidFill>
                  <a:srgbClr val="F2A60C"/>
                </a:solidFill>
                <a:latin typeface="Calibri" pitchFamily="34" charset="0"/>
                <a:ea typeface="Calibri" pitchFamily="34" charset="-122"/>
                <a:cs typeface="Calibri" pitchFamily="34" charset="-120"/>
              </a:rPr>
              <a:t>Production swap-ins</a:t>
            </a:r>
            <a:endParaRPr lang="en-US" sz="1500" dirty="0"/>
          </a:p>
        </p:txBody>
      </p:sp>
      <p:sp>
        <p:nvSpPr>
          <p:cNvPr id="17" name="Text 15"/>
          <p:cNvSpPr txBox="1"/>
          <p:nvPr/>
        </p:nvSpPr>
        <p:spPr>
          <a:xfrm>
            <a:off x="9326880" y="2377440"/>
            <a:ext cx="214884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eRTMAC / WITSML → same parameter schema</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OIL report archive → batch ingest</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PostgreSQL + pgvector</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Sentence-embedding model</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Grounded LLM answers</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SSO + role views</a:t>
            </a:r>
            <a:endParaRPr lang="en-US" sz="1200" dirty="0"/>
          </a:p>
        </p:txBody>
      </p:sp>
      <p:sp>
        <p:nvSpPr>
          <p:cNvPr id="18" name="Text 16"/>
          <p:cNvSpPr txBox="1"/>
          <p:nvPr/>
        </p:nvSpPr>
        <p:spPr>
          <a:xfrm>
            <a:off x="548640" y="5303520"/>
            <a:ext cx="11064240" cy="320040"/>
          </a:xfrm>
          <a:prstGeom prst="rect">
            <a:avLst/>
          </a:prstGeom>
          <a:noFill/>
          <a:ln/>
        </p:spPr>
        <p:txBody>
          <a:bodyPr wrap="square" lIns="0" tIns="0" rIns="0" bIns="0" rtlCol="0" anchor="t"/>
          <a:lstStyle/>
          <a:p>
            <a:pPr indent="0" marL="0">
              <a:buNone/>
            </a:pPr>
            <a:r>
              <a:rPr lang="en-US" sz="1300" dirty="0">
                <a:solidFill>
                  <a:srgbClr val="C4C6D2"/>
                </a:solidFill>
                <a:latin typeface="Calibri" pitchFamily="34" charset="0"/>
                <a:ea typeface="Calibri" pitchFamily="34" charset="-122"/>
                <a:cs typeface="Calibri" pitchFamily="34" charset="-120"/>
              </a:rPr>
              <a:t>Runs offline on a laptop · deterministic demo mode · REST API with OpenAPI docs · 22 API tests + an end-to-end scenario check</a:t>
            </a:r>
            <a:endParaRPr lang="en-US" sz="1300" dirty="0"/>
          </a:p>
        </p:txBody>
      </p:sp>
      <p:sp>
        <p:nvSpPr>
          <p:cNvPr id="19" name="Text 1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IMPACT &amp; NEXT STEPS</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Less time between a signal and the evidence</a:t>
            </a:r>
            <a:endParaRPr lang="en-US" sz="3200" dirty="0"/>
          </a:p>
        </p:txBody>
      </p:sp>
      <p:sp>
        <p:nvSpPr>
          <p:cNvPr id="4" name="Shape 2"/>
          <p:cNvSpPr/>
          <p:nvPr/>
        </p:nvSpPr>
        <p:spPr>
          <a:xfrm>
            <a:off x="548640" y="1691640"/>
            <a:ext cx="3474720" cy="2103120"/>
          </a:xfrm>
          <a:prstGeom prst="roundRect">
            <a:avLst>
              <a:gd name="adj" fmla="val 1304"/>
            </a:avLst>
          </a:prstGeom>
          <a:solidFill>
            <a:srgbClr val="121219"/>
          </a:solidFill>
          <a:ln w="12700">
            <a:solidFill>
              <a:srgbClr val="32323E"/>
            </a:solidFill>
            <a:prstDash val="solid"/>
          </a:ln>
        </p:spPr>
      </p:sp>
      <p:sp>
        <p:nvSpPr>
          <p:cNvPr id="5" name="Shape 3"/>
          <p:cNvSpPr/>
          <p:nvPr/>
        </p:nvSpPr>
        <p:spPr>
          <a:xfrm>
            <a:off x="822960" y="1920240"/>
            <a:ext cx="548640" cy="548640"/>
          </a:xfrm>
          <a:prstGeom prst="ellipse">
            <a:avLst/>
          </a:prstGeom>
          <a:solidFill>
            <a:srgbClr val="1F1F29"/>
          </a:solidFill>
          <a:ln w="15875">
            <a:solidFill>
              <a:srgbClr val="32323E"/>
            </a:solidFill>
            <a:prstDash val="solid"/>
          </a:ln>
        </p:spPr>
      </p:sp>
      <p:pic>
        <p:nvPicPr>
          <p:cNvPr id="6" name="Image 0" descr="preencoded.png">    </p:cNvPr>
          <p:cNvPicPr>
            <a:picLocks noChangeAspect="1"/>
          </p:cNvPicPr>
          <p:nvPr/>
        </p:nvPicPr>
        <p:blipFill>
          <a:blip r:embed="rId1"/>
          <a:stretch>
            <a:fillRect/>
          </a:stretch>
        </p:blipFill>
        <p:spPr>
          <a:xfrm>
            <a:off x="943661" y="2040941"/>
            <a:ext cx="307238" cy="307238"/>
          </a:xfrm>
          <a:prstGeom prst="rect">
            <a:avLst/>
          </a:prstGeom>
        </p:spPr>
      </p:pic>
      <p:sp>
        <p:nvSpPr>
          <p:cNvPr id="7" name="Text 4"/>
          <p:cNvSpPr txBox="1"/>
          <p:nvPr/>
        </p:nvSpPr>
        <p:spPr>
          <a:xfrm>
            <a:off x="1508760" y="1993392"/>
            <a:ext cx="2377440" cy="365760"/>
          </a:xfrm>
          <a:prstGeom prst="rect">
            <a:avLst/>
          </a:prstGeom>
          <a:noFill/>
          <a:ln/>
        </p:spPr>
        <p:txBody>
          <a:bodyPr wrap="square" lIns="0" tIns="0" rIns="0" bIns="0" rtlCol="0" anchor="t"/>
          <a:lstStyle/>
          <a:p>
            <a:pPr indent="0" marL="0">
              <a:buNone/>
            </a:pPr>
            <a:r>
              <a:rPr lang="en-US" sz="1800" b="1" dirty="0">
                <a:solidFill>
                  <a:srgbClr val="F5F5F8"/>
                </a:solidFill>
                <a:latin typeface="Calibri" pitchFamily="34" charset="0"/>
                <a:ea typeface="Calibri" pitchFamily="34" charset="-122"/>
                <a:cs typeface="Calibri" pitchFamily="34" charset="-120"/>
              </a:rPr>
              <a:t>Earlier warnings</a:t>
            </a:r>
            <a:endParaRPr lang="en-US" sz="1800" dirty="0"/>
          </a:p>
        </p:txBody>
      </p:sp>
      <p:sp>
        <p:nvSpPr>
          <p:cNvPr id="8" name="Text 5"/>
          <p:cNvSpPr txBox="1"/>
          <p:nvPr/>
        </p:nvSpPr>
        <p:spPr>
          <a:xfrm>
            <a:off x="822960" y="2606040"/>
            <a:ext cx="2971800" cy="1097280"/>
          </a:xfrm>
          <a:prstGeom prst="rect">
            <a:avLst/>
          </a:prstGeom>
          <a:noFill/>
          <a:ln/>
        </p:spPr>
        <p:txBody>
          <a:bodyPr wrap="square" lIns="0" tIns="0" rIns="0" bIns="0" rtlCol="0" anchor="t"/>
          <a:lstStyle/>
          <a:p>
            <a:pPr indent="0" marL="0">
              <a:buNone/>
            </a:pPr>
            <a:r>
              <a:rPr lang="en-US" sz="1350" dirty="0">
                <a:solidFill>
                  <a:srgbClr val="C4C6D2"/>
                </a:solidFill>
                <a:latin typeface="Calibri" pitchFamily="34" charset="0"/>
                <a:ea typeface="Calibri" pitchFamily="34" charset="-122"/>
                <a:cs typeface="Calibri" pitchFamily="34" charset="-120"/>
              </a:rPr>
              <a:t>Alerts before the bit reaches historically difficult windows — with lead distance and confidence.</a:t>
            </a:r>
            <a:endParaRPr lang="en-US" sz="1350" dirty="0"/>
          </a:p>
        </p:txBody>
      </p:sp>
      <p:sp>
        <p:nvSpPr>
          <p:cNvPr id="9" name="Shape 6"/>
          <p:cNvSpPr/>
          <p:nvPr/>
        </p:nvSpPr>
        <p:spPr>
          <a:xfrm>
            <a:off x="4297680" y="1691640"/>
            <a:ext cx="3474720" cy="2103120"/>
          </a:xfrm>
          <a:prstGeom prst="roundRect">
            <a:avLst>
              <a:gd name="adj" fmla="val 1304"/>
            </a:avLst>
          </a:prstGeom>
          <a:solidFill>
            <a:srgbClr val="121219"/>
          </a:solidFill>
          <a:ln w="12700">
            <a:solidFill>
              <a:srgbClr val="32323E"/>
            </a:solidFill>
            <a:prstDash val="solid"/>
          </a:ln>
        </p:spPr>
      </p:sp>
      <p:sp>
        <p:nvSpPr>
          <p:cNvPr id="10" name="Shape 7"/>
          <p:cNvSpPr/>
          <p:nvPr/>
        </p:nvSpPr>
        <p:spPr>
          <a:xfrm>
            <a:off x="4572000" y="1920240"/>
            <a:ext cx="548640" cy="548640"/>
          </a:xfrm>
          <a:prstGeom prst="ellipse">
            <a:avLst/>
          </a:prstGeom>
          <a:solidFill>
            <a:srgbClr val="1F1F29"/>
          </a:solidFill>
          <a:ln w="15875">
            <a:solidFill>
              <a:srgbClr val="32323E"/>
            </a:solidFill>
            <a:prstDash val="solid"/>
          </a:ln>
        </p:spPr>
      </p:sp>
      <p:pic>
        <p:nvPicPr>
          <p:cNvPr id="11" name="Image 1" descr="preencoded.png">    </p:cNvPr>
          <p:cNvPicPr>
            <a:picLocks noChangeAspect="1"/>
          </p:cNvPicPr>
          <p:nvPr/>
        </p:nvPicPr>
        <p:blipFill>
          <a:blip r:embed="rId2"/>
          <a:stretch>
            <a:fillRect/>
          </a:stretch>
        </p:blipFill>
        <p:spPr>
          <a:xfrm>
            <a:off x="4692701" y="2040941"/>
            <a:ext cx="307238" cy="307238"/>
          </a:xfrm>
          <a:prstGeom prst="rect">
            <a:avLst/>
          </a:prstGeom>
        </p:spPr>
      </p:pic>
      <p:sp>
        <p:nvSpPr>
          <p:cNvPr id="12" name="Text 8"/>
          <p:cNvSpPr txBox="1"/>
          <p:nvPr/>
        </p:nvSpPr>
        <p:spPr>
          <a:xfrm>
            <a:off x="5257800" y="1993392"/>
            <a:ext cx="2377440" cy="365760"/>
          </a:xfrm>
          <a:prstGeom prst="rect">
            <a:avLst/>
          </a:prstGeom>
          <a:noFill/>
          <a:ln/>
        </p:spPr>
        <p:txBody>
          <a:bodyPr wrap="square" lIns="0" tIns="0" rIns="0" bIns="0" rtlCol="0" anchor="t"/>
          <a:lstStyle/>
          <a:p>
            <a:pPr indent="0" marL="0">
              <a:buNone/>
            </a:pPr>
            <a:r>
              <a:rPr lang="en-US" sz="1800" b="1" dirty="0">
                <a:solidFill>
                  <a:srgbClr val="F5F5F8"/>
                </a:solidFill>
                <a:latin typeface="Calibri" pitchFamily="34" charset="0"/>
                <a:ea typeface="Calibri" pitchFamily="34" charset="-122"/>
                <a:cs typeface="Calibri" pitchFamily="34" charset="-120"/>
              </a:rPr>
              <a:t>Lessons reused</a:t>
            </a:r>
            <a:endParaRPr lang="en-US" sz="1800" dirty="0"/>
          </a:p>
        </p:txBody>
      </p:sp>
      <p:sp>
        <p:nvSpPr>
          <p:cNvPr id="13" name="Text 9"/>
          <p:cNvSpPr txBox="1"/>
          <p:nvPr/>
        </p:nvSpPr>
        <p:spPr>
          <a:xfrm>
            <a:off x="4572000" y="2606040"/>
            <a:ext cx="2971800" cy="1097280"/>
          </a:xfrm>
          <a:prstGeom prst="rect">
            <a:avLst/>
          </a:prstGeom>
          <a:noFill/>
          <a:ln/>
        </p:spPr>
        <p:txBody>
          <a:bodyPr wrap="square" lIns="0" tIns="0" rIns="0" bIns="0" rtlCol="0" anchor="t"/>
          <a:lstStyle/>
          <a:p>
            <a:pPr indent="0" marL="0">
              <a:buNone/>
            </a:pPr>
            <a:r>
              <a:rPr lang="en-US" sz="1350" dirty="0">
                <a:solidFill>
                  <a:srgbClr val="C4C6D2"/>
                </a:solidFill>
                <a:latin typeface="Calibri" pitchFamily="34" charset="0"/>
                <a:ea typeface="Calibri" pitchFamily="34" charset="-122"/>
                <a:cs typeface="Calibri" pitchFamily="34" charset="-120"/>
              </a:rPr>
              <a:t>What worked on offsets is shown with every alert and brief — the next 300 m carries 8.8 h of expected NPT (≈ ₹11 lakh).</a:t>
            </a:r>
            <a:endParaRPr lang="en-US" sz="1350" dirty="0"/>
          </a:p>
        </p:txBody>
      </p:sp>
      <p:sp>
        <p:nvSpPr>
          <p:cNvPr id="14" name="Shape 10"/>
          <p:cNvSpPr/>
          <p:nvPr/>
        </p:nvSpPr>
        <p:spPr>
          <a:xfrm>
            <a:off x="8046720" y="1691640"/>
            <a:ext cx="3474720" cy="2103120"/>
          </a:xfrm>
          <a:prstGeom prst="roundRect">
            <a:avLst>
              <a:gd name="adj" fmla="val 1304"/>
            </a:avLst>
          </a:prstGeom>
          <a:solidFill>
            <a:srgbClr val="121219"/>
          </a:solidFill>
          <a:ln w="12700">
            <a:solidFill>
              <a:srgbClr val="32323E"/>
            </a:solidFill>
            <a:prstDash val="solid"/>
          </a:ln>
        </p:spPr>
      </p:sp>
      <p:sp>
        <p:nvSpPr>
          <p:cNvPr id="15" name="Shape 11"/>
          <p:cNvSpPr/>
          <p:nvPr/>
        </p:nvSpPr>
        <p:spPr>
          <a:xfrm>
            <a:off x="8321040" y="1920240"/>
            <a:ext cx="548640" cy="548640"/>
          </a:xfrm>
          <a:prstGeom prst="ellipse">
            <a:avLst/>
          </a:prstGeom>
          <a:solidFill>
            <a:srgbClr val="1F1F29"/>
          </a:solidFill>
          <a:ln w="15875">
            <a:solidFill>
              <a:srgbClr val="32323E"/>
            </a:solidFill>
            <a:prstDash val="solid"/>
          </a:ln>
        </p:spPr>
      </p:sp>
      <p:pic>
        <p:nvPicPr>
          <p:cNvPr id="16" name="Image 2" descr="preencoded.png">    </p:cNvPr>
          <p:cNvPicPr>
            <a:picLocks noChangeAspect="1"/>
          </p:cNvPicPr>
          <p:nvPr/>
        </p:nvPicPr>
        <p:blipFill>
          <a:blip r:embed="rId3"/>
          <a:stretch>
            <a:fillRect/>
          </a:stretch>
        </p:blipFill>
        <p:spPr>
          <a:xfrm>
            <a:off x="8441741" y="2040941"/>
            <a:ext cx="307238" cy="307238"/>
          </a:xfrm>
          <a:prstGeom prst="rect">
            <a:avLst/>
          </a:prstGeom>
        </p:spPr>
      </p:pic>
      <p:sp>
        <p:nvSpPr>
          <p:cNvPr id="17" name="Text 12"/>
          <p:cNvSpPr txBox="1"/>
          <p:nvPr/>
        </p:nvSpPr>
        <p:spPr>
          <a:xfrm>
            <a:off x="9006840" y="1993392"/>
            <a:ext cx="2377440" cy="365760"/>
          </a:xfrm>
          <a:prstGeom prst="rect">
            <a:avLst/>
          </a:prstGeom>
          <a:noFill/>
          <a:ln/>
        </p:spPr>
        <p:txBody>
          <a:bodyPr wrap="square" lIns="0" tIns="0" rIns="0" bIns="0" rtlCol="0" anchor="t"/>
          <a:lstStyle/>
          <a:p>
            <a:pPr indent="0" marL="0">
              <a:buNone/>
            </a:pPr>
            <a:r>
              <a:rPr lang="en-US" sz="1800" b="1" dirty="0">
                <a:solidFill>
                  <a:srgbClr val="F5F5F8"/>
                </a:solidFill>
                <a:latin typeface="Calibri" pitchFamily="34" charset="0"/>
                <a:ea typeface="Calibri" pitchFamily="34" charset="-122"/>
                <a:cs typeface="Calibri" pitchFamily="34" charset="-120"/>
              </a:rPr>
              <a:t>Faster ramp-up</a:t>
            </a:r>
            <a:endParaRPr lang="en-US" sz="1800" dirty="0"/>
          </a:p>
        </p:txBody>
      </p:sp>
      <p:sp>
        <p:nvSpPr>
          <p:cNvPr id="18" name="Text 13"/>
          <p:cNvSpPr txBox="1"/>
          <p:nvPr/>
        </p:nvSpPr>
        <p:spPr>
          <a:xfrm>
            <a:off x="8321040" y="2606040"/>
            <a:ext cx="2971800" cy="1097280"/>
          </a:xfrm>
          <a:prstGeom prst="rect">
            <a:avLst/>
          </a:prstGeom>
          <a:noFill/>
          <a:ln/>
        </p:spPr>
        <p:txBody>
          <a:bodyPr wrap="square" lIns="0" tIns="0" rIns="0" bIns="0" rtlCol="0" anchor="t"/>
          <a:lstStyle/>
          <a:p>
            <a:pPr indent="0" marL="0">
              <a:buNone/>
            </a:pPr>
            <a:r>
              <a:rPr lang="en-US" sz="1350" dirty="0">
                <a:solidFill>
                  <a:srgbClr val="C4C6D2"/>
                </a:solidFill>
                <a:latin typeface="Calibri" pitchFamily="34" charset="0"/>
                <a:ea typeface="Calibri" pitchFamily="34" charset="-122"/>
                <a:cs typeface="Calibri" pitchFamily="34" charset="-120"/>
              </a:rPr>
              <a:t>New engineers get the field's history at the depth they are drilling, with sources.</a:t>
            </a:r>
            <a:endParaRPr lang="en-US" sz="1350" dirty="0"/>
          </a:p>
        </p:txBody>
      </p:sp>
      <p:sp>
        <p:nvSpPr>
          <p:cNvPr id="19" name="Text 14"/>
          <p:cNvSpPr txBox="1"/>
          <p:nvPr/>
        </p:nvSpPr>
        <p:spPr>
          <a:xfrm>
            <a:off x="548640" y="4069080"/>
            <a:ext cx="1828800" cy="274320"/>
          </a:xfrm>
          <a:prstGeom prst="rect">
            <a:avLst/>
          </a:prstGeom>
          <a:noFill/>
          <a:ln/>
        </p:spPr>
        <p:txBody>
          <a:bodyPr wrap="square" lIns="0" tIns="0" rIns="0" bIns="0" rtlCol="0" anchor="t"/>
          <a:lstStyle/>
          <a:p>
            <a:pPr indent="0" marL="0">
              <a:buNone/>
            </a:pPr>
            <a:r>
              <a:rPr lang="en-US" sz="1200" b="1" spc="300" kern="0" dirty="0">
                <a:solidFill>
                  <a:srgbClr val="F2A60C"/>
                </a:solidFill>
                <a:latin typeface="Calibri" pitchFamily="34" charset="0"/>
                <a:ea typeface="Calibri" pitchFamily="34" charset="-122"/>
                <a:cs typeface="Calibri" pitchFamily="34" charset="-120"/>
              </a:rPr>
              <a:t>NEXT</a:t>
            </a:r>
            <a:endParaRPr lang="en-US" sz="1200" dirty="0"/>
          </a:p>
        </p:txBody>
      </p:sp>
      <p:sp>
        <p:nvSpPr>
          <p:cNvPr id="20" name="Text 15"/>
          <p:cNvSpPr txBox="1"/>
          <p:nvPr/>
        </p:nvSpPr>
        <p:spPr>
          <a:xfrm>
            <a:off x="548640" y="4434840"/>
            <a:ext cx="457200" cy="548640"/>
          </a:xfrm>
          <a:prstGeom prst="rect">
            <a:avLst/>
          </a:prstGeom>
          <a:noFill/>
          <a:ln/>
        </p:spPr>
        <p:txBody>
          <a:bodyPr wrap="square" lIns="0" tIns="0" rIns="0" bIns="0" rtlCol="0" anchor="t"/>
          <a:lstStyle/>
          <a:p>
            <a:pPr indent="0" marL="0">
              <a:buNone/>
            </a:pPr>
            <a:r>
              <a:rPr lang="en-US" sz="3000" b="1" dirty="0">
                <a:solidFill>
                  <a:srgbClr val="A79DFF"/>
                </a:solidFill>
                <a:latin typeface="Consolas" pitchFamily="34" charset="0"/>
                <a:ea typeface="Consolas" pitchFamily="34" charset="-122"/>
                <a:cs typeface="Consolas" pitchFamily="34" charset="-120"/>
              </a:rPr>
              <a:t>1</a:t>
            </a:r>
            <a:endParaRPr lang="en-US" sz="3000" dirty="0"/>
          </a:p>
        </p:txBody>
      </p:sp>
      <p:sp>
        <p:nvSpPr>
          <p:cNvPr id="21" name="Text 16"/>
          <p:cNvSpPr txBox="1"/>
          <p:nvPr/>
        </p:nvSpPr>
        <p:spPr>
          <a:xfrm>
            <a:off x="1051560" y="4526280"/>
            <a:ext cx="2926080" cy="64008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Connect eRTMAC and the OIL report archive</a:t>
            </a:r>
            <a:endParaRPr lang="en-US" sz="1500" dirty="0"/>
          </a:p>
        </p:txBody>
      </p:sp>
      <p:sp>
        <p:nvSpPr>
          <p:cNvPr id="22" name="Text 17"/>
          <p:cNvSpPr txBox="1"/>
          <p:nvPr/>
        </p:nvSpPr>
        <p:spPr>
          <a:xfrm>
            <a:off x="4297680" y="4434840"/>
            <a:ext cx="457200" cy="548640"/>
          </a:xfrm>
          <a:prstGeom prst="rect">
            <a:avLst/>
          </a:prstGeom>
          <a:noFill/>
          <a:ln/>
        </p:spPr>
        <p:txBody>
          <a:bodyPr wrap="square" lIns="0" tIns="0" rIns="0" bIns="0" rtlCol="0" anchor="t"/>
          <a:lstStyle/>
          <a:p>
            <a:pPr indent="0" marL="0">
              <a:buNone/>
            </a:pPr>
            <a:r>
              <a:rPr lang="en-US" sz="3000" b="1" dirty="0">
                <a:solidFill>
                  <a:srgbClr val="A79DFF"/>
                </a:solidFill>
                <a:latin typeface="Consolas" pitchFamily="34" charset="0"/>
                <a:ea typeface="Consolas" pitchFamily="34" charset="-122"/>
                <a:cs typeface="Consolas" pitchFamily="34" charset="-120"/>
              </a:rPr>
              <a:t>2</a:t>
            </a:r>
            <a:endParaRPr lang="en-US" sz="3000" dirty="0"/>
          </a:p>
        </p:txBody>
      </p:sp>
      <p:sp>
        <p:nvSpPr>
          <p:cNvPr id="23" name="Text 18"/>
          <p:cNvSpPr txBox="1"/>
          <p:nvPr/>
        </p:nvSpPr>
        <p:spPr>
          <a:xfrm>
            <a:off x="4800600" y="4526280"/>
            <a:ext cx="2926080" cy="64008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Calibrate weights on labelled NPT history</a:t>
            </a:r>
            <a:endParaRPr lang="en-US" sz="1500" dirty="0"/>
          </a:p>
        </p:txBody>
      </p:sp>
      <p:sp>
        <p:nvSpPr>
          <p:cNvPr id="24" name="Text 19"/>
          <p:cNvSpPr txBox="1"/>
          <p:nvPr/>
        </p:nvSpPr>
        <p:spPr>
          <a:xfrm>
            <a:off x="8046720" y="4434840"/>
            <a:ext cx="457200" cy="548640"/>
          </a:xfrm>
          <a:prstGeom prst="rect">
            <a:avLst/>
          </a:prstGeom>
          <a:noFill/>
          <a:ln/>
        </p:spPr>
        <p:txBody>
          <a:bodyPr wrap="square" lIns="0" tIns="0" rIns="0" bIns="0" rtlCol="0" anchor="t"/>
          <a:lstStyle/>
          <a:p>
            <a:pPr indent="0" marL="0">
              <a:buNone/>
            </a:pPr>
            <a:r>
              <a:rPr lang="en-US" sz="3000" b="1" dirty="0">
                <a:solidFill>
                  <a:srgbClr val="A79DFF"/>
                </a:solidFill>
                <a:latin typeface="Consolas" pitchFamily="34" charset="0"/>
                <a:ea typeface="Consolas" pitchFamily="34" charset="-122"/>
                <a:cs typeface="Consolas" pitchFamily="34" charset="-120"/>
              </a:rPr>
              <a:t>3</a:t>
            </a:r>
            <a:endParaRPr lang="en-US" sz="3000" dirty="0"/>
          </a:p>
        </p:txBody>
      </p:sp>
      <p:sp>
        <p:nvSpPr>
          <p:cNvPr id="25" name="Text 20"/>
          <p:cNvSpPr txBox="1"/>
          <p:nvPr/>
        </p:nvSpPr>
        <p:spPr>
          <a:xfrm>
            <a:off x="8549640" y="4526280"/>
            <a:ext cx="2926080" cy="64008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Close the loop: outcomes become lessons</a:t>
            </a:r>
            <a:endParaRPr lang="en-US" sz="1500" dirty="0"/>
          </a:p>
        </p:txBody>
      </p:sp>
      <p:sp>
        <p:nvSpPr>
          <p:cNvPr id="26" name="Shape 21"/>
          <p:cNvSpPr/>
          <p:nvPr/>
        </p:nvSpPr>
        <p:spPr>
          <a:xfrm>
            <a:off x="548640" y="5440680"/>
            <a:ext cx="11064240" cy="731520"/>
          </a:xfrm>
          <a:prstGeom prst="roundRect">
            <a:avLst>
              <a:gd name="adj" fmla="val 3750"/>
            </a:avLst>
          </a:prstGeom>
          <a:solidFill>
            <a:srgbClr val="1F1F29"/>
          </a:solidFill>
          <a:ln w="12700">
            <a:solidFill>
              <a:srgbClr val="32323E"/>
            </a:solidFill>
            <a:prstDash val="solid"/>
          </a:ln>
        </p:spPr>
      </p:sp>
      <p:sp>
        <p:nvSpPr>
          <p:cNvPr id="27" name="Text 22"/>
          <p:cNvSpPr txBox="1"/>
          <p:nvPr/>
        </p:nvSpPr>
        <p:spPr>
          <a:xfrm>
            <a:off x="822960" y="5577840"/>
            <a:ext cx="10607040" cy="457200"/>
          </a:xfrm>
          <a:prstGeom prst="rect">
            <a:avLst/>
          </a:prstGeom>
          <a:noFill/>
          <a:ln/>
        </p:spPr>
        <p:txBody>
          <a:bodyPr wrap="square" lIns="0" tIns="0" rIns="0" bIns="0" rtlCol="0" anchor="ctr"/>
          <a:lstStyle/>
          <a:p>
            <a:pPr indent="0" marL="0">
              <a:buNone/>
            </a:pPr>
            <a:r>
              <a:rPr lang="en-US" sz="1600" b="1" dirty="0">
                <a:solidFill>
                  <a:srgbClr val="A79DFF"/>
                </a:solidFill>
                <a:latin typeface="Calibri" pitchFamily="34" charset="0"/>
                <a:ea typeface="Calibri" pitchFamily="34" charset="-122"/>
                <a:cs typeface="Calibri" pitchFamily="34" charset="-120"/>
              </a:rPr>
              <a:t>NWIS doesn’t replace the drilling engineer — it shortens the path from a signal to the evidence.</a:t>
            </a:r>
            <a:endParaRPr lang="en-US" sz="1600" dirty="0"/>
          </a:p>
        </p:txBody>
      </p:sp>
      <p:sp>
        <p:nvSpPr>
          <p:cNvPr id="28" name="Text 2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9" name="Text 2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NWIS — Nearby Wells Intelligence System</dc:title>
  <dc:subject>PptxGenJS Presentation</dc:subject>
  <dc:creator>NWIS team — SIH26121</dc:creator>
  <cp:lastModifiedBy>NWIS team — SIH26121</cp:lastModifiedBy>
  <cp:revision>1</cp:revision>
  <dcterms:created xsi:type="dcterms:W3CDTF">2026-09-29T19:03:45Z</dcterms:created>
  <dcterms:modified xsi:type="dcterms:W3CDTF">2026-09-29T19:03:45Z</dcterms:modified>
</cp:coreProperties>
</file>