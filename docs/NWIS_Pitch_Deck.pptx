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38BDF8"/>
            </a:solidFill>
            <a:effectLst/>
          </c:spPr>
          <c:invertIfNegative val="0"/>
          <c:dLbls>
            <c:numFmt formatCode="0.00" sourceLinked="0"/>
            <c:txPr>
              <a:bodyPr/>
              <a:lstStyle/>
              <a:p>
                <a:pPr>
                  <a:defRPr b="0" i="0" strike="noStrike" sz="1000" u="none">
                    <a:solidFill>
                      <a:srgbClr val="F1F5F9"/>
                    </a:solidFill>
                    <a:latin typeface="Arial"/>
                  </a:defRPr>
                </a:pPr>
              </a:p>
            </c:txPr>
            <c:showLegendKey val="0"/>
            <c:showVal val="1"/>
            <c:showCatName val="0"/>
            <c:showSerName val="0"/>
            <c:showPercent val="0"/>
            <c:showBubbleSize val="0"/>
            <c:showLeaderLines val="0"/>
          </c:dLbls>
          <c:cat>
            <c:multiLvlStrRef>
              <c:f>Sheet1!$A$2:$A$7</c:f>
              <c:multiLvlStrCache>
                <c:ptCount val="6"/>
                <c:lvl>
                  <c:pt idx="0">
                    <c:v>Depth proximity</c:v>
                  </c:pt>
                  <c:pt idx="1">
                    <c:v>Live parameter anomaly</c:v>
                  </c:pt>
                  <c:pt idx="2">
                    <c:v>Offset event frequency</c:v>
                  </c:pt>
                  <c:pt idx="3">
                    <c:v>Well similarity</c:v>
                  </c:pt>
                  <c:pt idx="4">
                    <c:v>Formation match</c:v>
                  </c:pt>
                  <c:pt idx="5">
                    <c:v>Trajectory match</c:v>
                  </c:pt>
                </c:lvl>
              </c:multiLvlStrCache>
            </c:multiLvlStrRef>
          </c:cat>
          <c:val>
            <c:numRef>
              <c:f>Sheet1!$B$2:$B$7</c:f>
              <c:numCache>
                <c:formatCode>General</c:formatCode>
                <c:ptCount val="6"/>
                <c:pt idx="0">
                  <c:v>0.3</c:v>
                </c:pt>
                <c:pt idx="1">
                  <c:v>0.25</c:v>
                </c:pt>
                <c:pt idx="2">
                  <c:v>0.2</c:v>
                </c:pt>
                <c:pt idx="3">
                  <c:v>0.1</c:v>
                </c:pt>
                <c:pt idx="4">
                  <c:v>0.1</c:v>
                </c:pt>
                <c:pt idx="5">
                  <c:v>0.05</c:v>
                </c:pt>
              </c:numCache>
            </c:numRef>
          </c:val>
        </c:ser>
        <c:dLbls>
          <c:numFmt formatCode="0.00" sourceLinked="0"/>
          <c:txPr>
            <a:bodyPr/>
            <a:lstStyle/>
            <a:p>
              <a:pPr>
                <a:defRPr b="0" i="0" strike="noStrike" sz="1000" u="none">
                  <a:solidFill>
                    <a:srgbClr val="F1F5F9"/>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max val="0.3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operational problem, not technology. NWIS gives every drilling engineer institutional memory — connecting the active well's current depth to what nearby and historical wells experienced, why it happened, and what to check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knowledge is distributed across completion reports, daily reports, databases and individual experience. In our synthetic demo field, the next 500 m of the active well cross three windows where offsets lost 110 hours of NPT.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everything is built on: join the live depth to the history at that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well → current depth → nearby wells → historical events → correlation → evidence → risk signal → proactive alert → recommended checks → engineer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Run historical risk scenario. At 3,150 m the mud-loss alert fires and OIL-AX-99 and OIL-AX-55 glow on the map; at 3,380 m stuck pipe; at 3,580 m a critical kick warning. Then click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a mysterious 'AI says high risk'. The Why? view lists numbered reasons, the weighted factor breakdown, live signals versus baseline, the supporting offset wells with quotes and page citations, recommended checks, and the audit trail. Scores rank risk; they are not calibrated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mitigations were used for stuck pipe in Kopili Shale? The answer names OIL-AX-88, 66 and 11 with what worked, each sentence cited to a report page. Click a citation to open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the sample daily drilling report for OIL-AX-22: three candidate events, one flagged as a possible duplicate, entities extracted, provenance kept. Save, then search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standalone layer beside eRTMAC. Every demo component has a named production replacement; the data model already carries provenance so authorised OIL data can replace the synthetic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decision support — the engineer decides. Be explicit that all data shown is synthetic and that the risk weights are transparent, not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pic>
        <p:nvPicPr>
          <p:cNvPr id="2" name="Image 0" descr="C:\Users\aryab\OneDrive\Desktop\sihps2\docs\screenshots\03-scenario-complete.png">    </p:cNvPr>
          <p:cNvPicPr>
            <a:picLocks noChangeAspect="1"/>
          </p:cNvPicPr>
          <p:nvPr/>
        </p:nvPicPr>
        <p:blipFill>
          <a:blip r:embed="rId1">
            <a:alphaModFix amt="45000"/>
          </a:blip>
          <a:stretch>
            <a:fillRect/>
          </a:stretch>
        </p:blipFill>
        <p:spPr>
          <a:xfrm>
            <a:off x="5394960" y="0"/>
            <a:ext cx="9722815" cy="5469084"/>
          </a:xfrm>
          <a:prstGeom prst="rect">
            <a:avLst/>
          </a:prstGeom>
        </p:spPr>
      </p:pic>
      <p:sp>
        <p:nvSpPr>
          <p:cNvPr id="3" name="Shape 0"/>
          <p:cNvSpPr/>
          <p:nvPr/>
        </p:nvSpPr>
        <p:spPr>
          <a:xfrm>
            <a:off x="0" y="0"/>
            <a:ext cx="6035040" cy="6858000"/>
          </a:xfrm>
          <a:prstGeom prst="rect">
            <a:avLst/>
          </a:prstGeom>
          <a:solidFill>
            <a:srgbClr val="0A0E17"/>
          </a:solidFill>
          <a:ln/>
        </p:spPr>
      </p:sp>
      <p:sp>
        <p:nvSpPr>
          <p:cNvPr id="4" name="Shape 1"/>
          <p:cNvSpPr/>
          <p:nvPr/>
        </p:nvSpPr>
        <p:spPr>
          <a:xfrm>
            <a:off x="731520" y="1234440"/>
            <a:ext cx="822960" cy="822960"/>
          </a:xfrm>
          <a:prstGeom prst="ellipse">
            <a:avLst/>
          </a:prstGeom>
          <a:solidFill>
            <a:srgbClr val="1E293B"/>
          </a:solidFill>
          <a:ln w="15875">
            <a:solidFill>
              <a:srgbClr val="22D3EE"/>
            </a:solidFill>
            <a:prstDash val="solid"/>
          </a:ln>
        </p:spPr>
      </p:sp>
      <p:pic>
        <p:nvPicPr>
          <p:cNvPr id="5" name="Image 1" descr="preencoded.png">    </p:cNvPr>
          <p:cNvPicPr>
            <a:picLocks noChangeAspect="1"/>
          </p:cNvPicPr>
          <p:nvPr/>
        </p:nvPicPr>
        <p:blipFill>
          <a:blip r:embed="rId2"/>
          <a:stretch>
            <a:fillRect/>
          </a:stretch>
        </p:blipFill>
        <p:spPr>
          <a:xfrm>
            <a:off x="912571" y="1415491"/>
            <a:ext cx="460858" cy="460858"/>
          </a:xfrm>
          <a:prstGeom prst="rect">
            <a:avLst/>
          </a:prstGeom>
        </p:spPr>
      </p:pic>
      <p:sp>
        <p:nvSpPr>
          <p:cNvPr id="6" name="Text 2"/>
          <p:cNvSpPr txBox="1"/>
          <p:nvPr/>
        </p:nvSpPr>
        <p:spPr>
          <a:xfrm>
            <a:off x="731520" y="2240280"/>
            <a:ext cx="5120640" cy="1097280"/>
          </a:xfrm>
          <a:prstGeom prst="rect">
            <a:avLst/>
          </a:prstGeom>
          <a:noFill/>
          <a:ln/>
        </p:spPr>
        <p:txBody>
          <a:bodyPr wrap="square" lIns="0" tIns="0" rIns="0" bIns="0" rtlCol="0" anchor="t"/>
          <a:lstStyle/>
          <a:p>
            <a:pPr indent="0" marL="0">
              <a:buNone/>
            </a:pPr>
            <a:r>
              <a:rPr lang="en-US" sz="7200" b="1" spc="800" kern="0" dirty="0">
                <a:solidFill>
                  <a:srgbClr val="22D3EE"/>
                </a:solidFill>
                <a:latin typeface="Calibri" pitchFamily="34" charset="0"/>
                <a:ea typeface="Calibri" pitchFamily="34" charset="-122"/>
                <a:cs typeface="Calibri" pitchFamily="34" charset="-120"/>
              </a:rPr>
              <a:t>NWIS</a:t>
            </a:r>
            <a:endParaRPr lang="en-US" sz="7200" dirty="0"/>
          </a:p>
        </p:txBody>
      </p:sp>
      <p:sp>
        <p:nvSpPr>
          <p:cNvPr id="7" name="Text 3"/>
          <p:cNvSpPr txBox="1"/>
          <p:nvPr/>
        </p:nvSpPr>
        <p:spPr>
          <a:xfrm>
            <a:off x="731520" y="3337560"/>
            <a:ext cx="5120640" cy="502920"/>
          </a:xfrm>
          <a:prstGeom prst="rect">
            <a:avLst/>
          </a:prstGeom>
          <a:noFill/>
          <a:ln/>
        </p:spPr>
        <p:txBody>
          <a:bodyPr wrap="square" lIns="0" tIns="0" rIns="0" bIns="0" rtlCol="0" anchor="t"/>
          <a:lstStyle/>
          <a:p>
            <a:pPr indent="0" marL="0">
              <a:buNone/>
            </a:pPr>
            <a:r>
              <a:rPr lang="en-US" sz="2600" b="1" dirty="0">
                <a:solidFill>
                  <a:srgbClr val="F1F5F9"/>
                </a:solidFill>
                <a:latin typeface="Calibri" pitchFamily="34" charset="0"/>
                <a:ea typeface="Calibri" pitchFamily="34" charset="-122"/>
                <a:cs typeface="Calibri" pitchFamily="34" charset="-120"/>
              </a:rPr>
              <a:t>Nearby Wells Intelligence System</a:t>
            </a:r>
            <a:endParaRPr lang="en-US" sz="2600" dirty="0"/>
          </a:p>
        </p:txBody>
      </p:sp>
      <p:sp>
        <p:nvSpPr>
          <p:cNvPr id="8" name="Text 4"/>
          <p:cNvSpPr txBox="1"/>
          <p:nvPr/>
        </p:nvSpPr>
        <p:spPr>
          <a:xfrm>
            <a:off x="731520" y="3977640"/>
            <a:ext cx="4937760" cy="914400"/>
          </a:xfrm>
          <a:prstGeom prst="rect">
            <a:avLst/>
          </a:prstGeom>
          <a:noFill/>
          <a:ln/>
        </p:spPr>
        <p:txBody>
          <a:bodyPr wrap="square" lIns="0" tIns="0" rIns="0" bIns="0" rtlCol="0" anchor="t"/>
          <a:lstStyle/>
          <a:p>
            <a:pPr indent="0" marL="0">
              <a:buNone/>
            </a:pPr>
            <a:r>
              <a:rPr lang="en-US" sz="1500" dirty="0">
                <a:solidFill>
                  <a:srgbClr val="94A3B8"/>
                </a:solidFill>
                <a:latin typeface="Calibri" pitchFamily="34" charset="0"/>
                <a:ea typeface="Calibri" pitchFamily="34" charset="-122"/>
                <a:cs typeface="Calibri" pitchFamily="34" charset="-120"/>
              </a:rPr>
              <a:t>Institutional memory beside the active well — what nearby wells experienced at this depth, why, and what to check next.</a:t>
            </a:r>
            <a:endParaRPr lang="en-US" sz="1500" dirty="0"/>
          </a:p>
        </p:txBody>
      </p:sp>
      <p:sp>
        <p:nvSpPr>
          <p:cNvPr id="9" name="Text 5"/>
          <p:cNvSpPr txBox="1"/>
          <p:nvPr/>
        </p:nvSpPr>
        <p:spPr>
          <a:xfrm>
            <a:off x="731520" y="5669280"/>
            <a:ext cx="512064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SIH 2026  ·  Problem statement SIH26121  ·  Oil India Limited</a:t>
            </a:r>
            <a:endParaRPr lang="en-US" sz="1200" dirty="0"/>
          </a:p>
        </p:txBody>
      </p:sp>
      <p:sp>
        <p:nvSpPr>
          <p:cNvPr id="10" name="Text 6"/>
          <p:cNvSpPr txBox="1"/>
          <p:nvPr/>
        </p:nvSpPr>
        <p:spPr>
          <a:xfrm>
            <a:off x="731520" y="5943600"/>
            <a:ext cx="5120640" cy="274320"/>
          </a:xfrm>
          <a:prstGeom prst="rect">
            <a:avLst/>
          </a:prstGeom>
          <a:noFill/>
          <a:ln/>
        </p:spPr>
        <p:txBody>
          <a:bodyPr wrap="square" lIns="0" tIns="0" rIns="0" bIns="0" rtlCol="0" anchor="t"/>
          <a:lstStyle/>
          <a:p>
            <a:pPr indent="0" marL="0">
              <a:buNone/>
            </a:pPr>
            <a:r>
              <a:rPr lang="en-US" sz="1000" dirty="0">
                <a:solidFill>
                  <a:srgbClr val="F59E0B"/>
                </a:solidFill>
                <a:latin typeface="Calibri" pitchFamily="34" charset="0"/>
                <a:ea typeface="Calibri" pitchFamily="34" charset="-122"/>
                <a:cs typeface="Calibri" pitchFamily="34" charset="-120"/>
              </a:rPr>
              <a:t>Working prototype · synthetic demo data (not OIL operational records)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Drilling knowledge is scattered — so risks repeat</a:t>
            </a:r>
            <a:endParaRPr lang="en-US" sz="3200" dirty="0"/>
          </a:p>
        </p:txBody>
      </p:sp>
      <p:sp>
        <p:nvSpPr>
          <p:cNvPr id="4" name="Shape 2"/>
          <p:cNvSpPr/>
          <p:nvPr/>
        </p:nvSpPr>
        <p:spPr>
          <a:xfrm>
            <a:off x="548640" y="1783080"/>
            <a:ext cx="3474720" cy="2514600"/>
          </a:xfrm>
          <a:prstGeom prst="roundRect">
            <a:avLst>
              <a:gd name="adj" fmla="val 4364"/>
            </a:avLst>
          </a:prstGeom>
          <a:solidFill>
            <a:srgbClr val="111827"/>
          </a:solidFill>
          <a:ln w="12700">
            <a:solidFill>
              <a:srgbClr val="1E3A5F"/>
            </a:solidFill>
            <a:prstDash val="solid"/>
          </a:ln>
        </p:spPr>
      </p:sp>
      <p:sp>
        <p:nvSpPr>
          <p:cNvPr id="5" name="Shape 3"/>
          <p:cNvSpPr/>
          <p:nvPr/>
        </p:nvSpPr>
        <p:spPr>
          <a:xfrm>
            <a:off x="822960" y="2057400"/>
            <a:ext cx="566928" cy="566928"/>
          </a:xfrm>
          <a:prstGeom prst="ellipse">
            <a:avLst/>
          </a:prstGeom>
          <a:solidFill>
            <a:srgbClr val="1E293B"/>
          </a:solidFill>
          <a:ln w="15875">
            <a:solidFill>
              <a:srgbClr val="1E3A5F"/>
            </a:solidFill>
            <a:prstDash val="solid"/>
          </a:ln>
        </p:spPr>
      </p:sp>
      <p:pic>
        <p:nvPicPr>
          <p:cNvPr id="6" name="Image 0" descr="preencoded.png">    </p:cNvPr>
          <p:cNvPicPr>
            <a:picLocks noChangeAspect="1"/>
          </p:cNvPicPr>
          <p:nvPr/>
        </p:nvPicPr>
        <p:blipFill>
          <a:blip r:embed="rId1"/>
          <a:stretch>
            <a:fillRect/>
          </a:stretch>
        </p:blipFill>
        <p:spPr>
          <a:xfrm>
            <a:off x="947684" y="2182124"/>
            <a:ext cx="317480" cy="317480"/>
          </a:xfrm>
          <a:prstGeom prst="rect">
            <a:avLst/>
          </a:prstGeom>
        </p:spPr>
      </p:pic>
      <p:sp>
        <p:nvSpPr>
          <p:cNvPr id="7" name="Text 4"/>
          <p:cNvSpPr txBox="1"/>
          <p:nvPr/>
        </p:nvSpPr>
        <p:spPr>
          <a:xfrm>
            <a:off x="822960" y="2788920"/>
            <a:ext cx="2926080" cy="41148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Buried in reports</a:t>
            </a:r>
            <a:endParaRPr lang="en-US" sz="2000" dirty="0"/>
          </a:p>
        </p:txBody>
      </p:sp>
      <p:sp>
        <p:nvSpPr>
          <p:cNvPr id="8" name="Text 5"/>
          <p:cNvSpPr txBox="1"/>
          <p:nvPr/>
        </p:nvSpPr>
        <p:spPr>
          <a:xfrm>
            <a:off x="822960" y="3246120"/>
            <a:ext cx="2971800" cy="9601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Daily drilling reports, completion reports and mud logs sit as PDFs — searched by hand, if at all.</a:t>
            </a:r>
            <a:endParaRPr lang="en-US" sz="1400" dirty="0"/>
          </a:p>
        </p:txBody>
      </p:sp>
      <p:sp>
        <p:nvSpPr>
          <p:cNvPr id="9" name="Shape 6"/>
          <p:cNvSpPr/>
          <p:nvPr/>
        </p:nvSpPr>
        <p:spPr>
          <a:xfrm>
            <a:off x="4297680" y="1783080"/>
            <a:ext cx="3474720" cy="2514600"/>
          </a:xfrm>
          <a:prstGeom prst="roundRect">
            <a:avLst>
              <a:gd name="adj" fmla="val 4364"/>
            </a:avLst>
          </a:prstGeom>
          <a:solidFill>
            <a:srgbClr val="111827"/>
          </a:solidFill>
          <a:ln w="12700">
            <a:solidFill>
              <a:srgbClr val="1E3A5F"/>
            </a:solidFill>
            <a:prstDash val="solid"/>
          </a:ln>
        </p:spPr>
      </p:sp>
      <p:sp>
        <p:nvSpPr>
          <p:cNvPr id="10" name="Shape 7"/>
          <p:cNvSpPr/>
          <p:nvPr/>
        </p:nvSpPr>
        <p:spPr>
          <a:xfrm>
            <a:off x="4572000" y="2057400"/>
            <a:ext cx="566928" cy="566928"/>
          </a:xfrm>
          <a:prstGeom prst="ellipse">
            <a:avLst/>
          </a:prstGeom>
          <a:solidFill>
            <a:srgbClr val="1E293B"/>
          </a:solidFill>
          <a:ln w="15875">
            <a:solidFill>
              <a:srgbClr val="1E3A5F"/>
            </a:solidFill>
            <a:prstDash val="solid"/>
          </a:ln>
        </p:spPr>
      </p:sp>
      <p:pic>
        <p:nvPicPr>
          <p:cNvPr id="11" name="Image 1" descr="preencoded.png">    </p:cNvPr>
          <p:cNvPicPr>
            <a:picLocks noChangeAspect="1"/>
          </p:cNvPicPr>
          <p:nvPr/>
        </p:nvPicPr>
        <p:blipFill>
          <a:blip r:embed="rId2"/>
          <a:stretch>
            <a:fillRect/>
          </a:stretch>
        </p:blipFill>
        <p:spPr>
          <a:xfrm>
            <a:off x="4696724" y="2182124"/>
            <a:ext cx="317480" cy="317480"/>
          </a:xfrm>
          <a:prstGeom prst="rect">
            <a:avLst/>
          </a:prstGeom>
        </p:spPr>
      </p:pic>
      <p:sp>
        <p:nvSpPr>
          <p:cNvPr id="12" name="Text 8"/>
          <p:cNvSpPr txBox="1"/>
          <p:nvPr/>
        </p:nvSpPr>
        <p:spPr>
          <a:xfrm>
            <a:off x="4572000" y="2788920"/>
            <a:ext cx="2926080" cy="41148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Held by people</a:t>
            </a:r>
            <a:endParaRPr lang="en-US" sz="2000" dirty="0"/>
          </a:p>
        </p:txBody>
      </p:sp>
      <p:sp>
        <p:nvSpPr>
          <p:cNvPr id="13" name="Text 9"/>
          <p:cNvSpPr txBox="1"/>
          <p:nvPr/>
        </p:nvSpPr>
        <p:spPr>
          <a:xfrm>
            <a:off x="4572000" y="3246120"/>
            <a:ext cx="2971800" cy="9601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The engineer who cured the losses on the last well may be on another rig — or retired.</a:t>
            </a:r>
            <a:endParaRPr lang="en-US" sz="1400" dirty="0"/>
          </a:p>
        </p:txBody>
      </p:sp>
      <p:sp>
        <p:nvSpPr>
          <p:cNvPr id="14" name="Shape 10"/>
          <p:cNvSpPr/>
          <p:nvPr/>
        </p:nvSpPr>
        <p:spPr>
          <a:xfrm>
            <a:off x="8046720" y="1783080"/>
            <a:ext cx="3474720" cy="2514600"/>
          </a:xfrm>
          <a:prstGeom prst="roundRect">
            <a:avLst>
              <a:gd name="adj" fmla="val 4364"/>
            </a:avLst>
          </a:prstGeom>
          <a:solidFill>
            <a:srgbClr val="111827"/>
          </a:solidFill>
          <a:ln w="12700">
            <a:solidFill>
              <a:srgbClr val="1E3A5F"/>
            </a:solidFill>
            <a:prstDash val="solid"/>
          </a:ln>
        </p:spPr>
      </p:sp>
      <p:sp>
        <p:nvSpPr>
          <p:cNvPr id="15" name="Shape 11"/>
          <p:cNvSpPr/>
          <p:nvPr/>
        </p:nvSpPr>
        <p:spPr>
          <a:xfrm>
            <a:off x="8321040" y="2057400"/>
            <a:ext cx="566928" cy="566928"/>
          </a:xfrm>
          <a:prstGeom prst="ellipse">
            <a:avLst/>
          </a:prstGeom>
          <a:solidFill>
            <a:srgbClr val="1E293B"/>
          </a:solidFill>
          <a:ln w="15875">
            <a:solidFill>
              <a:srgbClr val="1E3A5F"/>
            </a:solidFill>
            <a:prstDash val="solid"/>
          </a:ln>
        </p:spPr>
      </p:sp>
      <p:pic>
        <p:nvPicPr>
          <p:cNvPr id="16" name="Image 2" descr="preencoded.png">    </p:cNvPr>
          <p:cNvPicPr>
            <a:picLocks noChangeAspect="1"/>
          </p:cNvPicPr>
          <p:nvPr/>
        </p:nvPicPr>
        <p:blipFill>
          <a:blip r:embed="rId3"/>
          <a:stretch>
            <a:fillRect/>
          </a:stretch>
        </p:blipFill>
        <p:spPr>
          <a:xfrm>
            <a:off x="8445764" y="2182124"/>
            <a:ext cx="317480" cy="317480"/>
          </a:xfrm>
          <a:prstGeom prst="rect">
            <a:avLst/>
          </a:prstGeom>
        </p:spPr>
      </p:pic>
      <p:sp>
        <p:nvSpPr>
          <p:cNvPr id="17" name="Text 12"/>
          <p:cNvSpPr txBox="1"/>
          <p:nvPr/>
        </p:nvSpPr>
        <p:spPr>
          <a:xfrm>
            <a:off x="8321040" y="2788920"/>
            <a:ext cx="2926080" cy="41148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Needed right now</a:t>
            </a:r>
            <a:endParaRPr lang="en-US" sz="2000" dirty="0"/>
          </a:p>
        </p:txBody>
      </p:sp>
      <p:sp>
        <p:nvSpPr>
          <p:cNvPr id="18" name="Text 13"/>
          <p:cNvSpPr txBox="1"/>
          <p:nvPr/>
        </p:nvSpPr>
        <p:spPr>
          <a:xfrm>
            <a:off x="8321040" y="3246120"/>
            <a:ext cx="2971800" cy="9601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Decisions happen at the bit, in minutes. Manual offset review happens before spud, once.</a:t>
            </a:r>
            <a:endParaRPr lang="en-US" sz="1400" dirty="0"/>
          </a:p>
        </p:txBody>
      </p:sp>
      <p:sp>
        <p:nvSpPr>
          <p:cNvPr id="19" name="Shape 14"/>
          <p:cNvSpPr/>
          <p:nvPr/>
        </p:nvSpPr>
        <p:spPr>
          <a:xfrm>
            <a:off x="548640" y="4572000"/>
            <a:ext cx="11064240" cy="1417320"/>
          </a:xfrm>
          <a:prstGeom prst="roundRect">
            <a:avLst>
              <a:gd name="adj" fmla="val 7742"/>
            </a:avLst>
          </a:prstGeom>
          <a:solidFill>
            <a:srgbClr val="1E293B"/>
          </a:solidFill>
          <a:ln w="12700">
            <a:solidFill>
              <a:srgbClr val="1E3A5F"/>
            </a:solidFill>
            <a:prstDash val="solid"/>
          </a:ln>
        </p:spPr>
      </p:sp>
      <p:sp>
        <p:nvSpPr>
          <p:cNvPr id="20" name="Text 15"/>
          <p:cNvSpPr txBox="1"/>
          <p:nvPr/>
        </p:nvSpPr>
        <p:spPr>
          <a:xfrm>
            <a:off x="868680" y="4736592"/>
            <a:ext cx="2194560" cy="914400"/>
          </a:xfrm>
          <a:prstGeom prst="rect">
            <a:avLst/>
          </a:prstGeom>
          <a:noFill/>
          <a:ln/>
        </p:spPr>
        <p:txBody>
          <a:bodyPr wrap="square" lIns="0" tIns="0" rIns="0" bIns="0" rtlCol="0" anchor="t"/>
          <a:lstStyle/>
          <a:p>
            <a:pPr indent="0" marL="0">
              <a:buNone/>
            </a:pPr>
            <a:r>
              <a:rPr lang="en-US" sz="5400" b="1" dirty="0">
                <a:solidFill>
                  <a:srgbClr val="F59E0B"/>
                </a:solidFill>
                <a:latin typeface="Consolas" pitchFamily="34" charset="0"/>
                <a:ea typeface="Consolas" pitchFamily="34" charset="-122"/>
                <a:cs typeface="Consolas" pitchFamily="34" charset="-120"/>
              </a:rPr>
              <a:t>110 h</a:t>
            </a:r>
            <a:endParaRPr lang="en-US" sz="5400" dirty="0"/>
          </a:p>
        </p:txBody>
      </p:sp>
      <p:sp>
        <p:nvSpPr>
          <p:cNvPr id="21" name="Text 16"/>
          <p:cNvSpPr txBox="1"/>
          <p:nvPr/>
        </p:nvSpPr>
        <p:spPr>
          <a:xfrm>
            <a:off x="3154680" y="4828032"/>
            <a:ext cx="8138160" cy="685800"/>
          </a:xfrm>
          <a:prstGeom prst="rect">
            <a:avLst/>
          </a:prstGeom>
          <a:noFill/>
          <a:ln/>
        </p:spPr>
        <p:txBody>
          <a:bodyPr wrap="square" lIns="0" tIns="0" rIns="0" bIns="0" rtlCol="0" anchor="t"/>
          <a:lstStyle/>
          <a:p>
            <a:pPr indent="0" marL="0">
              <a:buNone/>
            </a:pPr>
            <a:r>
              <a:rPr lang="en-US" sz="1700" dirty="0">
                <a:solidFill>
                  <a:srgbClr val="F1F5F9"/>
                </a:solidFill>
                <a:latin typeface="Calibri" pitchFamily="34" charset="0"/>
                <a:ea typeface="Calibri" pitchFamily="34" charset="-122"/>
                <a:cs typeface="Calibri" pitchFamily="34" charset="-120"/>
              </a:rPr>
              <a:t>of NPT in 8 offset events inside the three windows our active well is about to drill — Barail losses, Kopili stuck pipe, Sylhet kick.</a:t>
            </a:r>
            <a:endParaRPr lang="en-US" sz="1700" dirty="0"/>
          </a:p>
        </p:txBody>
      </p:sp>
      <p:sp>
        <p:nvSpPr>
          <p:cNvPr id="22" name="Text 17"/>
          <p:cNvSpPr txBox="1"/>
          <p:nvPr/>
        </p:nvSpPr>
        <p:spPr>
          <a:xfrm>
            <a:off x="3154680" y="5532120"/>
            <a:ext cx="8138160" cy="27432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Demo field (synthetic) — the pattern NWIS is built to break.</a:t>
            </a:r>
            <a:endParaRPr lang="en-US" sz="1100" dirty="0"/>
          </a:p>
        </p:txBody>
      </p:sp>
      <p:sp>
        <p:nvSpPr>
          <p:cNvPr id="23" name="Text 1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24" name="Text 19"/>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INSIGHT</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Engineers don't lack data — they lack the link</a:t>
            </a:r>
            <a:endParaRPr lang="en-US" sz="3200" dirty="0"/>
          </a:p>
        </p:txBody>
      </p:sp>
      <p:sp>
        <p:nvSpPr>
          <p:cNvPr id="4" name="Shape 2"/>
          <p:cNvSpPr/>
          <p:nvPr/>
        </p:nvSpPr>
        <p:spPr>
          <a:xfrm>
            <a:off x="548640" y="1783080"/>
            <a:ext cx="5029200" cy="3063240"/>
          </a:xfrm>
          <a:prstGeom prst="roundRect">
            <a:avLst>
              <a:gd name="adj" fmla="val 3582"/>
            </a:avLst>
          </a:prstGeom>
          <a:solidFill>
            <a:srgbClr val="111827"/>
          </a:solidFill>
          <a:ln w="12700">
            <a:solidFill>
              <a:srgbClr val="1E3A5F"/>
            </a:solidFill>
            <a:prstDash val="solid"/>
          </a:ln>
        </p:spPr>
      </p:sp>
      <p:sp>
        <p:nvSpPr>
          <p:cNvPr id="5" name="Shape 3"/>
          <p:cNvSpPr/>
          <p:nvPr/>
        </p:nvSpPr>
        <p:spPr>
          <a:xfrm>
            <a:off x="868680" y="2103120"/>
            <a:ext cx="685800" cy="685800"/>
          </a:xfrm>
          <a:prstGeom prst="ellipse">
            <a:avLst/>
          </a:prstGeom>
          <a:solidFill>
            <a:srgbClr val="1E293B"/>
          </a:solidFill>
          <a:ln w="15875">
            <a:solidFill>
              <a:srgbClr val="10B981"/>
            </a:solidFill>
            <a:prstDash val="solid"/>
          </a:ln>
        </p:spPr>
      </p:sp>
      <p:pic>
        <p:nvPicPr>
          <p:cNvPr id="6" name="Image 0" descr="preencoded.png">    </p:cNvPr>
          <p:cNvPicPr>
            <a:picLocks noChangeAspect="1"/>
          </p:cNvPicPr>
          <p:nvPr/>
        </p:nvPicPr>
        <p:blipFill>
          <a:blip r:embed="rId1"/>
          <a:stretch>
            <a:fillRect/>
          </a:stretch>
        </p:blipFill>
        <p:spPr>
          <a:xfrm>
            <a:off x="1019556" y="2253996"/>
            <a:ext cx="384048" cy="384048"/>
          </a:xfrm>
          <a:prstGeom prst="rect">
            <a:avLst/>
          </a:prstGeom>
        </p:spPr>
      </p:pic>
      <p:sp>
        <p:nvSpPr>
          <p:cNvPr id="7" name="Text 4"/>
          <p:cNvSpPr txBox="1"/>
          <p:nvPr/>
        </p:nvSpPr>
        <p:spPr>
          <a:xfrm>
            <a:off x="868680" y="2971800"/>
            <a:ext cx="44805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This depth, right now</a:t>
            </a:r>
            <a:endParaRPr lang="en-US" sz="2200" dirty="0"/>
          </a:p>
        </p:txBody>
      </p:sp>
      <p:sp>
        <p:nvSpPr>
          <p:cNvPr id="8" name="Text 5"/>
          <p:cNvSpPr txBox="1"/>
          <p:nvPr/>
        </p:nvSpPr>
        <p:spPr>
          <a:xfrm>
            <a:off x="868680" y="3474720"/>
            <a:ext cx="4389120" cy="822960"/>
          </a:xfrm>
          <a:prstGeom prst="rect">
            <a:avLst/>
          </a:prstGeom>
          <a:noFill/>
          <a:ln/>
        </p:spPr>
        <p:txBody>
          <a:bodyPr wrap="square" lIns="0" tIns="0" rIns="0" bIns="0" rtlCol="0" anchor="t"/>
          <a:lstStyle/>
          <a:p>
            <a:pPr indent="0" marL="0">
              <a:buNone/>
            </a:pPr>
            <a:r>
              <a:rPr lang="en-US" sz="1500" dirty="0">
                <a:solidFill>
                  <a:srgbClr val="94A3B8"/>
                </a:solidFill>
                <a:latin typeface="Calibri" pitchFamily="34" charset="0"/>
                <a:ea typeface="Calibri" pitchFamily="34" charset="-122"/>
                <a:cs typeface="Calibri" pitchFamily="34" charset="-120"/>
              </a:rPr>
              <a:t>eRTMAC: 3,150 m · Barail Group · ECD 1.48 sg and climbing · torque steady</a:t>
            </a:r>
            <a:endParaRPr lang="en-US" sz="1500" dirty="0"/>
          </a:p>
        </p:txBody>
      </p:sp>
      <p:sp>
        <p:nvSpPr>
          <p:cNvPr id="9" name="Shape 6"/>
          <p:cNvSpPr/>
          <p:nvPr/>
        </p:nvSpPr>
        <p:spPr>
          <a:xfrm>
            <a:off x="6583680" y="1783080"/>
            <a:ext cx="5029200" cy="3063240"/>
          </a:xfrm>
          <a:prstGeom prst="roundRect">
            <a:avLst>
              <a:gd name="adj" fmla="val 3582"/>
            </a:avLst>
          </a:prstGeom>
          <a:solidFill>
            <a:srgbClr val="111827"/>
          </a:solidFill>
          <a:ln w="12700">
            <a:solidFill>
              <a:srgbClr val="1E3A5F"/>
            </a:solidFill>
            <a:prstDash val="solid"/>
          </a:ln>
        </p:spPr>
      </p:sp>
      <p:sp>
        <p:nvSpPr>
          <p:cNvPr id="10" name="Shape 7"/>
          <p:cNvSpPr/>
          <p:nvPr/>
        </p:nvSpPr>
        <p:spPr>
          <a:xfrm>
            <a:off x="6903720" y="2103120"/>
            <a:ext cx="685800" cy="685800"/>
          </a:xfrm>
          <a:prstGeom prst="ellipse">
            <a:avLst/>
          </a:prstGeom>
          <a:solidFill>
            <a:srgbClr val="1E293B"/>
          </a:solidFill>
          <a:ln w="15875">
            <a:solidFill>
              <a:srgbClr val="10B981"/>
            </a:solidFill>
            <a:prstDash val="solid"/>
          </a:ln>
        </p:spPr>
      </p:sp>
      <p:pic>
        <p:nvPicPr>
          <p:cNvPr id="11" name="Image 1" descr="preencoded.png">    </p:cNvPr>
          <p:cNvPicPr>
            <a:picLocks noChangeAspect="1"/>
          </p:cNvPicPr>
          <p:nvPr/>
        </p:nvPicPr>
        <p:blipFill>
          <a:blip r:embed="rId2"/>
          <a:stretch>
            <a:fillRect/>
          </a:stretch>
        </p:blipFill>
        <p:spPr>
          <a:xfrm>
            <a:off x="7054596" y="2253996"/>
            <a:ext cx="384048" cy="384048"/>
          </a:xfrm>
          <a:prstGeom prst="rect">
            <a:avLst/>
          </a:prstGeom>
        </p:spPr>
      </p:pic>
      <p:sp>
        <p:nvSpPr>
          <p:cNvPr id="12" name="Text 8"/>
          <p:cNvSpPr txBox="1"/>
          <p:nvPr/>
        </p:nvSpPr>
        <p:spPr>
          <a:xfrm>
            <a:off x="6903720" y="2971800"/>
            <a:ext cx="44805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What happened here before</a:t>
            </a:r>
            <a:endParaRPr lang="en-US" sz="2200" dirty="0"/>
          </a:p>
        </p:txBody>
      </p:sp>
      <p:sp>
        <p:nvSpPr>
          <p:cNvPr id="13" name="Text 9"/>
          <p:cNvSpPr txBox="1"/>
          <p:nvPr/>
        </p:nvSpPr>
        <p:spPr>
          <a:xfrm>
            <a:off x="6903720" y="3474720"/>
            <a:ext cx="4389120" cy="1005840"/>
          </a:xfrm>
          <a:prstGeom prst="rect">
            <a:avLst/>
          </a:prstGeom>
          <a:noFill/>
          <a:ln/>
        </p:spPr>
        <p:txBody>
          <a:bodyPr wrap="square" lIns="0" tIns="0" rIns="0" bIns="0" rtlCol="0" anchor="t"/>
          <a:lstStyle/>
          <a:p>
            <a:pPr indent="0" marL="0">
              <a:buNone/>
            </a:pPr>
            <a:r>
              <a:rPr lang="en-US" sz="1500" dirty="0">
                <a:solidFill>
                  <a:srgbClr val="94A3B8"/>
                </a:solidFill>
                <a:latin typeface="Calibri" pitchFamily="34" charset="0"/>
                <a:ea typeface="Calibri" pitchFamily="34" charset="-122"/>
                <a:cs typeface="Calibri" pitchFamily="34" charset="-120"/>
              </a:rPr>
              <a:t>OIL-AX-99 lost 45 m³ at 3,150 m when ECD hit 1.52 sg; cured with LCM + MW 1.38 sg (DDR Day 42, p.3).</a:t>
            </a:r>
            <a:endParaRPr lang="en-US" sz="1500" dirty="0"/>
          </a:p>
        </p:txBody>
      </p:sp>
      <p:sp>
        <p:nvSpPr>
          <p:cNvPr id="14" name="Shape 10"/>
          <p:cNvSpPr/>
          <p:nvPr/>
        </p:nvSpPr>
        <p:spPr>
          <a:xfrm>
            <a:off x="5669280" y="2907792"/>
            <a:ext cx="822960" cy="822960"/>
          </a:xfrm>
          <a:prstGeom prst="ellipse">
            <a:avLst/>
          </a:prstGeom>
          <a:solidFill>
            <a:srgbClr val="22D3EE"/>
          </a:solidFill>
          <a:ln w="12700">
            <a:solidFill>
              <a:srgbClr val="22D3EE"/>
            </a:solidFill>
            <a:prstDash val="solid"/>
          </a:ln>
        </p:spPr>
      </p:sp>
      <p:pic>
        <p:nvPicPr>
          <p:cNvPr id="15" name="Image 2" descr="preencoded.png">    </p:cNvPr>
          <p:cNvPicPr>
            <a:picLocks noChangeAspect="1"/>
          </p:cNvPicPr>
          <p:nvPr/>
        </p:nvPicPr>
        <p:blipFill>
          <a:blip r:embed="rId3"/>
          <a:stretch>
            <a:fillRect/>
          </a:stretch>
        </p:blipFill>
        <p:spPr>
          <a:xfrm>
            <a:off x="5870448" y="3108960"/>
            <a:ext cx="420624" cy="420624"/>
          </a:xfrm>
          <a:prstGeom prst="rect">
            <a:avLst/>
          </a:prstGeom>
        </p:spPr>
      </p:pic>
      <p:sp>
        <p:nvSpPr>
          <p:cNvPr id="16" name="Text 11"/>
          <p:cNvSpPr txBox="1"/>
          <p:nvPr/>
        </p:nvSpPr>
        <p:spPr>
          <a:xfrm>
            <a:off x="548640" y="5257800"/>
            <a:ext cx="11064240" cy="457200"/>
          </a:xfrm>
          <a:prstGeom prst="rect">
            <a:avLst/>
          </a:prstGeom>
          <a:noFill/>
          <a:ln/>
        </p:spPr>
        <p:txBody>
          <a:bodyPr wrap="square" lIns="0" tIns="0" rIns="0" bIns="0" rtlCol="0" anchor="t"/>
          <a:lstStyle/>
          <a:p>
            <a:pPr algn="ctr" indent="0" marL="0">
              <a:buNone/>
            </a:pPr>
            <a:r>
              <a:rPr lang="en-US" sz="2000" b="1" dirty="0">
                <a:solidFill>
                  <a:srgbClr val="22D3EE"/>
                </a:solidFill>
                <a:latin typeface="Calibri" pitchFamily="34" charset="0"/>
                <a:ea typeface="Calibri" pitchFamily="34" charset="-122"/>
                <a:cs typeface="Calibri" pitchFamily="34" charset="-120"/>
              </a:rPr>
              <a:t>NWIS is that link — depth-aware, evidence-backed, explainable.</a:t>
            </a:r>
            <a:endParaRPr lang="en-US" sz="2000" dirty="0"/>
          </a:p>
        </p:txBody>
      </p:sp>
      <p:sp>
        <p:nvSpPr>
          <p:cNvPr id="17" name="Text 1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18" name="Text 1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One workflow from the bit to the decision</a:t>
            </a:r>
            <a:endParaRPr lang="en-US" sz="3200" dirty="0"/>
          </a:p>
        </p:txBody>
      </p:sp>
      <p:sp>
        <p:nvSpPr>
          <p:cNvPr id="4" name="Shape 2"/>
          <p:cNvSpPr/>
          <p:nvPr/>
        </p:nvSpPr>
        <p:spPr>
          <a:xfrm>
            <a:off x="548640" y="1874520"/>
            <a:ext cx="2011680" cy="914400"/>
          </a:xfrm>
          <a:prstGeom prst="roundRect">
            <a:avLst>
              <a:gd name="adj" fmla="val 12000"/>
            </a:avLst>
          </a:prstGeom>
          <a:solidFill>
            <a:srgbClr val="111827"/>
          </a:solidFill>
          <a:ln w="12700">
            <a:solidFill>
              <a:srgbClr val="1E3A5F"/>
            </a:solidFill>
            <a:prstDash val="solid"/>
          </a:ln>
        </p:spPr>
      </p:sp>
      <p:sp>
        <p:nvSpPr>
          <p:cNvPr id="5" name="Text 3"/>
          <p:cNvSpPr txBox="1"/>
          <p:nvPr/>
        </p:nvSpPr>
        <p:spPr>
          <a:xfrm>
            <a:off x="713232" y="200253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01</a:t>
            </a:r>
            <a:endParaRPr lang="en-US" sz="1200" dirty="0"/>
          </a:p>
        </p:txBody>
      </p:sp>
      <p:sp>
        <p:nvSpPr>
          <p:cNvPr id="6" name="Text 4"/>
          <p:cNvSpPr txBox="1"/>
          <p:nvPr/>
        </p:nvSpPr>
        <p:spPr>
          <a:xfrm>
            <a:off x="713232" y="225856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Active well</a:t>
            </a:r>
            <a:endParaRPr lang="en-US" sz="1400" dirty="0"/>
          </a:p>
        </p:txBody>
      </p:sp>
      <p:sp>
        <p:nvSpPr>
          <p:cNvPr id="7" name="Shape 5"/>
          <p:cNvSpPr/>
          <p:nvPr/>
        </p:nvSpPr>
        <p:spPr>
          <a:xfrm>
            <a:off x="2798064" y="1874520"/>
            <a:ext cx="2011680" cy="914400"/>
          </a:xfrm>
          <a:prstGeom prst="roundRect">
            <a:avLst>
              <a:gd name="adj" fmla="val 12000"/>
            </a:avLst>
          </a:prstGeom>
          <a:solidFill>
            <a:srgbClr val="111827"/>
          </a:solidFill>
          <a:ln w="12700">
            <a:solidFill>
              <a:srgbClr val="1E3A5F"/>
            </a:solidFill>
            <a:prstDash val="solid"/>
          </a:ln>
        </p:spPr>
      </p:sp>
      <p:sp>
        <p:nvSpPr>
          <p:cNvPr id="8" name="Text 6"/>
          <p:cNvSpPr txBox="1"/>
          <p:nvPr/>
        </p:nvSpPr>
        <p:spPr>
          <a:xfrm>
            <a:off x="2962656" y="200253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02</a:t>
            </a:r>
            <a:endParaRPr lang="en-US" sz="1200" dirty="0"/>
          </a:p>
        </p:txBody>
      </p:sp>
      <p:sp>
        <p:nvSpPr>
          <p:cNvPr id="9" name="Text 7"/>
          <p:cNvSpPr txBox="1"/>
          <p:nvPr/>
        </p:nvSpPr>
        <p:spPr>
          <a:xfrm>
            <a:off x="2962656" y="225856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Current depth</a:t>
            </a:r>
            <a:endParaRPr lang="en-US" sz="1400" dirty="0"/>
          </a:p>
        </p:txBody>
      </p:sp>
      <p:sp>
        <p:nvSpPr>
          <p:cNvPr id="10" name="Shape 8"/>
          <p:cNvSpPr/>
          <p:nvPr/>
        </p:nvSpPr>
        <p:spPr>
          <a:xfrm>
            <a:off x="5047488" y="1874520"/>
            <a:ext cx="2011680" cy="914400"/>
          </a:xfrm>
          <a:prstGeom prst="roundRect">
            <a:avLst>
              <a:gd name="adj" fmla="val 12000"/>
            </a:avLst>
          </a:prstGeom>
          <a:solidFill>
            <a:srgbClr val="111827"/>
          </a:solidFill>
          <a:ln w="12700">
            <a:solidFill>
              <a:srgbClr val="1E3A5F"/>
            </a:solidFill>
            <a:prstDash val="solid"/>
          </a:ln>
        </p:spPr>
      </p:sp>
      <p:sp>
        <p:nvSpPr>
          <p:cNvPr id="11" name="Text 9"/>
          <p:cNvSpPr txBox="1"/>
          <p:nvPr/>
        </p:nvSpPr>
        <p:spPr>
          <a:xfrm>
            <a:off x="5212080" y="200253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03</a:t>
            </a:r>
            <a:endParaRPr lang="en-US" sz="1200" dirty="0"/>
          </a:p>
        </p:txBody>
      </p:sp>
      <p:sp>
        <p:nvSpPr>
          <p:cNvPr id="12" name="Text 10"/>
          <p:cNvSpPr txBox="1"/>
          <p:nvPr/>
        </p:nvSpPr>
        <p:spPr>
          <a:xfrm>
            <a:off x="5212080" y="225856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Nearby wells</a:t>
            </a:r>
            <a:endParaRPr lang="en-US" sz="1400" dirty="0"/>
          </a:p>
        </p:txBody>
      </p:sp>
      <p:sp>
        <p:nvSpPr>
          <p:cNvPr id="13" name="Shape 11"/>
          <p:cNvSpPr/>
          <p:nvPr/>
        </p:nvSpPr>
        <p:spPr>
          <a:xfrm>
            <a:off x="7296912" y="1874520"/>
            <a:ext cx="2011680" cy="914400"/>
          </a:xfrm>
          <a:prstGeom prst="roundRect">
            <a:avLst>
              <a:gd name="adj" fmla="val 12000"/>
            </a:avLst>
          </a:prstGeom>
          <a:solidFill>
            <a:srgbClr val="111827"/>
          </a:solidFill>
          <a:ln w="12700">
            <a:solidFill>
              <a:srgbClr val="1E3A5F"/>
            </a:solidFill>
            <a:prstDash val="solid"/>
          </a:ln>
        </p:spPr>
      </p:sp>
      <p:sp>
        <p:nvSpPr>
          <p:cNvPr id="14" name="Text 12"/>
          <p:cNvSpPr txBox="1"/>
          <p:nvPr/>
        </p:nvSpPr>
        <p:spPr>
          <a:xfrm>
            <a:off x="7461504" y="200253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04</a:t>
            </a:r>
            <a:endParaRPr lang="en-US" sz="1200" dirty="0"/>
          </a:p>
        </p:txBody>
      </p:sp>
      <p:sp>
        <p:nvSpPr>
          <p:cNvPr id="15" name="Text 13"/>
          <p:cNvSpPr txBox="1"/>
          <p:nvPr/>
        </p:nvSpPr>
        <p:spPr>
          <a:xfrm>
            <a:off x="7461504" y="225856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Historical events</a:t>
            </a:r>
            <a:endParaRPr lang="en-US" sz="1400" dirty="0"/>
          </a:p>
        </p:txBody>
      </p:sp>
      <p:sp>
        <p:nvSpPr>
          <p:cNvPr id="16" name="Shape 14"/>
          <p:cNvSpPr/>
          <p:nvPr/>
        </p:nvSpPr>
        <p:spPr>
          <a:xfrm>
            <a:off x="9546336" y="1874520"/>
            <a:ext cx="2011680" cy="914400"/>
          </a:xfrm>
          <a:prstGeom prst="roundRect">
            <a:avLst>
              <a:gd name="adj" fmla="val 12000"/>
            </a:avLst>
          </a:prstGeom>
          <a:solidFill>
            <a:srgbClr val="111827"/>
          </a:solidFill>
          <a:ln w="12700">
            <a:solidFill>
              <a:srgbClr val="1E3A5F"/>
            </a:solidFill>
            <a:prstDash val="solid"/>
          </a:ln>
        </p:spPr>
      </p:sp>
      <p:sp>
        <p:nvSpPr>
          <p:cNvPr id="17" name="Text 15"/>
          <p:cNvSpPr txBox="1"/>
          <p:nvPr/>
        </p:nvSpPr>
        <p:spPr>
          <a:xfrm>
            <a:off x="9710928" y="200253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05</a:t>
            </a:r>
            <a:endParaRPr lang="en-US" sz="1200" dirty="0"/>
          </a:p>
        </p:txBody>
      </p:sp>
      <p:sp>
        <p:nvSpPr>
          <p:cNvPr id="18" name="Text 16"/>
          <p:cNvSpPr txBox="1"/>
          <p:nvPr/>
        </p:nvSpPr>
        <p:spPr>
          <a:xfrm>
            <a:off x="9710928" y="225856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Depth / formation correlation</a:t>
            </a:r>
            <a:endParaRPr lang="en-US" sz="1400" dirty="0"/>
          </a:p>
        </p:txBody>
      </p:sp>
      <p:sp>
        <p:nvSpPr>
          <p:cNvPr id="19" name="Shape 17"/>
          <p:cNvSpPr/>
          <p:nvPr/>
        </p:nvSpPr>
        <p:spPr>
          <a:xfrm>
            <a:off x="1673352" y="3108960"/>
            <a:ext cx="2011680" cy="914400"/>
          </a:xfrm>
          <a:prstGeom prst="roundRect">
            <a:avLst>
              <a:gd name="adj" fmla="val 12000"/>
            </a:avLst>
          </a:prstGeom>
          <a:solidFill>
            <a:srgbClr val="111827"/>
          </a:solidFill>
          <a:ln w="12700">
            <a:solidFill>
              <a:srgbClr val="1E3A5F"/>
            </a:solidFill>
            <a:prstDash val="solid"/>
          </a:ln>
        </p:spPr>
      </p:sp>
      <p:sp>
        <p:nvSpPr>
          <p:cNvPr id="20" name="Text 18"/>
          <p:cNvSpPr txBox="1"/>
          <p:nvPr/>
        </p:nvSpPr>
        <p:spPr>
          <a:xfrm>
            <a:off x="1837944" y="3236976"/>
            <a:ext cx="548640" cy="274320"/>
          </a:xfrm>
          <a:prstGeom prst="rect">
            <a:avLst/>
          </a:prstGeom>
          <a:noFill/>
          <a:ln/>
        </p:spPr>
        <p:txBody>
          <a:bodyPr wrap="square" lIns="0" tIns="0" rIns="0" bIns="0" rtlCol="0" anchor="t"/>
          <a:lstStyle/>
          <a:p>
            <a:pPr indent="0" marL="0">
              <a:buNone/>
            </a:pPr>
            <a:r>
              <a:rPr lang="en-US" sz="1200" b="1" dirty="0">
                <a:solidFill>
                  <a:srgbClr val="22D3EE"/>
                </a:solidFill>
                <a:latin typeface="Consolas" pitchFamily="34" charset="0"/>
                <a:ea typeface="Consolas" pitchFamily="34" charset="-122"/>
                <a:cs typeface="Consolas" pitchFamily="34" charset="-120"/>
              </a:rPr>
              <a:t>06</a:t>
            </a:r>
            <a:endParaRPr lang="en-US" sz="1200" dirty="0"/>
          </a:p>
        </p:txBody>
      </p:sp>
      <p:sp>
        <p:nvSpPr>
          <p:cNvPr id="21" name="Text 19"/>
          <p:cNvSpPr txBox="1"/>
          <p:nvPr/>
        </p:nvSpPr>
        <p:spPr>
          <a:xfrm>
            <a:off x="1837944" y="349300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Evidence</a:t>
            </a:r>
            <a:endParaRPr lang="en-US" sz="1400" dirty="0"/>
          </a:p>
        </p:txBody>
      </p:sp>
      <p:sp>
        <p:nvSpPr>
          <p:cNvPr id="22" name="Shape 20"/>
          <p:cNvSpPr/>
          <p:nvPr/>
        </p:nvSpPr>
        <p:spPr>
          <a:xfrm>
            <a:off x="3922776" y="3108960"/>
            <a:ext cx="2011680" cy="914400"/>
          </a:xfrm>
          <a:prstGeom prst="roundRect">
            <a:avLst>
              <a:gd name="adj" fmla="val 12000"/>
            </a:avLst>
          </a:prstGeom>
          <a:solidFill>
            <a:srgbClr val="1E293B"/>
          </a:solidFill>
          <a:ln w="12700">
            <a:solidFill>
              <a:srgbClr val="1E3A5F"/>
            </a:solidFill>
            <a:prstDash val="solid"/>
          </a:ln>
        </p:spPr>
      </p:sp>
      <p:sp>
        <p:nvSpPr>
          <p:cNvPr id="23" name="Text 21"/>
          <p:cNvSpPr txBox="1"/>
          <p:nvPr/>
        </p:nvSpPr>
        <p:spPr>
          <a:xfrm>
            <a:off x="4087368" y="3236976"/>
            <a:ext cx="548640" cy="274320"/>
          </a:xfrm>
          <a:prstGeom prst="rect">
            <a:avLst/>
          </a:prstGeom>
          <a:noFill/>
          <a:ln/>
        </p:spPr>
        <p:txBody>
          <a:bodyPr wrap="square" lIns="0" tIns="0" rIns="0" bIns="0" rtlCol="0" anchor="t"/>
          <a:lstStyle/>
          <a:p>
            <a:pPr indent="0" marL="0">
              <a:buNone/>
            </a:pPr>
            <a:r>
              <a:rPr lang="en-US" sz="1200" b="1" dirty="0">
                <a:solidFill>
                  <a:srgbClr val="F59E0B"/>
                </a:solidFill>
                <a:latin typeface="Consolas" pitchFamily="34" charset="0"/>
                <a:ea typeface="Consolas" pitchFamily="34" charset="-122"/>
                <a:cs typeface="Consolas" pitchFamily="34" charset="-120"/>
              </a:rPr>
              <a:t>07</a:t>
            </a:r>
            <a:endParaRPr lang="en-US" sz="1200" dirty="0"/>
          </a:p>
        </p:txBody>
      </p:sp>
      <p:sp>
        <p:nvSpPr>
          <p:cNvPr id="24" name="Text 22"/>
          <p:cNvSpPr txBox="1"/>
          <p:nvPr/>
        </p:nvSpPr>
        <p:spPr>
          <a:xfrm>
            <a:off x="4087368" y="349300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Risk signal</a:t>
            </a:r>
            <a:endParaRPr lang="en-US" sz="1400" dirty="0"/>
          </a:p>
        </p:txBody>
      </p:sp>
      <p:sp>
        <p:nvSpPr>
          <p:cNvPr id="25" name="Shape 23"/>
          <p:cNvSpPr/>
          <p:nvPr/>
        </p:nvSpPr>
        <p:spPr>
          <a:xfrm>
            <a:off x="6172200" y="3108960"/>
            <a:ext cx="2011680" cy="914400"/>
          </a:xfrm>
          <a:prstGeom prst="roundRect">
            <a:avLst>
              <a:gd name="adj" fmla="val 12000"/>
            </a:avLst>
          </a:prstGeom>
          <a:solidFill>
            <a:srgbClr val="1E293B"/>
          </a:solidFill>
          <a:ln w="12700">
            <a:solidFill>
              <a:srgbClr val="1E3A5F"/>
            </a:solidFill>
            <a:prstDash val="solid"/>
          </a:ln>
        </p:spPr>
      </p:sp>
      <p:sp>
        <p:nvSpPr>
          <p:cNvPr id="26" name="Text 24"/>
          <p:cNvSpPr txBox="1"/>
          <p:nvPr/>
        </p:nvSpPr>
        <p:spPr>
          <a:xfrm>
            <a:off x="6336792" y="3236976"/>
            <a:ext cx="548640" cy="274320"/>
          </a:xfrm>
          <a:prstGeom prst="rect">
            <a:avLst/>
          </a:prstGeom>
          <a:noFill/>
          <a:ln/>
        </p:spPr>
        <p:txBody>
          <a:bodyPr wrap="square" lIns="0" tIns="0" rIns="0" bIns="0" rtlCol="0" anchor="t"/>
          <a:lstStyle/>
          <a:p>
            <a:pPr indent="0" marL="0">
              <a:buNone/>
            </a:pPr>
            <a:r>
              <a:rPr lang="en-US" sz="1200" b="1" dirty="0">
                <a:solidFill>
                  <a:srgbClr val="F59E0B"/>
                </a:solidFill>
                <a:latin typeface="Consolas" pitchFamily="34" charset="0"/>
                <a:ea typeface="Consolas" pitchFamily="34" charset="-122"/>
                <a:cs typeface="Consolas" pitchFamily="34" charset="-120"/>
              </a:rPr>
              <a:t>08</a:t>
            </a:r>
            <a:endParaRPr lang="en-US" sz="1200" dirty="0"/>
          </a:p>
        </p:txBody>
      </p:sp>
      <p:sp>
        <p:nvSpPr>
          <p:cNvPr id="27" name="Text 25"/>
          <p:cNvSpPr txBox="1"/>
          <p:nvPr/>
        </p:nvSpPr>
        <p:spPr>
          <a:xfrm>
            <a:off x="6336792" y="349300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Proactive alert</a:t>
            </a:r>
            <a:endParaRPr lang="en-US" sz="1400" dirty="0"/>
          </a:p>
        </p:txBody>
      </p:sp>
      <p:sp>
        <p:nvSpPr>
          <p:cNvPr id="28" name="Shape 26"/>
          <p:cNvSpPr/>
          <p:nvPr/>
        </p:nvSpPr>
        <p:spPr>
          <a:xfrm>
            <a:off x="8421624" y="3108960"/>
            <a:ext cx="2011680" cy="914400"/>
          </a:xfrm>
          <a:prstGeom prst="roundRect">
            <a:avLst>
              <a:gd name="adj" fmla="val 12000"/>
            </a:avLst>
          </a:prstGeom>
          <a:solidFill>
            <a:srgbClr val="1E293B"/>
          </a:solidFill>
          <a:ln w="12700">
            <a:solidFill>
              <a:srgbClr val="1E3A5F"/>
            </a:solidFill>
            <a:prstDash val="solid"/>
          </a:ln>
        </p:spPr>
      </p:sp>
      <p:sp>
        <p:nvSpPr>
          <p:cNvPr id="29" name="Text 27"/>
          <p:cNvSpPr txBox="1"/>
          <p:nvPr/>
        </p:nvSpPr>
        <p:spPr>
          <a:xfrm>
            <a:off x="8586216" y="3236976"/>
            <a:ext cx="548640" cy="274320"/>
          </a:xfrm>
          <a:prstGeom prst="rect">
            <a:avLst/>
          </a:prstGeom>
          <a:noFill/>
          <a:ln/>
        </p:spPr>
        <p:txBody>
          <a:bodyPr wrap="square" lIns="0" tIns="0" rIns="0" bIns="0" rtlCol="0" anchor="t"/>
          <a:lstStyle/>
          <a:p>
            <a:pPr indent="0" marL="0">
              <a:buNone/>
            </a:pPr>
            <a:r>
              <a:rPr lang="en-US" sz="1200" b="1" dirty="0">
                <a:solidFill>
                  <a:srgbClr val="F59E0B"/>
                </a:solidFill>
                <a:latin typeface="Consolas" pitchFamily="34" charset="0"/>
                <a:ea typeface="Consolas" pitchFamily="34" charset="-122"/>
                <a:cs typeface="Consolas" pitchFamily="34" charset="-120"/>
              </a:rPr>
              <a:t>09</a:t>
            </a:r>
            <a:endParaRPr lang="en-US" sz="1200" dirty="0"/>
          </a:p>
        </p:txBody>
      </p:sp>
      <p:sp>
        <p:nvSpPr>
          <p:cNvPr id="30" name="Text 28"/>
          <p:cNvSpPr txBox="1"/>
          <p:nvPr/>
        </p:nvSpPr>
        <p:spPr>
          <a:xfrm>
            <a:off x="8586216" y="3493008"/>
            <a:ext cx="1737360" cy="4572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Recommended checks</a:t>
            </a:r>
            <a:endParaRPr lang="en-US" sz="1400" dirty="0"/>
          </a:p>
        </p:txBody>
      </p:sp>
      <p:sp>
        <p:nvSpPr>
          <p:cNvPr id="31" name="Shape 29"/>
          <p:cNvSpPr/>
          <p:nvPr/>
        </p:nvSpPr>
        <p:spPr>
          <a:xfrm>
            <a:off x="548640" y="4617720"/>
            <a:ext cx="502920" cy="502920"/>
          </a:xfrm>
          <a:prstGeom prst="ellipse">
            <a:avLst/>
          </a:prstGeom>
          <a:solidFill>
            <a:srgbClr val="1E293B"/>
          </a:solidFill>
          <a:ln w="15875">
            <a:solidFill>
              <a:srgbClr val="1E3A5F"/>
            </a:solidFill>
            <a:prstDash val="solid"/>
          </a:ln>
        </p:spPr>
      </p:sp>
      <p:pic>
        <p:nvPicPr>
          <p:cNvPr id="32" name="Image 0" descr="preencoded.png">    </p:cNvPr>
          <p:cNvPicPr>
            <a:picLocks noChangeAspect="1"/>
          </p:cNvPicPr>
          <p:nvPr/>
        </p:nvPicPr>
        <p:blipFill>
          <a:blip r:embed="rId1"/>
          <a:stretch>
            <a:fillRect/>
          </a:stretch>
        </p:blipFill>
        <p:spPr>
          <a:xfrm>
            <a:off x="659282" y="4728362"/>
            <a:ext cx="281635" cy="281635"/>
          </a:xfrm>
          <a:prstGeom prst="rect">
            <a:avLst/>
          </a:prstGeom>
        </p:spPr>
      </p:pic>
      <p:sp>
        <p:nvSpPr>
          <p:cNvPr id="33" name="Text 30"/>
          <p:cNvSpPr txBox="1"/>
          <p:nvPr/>
        </p:nvSpPr>
        <p:spPr>
          <a:xfrm>
            <a:off x="1188720" y="4617720"/>
            <a:ext cx="2103120" cy="2743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GIS map</a:t>
            </a:r>
            <a:endParaRPr lang="en-US" sz="1500" dirty="0"/>
          </a:p>
        </p:txBody>
      </p:sp>
      <p:sp>
        <p:nvSpPr>
          <p:cNvPr id="34" name="Text 31"/>
          <p:cNvSpPr txBox="1"/>
          <p:nvPr/>
        </p:nvSpPr>
        <p:spPr>
          <a:xfrm>
            <a:off x="1188720" y="4919472"/>
            <a:ext cx="210312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Offsets in a user radius, well paths, bit position</a:t>
            </a:r>
            <a:endParaRPr lang="en-US" sz="1200" dirty="0"/>
          </a:p>
        </p:txBody>
      </p:sp>
      <p:sp>
        <p:nvSpPr>
          <p:cNvPr id="35" name="Shape 32"/>
          <p:cNvSpPr/>
          <p:nvPr/>
        </p:nvSpPr>
        <p:spPr>
          <a:xfrm>
            <a:off x="3364992" y="4617720"/>
            <a:ext cx="502920" cy="502920"/>
          </a:xfrm>
          <a:prstGeom prst="ellipse">
            <a:avLst/>
          </a:prstGeom>
          <a:solidFill>
            <a:srgbClr val="1E293B"/>
          </a:solidFill>
          <a:ln w="15875">
            <a:solidFill>
              <a:srgbClr val="1E3A5F"/>
            </a:solidFill>
            <a:prstDash val="solid"/>
          </a:ln>
        </p:spPr>
      </p:sp>
      <p:pic>
        <p:nvPicPr>
          <p:cNvPr id="36" name="Image 1" descr="preencoded.png">    </p:cNvPr>
          <p:cNvPicPr>
            <a:picLocks noChangeAspect="1"/>
          </p:cNvPicPr>
          <p:nvPr/>
        </p:nvPicPr>
        <p:blipFill>
          <a:blip r:embed="rId2"/>
          <a:stretch>
            <a:fillRect/>
          </a:stretch>
        </p:blipFill>
        <p:spPr>
          <a:xfrm>
            <a:off x="3475634" y="4728362"/>
            <a:ext cx="281635" cy="281635"/>
          </a:xfrm>
          <a:prstGeom prst="rect">
            <a:avLst/>
          </a:prstGeom>
        </p:spPr>
      </p:pic>
      <p:sp>
        <p:nvSpPr>
          <p:cNvPr id="37" name="Text 33"/>
          <p:cNvSpPr txBox="1"/>
          <p:nvPr/>
        </p:nvSpPr>
        <p:spPr>
          <a:xfrm>
            <a:off x="4005072" y="4617720"/>
            <a:ext cx="2103120" cy="2743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Correlation</a:t>
            </a:r>
            <a:endParaRPr lang="en-US" sz="1500" dirty="0"/>
          </a:p>
        </p:txBody>
      </p:sp>
      <p:sp>
        <p:nvSpPr>
          <p:cNvPr id="38" name="Text 34"/>
          <p:cNvSpPr txBox="1"/>
          <p:nvPr/>
        </p:nvSpPr>
        <p:spPr>
          <a:xfrm>
            <a:off x="4005072" y="4919472"/>
            <a:ext cx="210312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Formation tops &amp; parameters on one depth axis</a:t>
            </a:r>
            <a:endParaRPr lang="en-US" sz="1200" dirty="0"/>
          </a:p>
        </p:txBody>
      </p:sp>
      <p:sp>
        <p:nvSpPr>
          <p:cNvPr id="39" name="Shape 35"/>
          <p:cNvSpPr/>
          <p:nvPr/>
        </p:nvSpPr>
        <p:spPr>
          <a:xfrm>
            <a:off x="6181344" y="4617720"/>
            <a:ext cx="502920" cy="502920"/>
          </a:xfrm>
          <a:prstGeom prst="ellipse">
            <a:avLst/>
          </a:prstGeom>
          <a:solidFill>
            <a:srgbClr val="1E293B"/>
          </a:solidFill>
          <a:ln w="15875">
            <a:solidFill>
              <a:srgbClr val="1E3A5F"/>
            </a:solidFill>
            <a:prstDash val="solid"/>
          </a:ln>
        </p:spPr>
      </p:sp>
      <p:pic>
        <p:nvPicPr>
          <p:cNvPr id="40" name="Image 2" descr="preencoded.png">    </p:cNvPr>
          <p:cNvPicPr>
            <a:picLocks noChangeAspect="1"/>
          </p:cNvPicPr>
          <p:nvPr/>
        </p:nvPicPr>
        <p:blipFill>
          <a:blip r:embed="rId3"/>
          <a:stretch>
            <a:fillRect/>
          </a:stretch>
        </p:blipFill>
        <p:spPr>
          <a:xfrm>
            <a:off x="6291986" y="4728362"/>
            <a:ext cx="281635" cy="281635"/>
          </a:xfrm>
          <a:prstGeom prst="rect">
            <a:avLst/>
          </a:prstGeom>
        </p:spPr>
      </p:pic>
      <p:sp>
        <p:nvSpPr>
          <p:cNvPr id="41" name="Text 36"/>
          <p:cNvSpPr txBox="1"/>
          <p:nvPr/>
        </p:nvSpPr>
        <p:spPr>
          <a:xfrm>
            <a:off x="6821424" y="4617720"/>
            <a:ext cx="2103120" cy="2743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Evidence search</a:t>
            </a:r>
            <a:endParaRPr lang="en-US" sz="1500" dirty="0"/>
          </a:p>
        </p:txBody>
      </p:sp>
      <p:sp>
        <p:nvSpPr>
          <p:cNvPr id="42" name="Text 37"/>
          <p:cNvSpPr txBox="1"/>
          <p:nvPr/>
        </p:nvSpPr>
        <p:spPr>
          <a:xfrm>
            <a:off x="6821424" y="4919472"/>
            <a:ext cx="210312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Cited answers from reports &amp; events</a:t>
            </a:r>
            <a:endParaRPr lang="en-US" sz="1200" dirty="0"/>
          </a:p>
        </p:txBody>
      </p:sp>
      <p:sp>
        <p:nvSpPr>
          <p:cNvPr id="43" name="Shape 38"/>
          <p:cNvSpPr/>
          <p:nvPr/>
        </p:nvSpPr>
        <p:spPr>
          <a:xfrm>
            <a:off x="8997696" y="4617720"/>
            <a:ext cx="502920" cy="502920"/>
          </a:xfrm>
          <a:prstGeom prst="ellipse">
            <a:avLst/>
          </a:prstGeom>
          <a:solidFill>
            <a:srgbClr val="1E293B"/>
          </a:solidFill>
          <a:ln w="15875">
            <a:solidFill>
              <a:srgbClr val="1E3A5F"/>
            </a:solidFill>
            <a:prstDash val="solid"/>
          </a:ln>
        </p:spPr>
      </p:sp>
      <p:pic>
        <p:nvPicPr>
          <p:cNvPr id="44" name="Image 3" descr="preencoded.png">    </p:cNvPr>
          <p:cNvPicPr>
            <a:picLocks noChangeAspect="1"/>
          </p:cNvPicPr>
          <p:nvPr/>
        </p:nvPicPr>
        <p:blipFill>
          <a:blip r:embed="rId4"/>
          <a:stretch>
            <a:fillRect/>
          </a:stretch>
        </p:blipFill>
        <p:spPr>
          <a:xfrm>
            <a:off x="9108338" y="4728362"/>
            <a:ext cx="281635" cy="281635"/>
          </a:xfrm>
          <a:prstGeom prst="rect">
            <a:avLst/>
          </a:prstGeom>
        </p:spPr>
      </p:pic>
      <p:sp>
        <p:nvSpPr>
          <p:cNvPr id="45" name="Text 39"/>
          <p:cNvSpPr txBox="1"/>
          <p:nvPr/>
        </p:nvSpPr>
        <p:spPr>
          <a:xfrm>
            <a:off x="9637776" y="4617720"/>
            <a:ext cx="2103120" cy="2743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Explainable alerts</a:t>
            </a:r>
            <a:endParaRPr lang="en-US" sz="1500" dirty="0"/>
          </a:p>
        </p:txBody>
      </p:sp>
      <p:sp>
        <p:nvSpPr>
          <p:cNvPr id="46" name="Text 40"/>
          <p:cNvSpPr txBox="1"/>
          <p:nvPr/>
        </p:nvSpPr>
        <p:spPr>
          <a:xfrm>
            <a:off x="9637776" y="4919472"/>
            <a:ext cx="210312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Why? — factors, wells, pages, checks</a:t>
            </a:r>
            <a:endParaRPr lang="en-US" sz="1200" dirty="0"/>
          </a:p>
        </p:txBody>
      </p:sp>
      <p:sp>
        <p:nvSpPr>
          <p:cNvPr id="47" name="Text 41"/>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 standalone intelligence layer beside eRTMAC — it informs the engineer; it does not control the rig.</a:t>
            </a:r>
            <a:endParaRPr lang="en-US" sz="1300" dirty="0"/>
          </a:p>
        </p:txBody>
      </p:sp>
      <p:sp>
        <p:nvSpPr>
          <p:cNvPr id="48" name="Text 4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49" name="Text 4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Drill 3,100 → 3,600 m and watch history speak up</a:t>
            </a:r>
            <a:endParaRPr lang="en-US" sz="3200" dirty="0"/>
          </a:p>
        </p:txBody>
      </p:sp>
      <p:sp>
        <p:nvSpPr>
          <p:cNvPr id="4" name="Shape 2"/>
          <p:cNvSpPr/>
          <p:nvPr/>
        </p:nvSpPr>
        <p:spPr>
          <a:xfrm>
            <a:off x="548640" y="1545336"/>
            <a:ext cx="7516368" cy="4275963"/>
          </a:xfrm>
          <a:prstGeom prst="roundRect">
            <a:avLst>
              <a:gd name="adj" fmla="val 2138"/>
            </a:avLst>
          </a:prstGeom>
          <a:solidFill>
            <a:srgbClr val="111827"/>
          </a:solidFill>
          <a:ln w="12700">
            <a:solidFill>
              <a:srgbClr val="1E3A5F"/>
            </a:solidFill>
            <a:prstDash val="solid"/>
          </a:ln>
        </p:spPr>
      </p:sp>
      <p:pic>
        <p:nvPicPr>
          <p:cNvPr id="5" name="Image 0" descr="C:\Users\aryab\OneDrive\Desktop\sihps2\docs\screenshots\02-mud-loss-alert.png">    </p:cNvPr>
          <p:cNvPicPr>
            <a:picLocks noChangeAspect="1"/>
          </p:cNvPicPr>
          <p:nvPr/>
        </p:nvPicPr>
        <p:blipFill>
          <a:blip r:embed="rId1"/>
          <a:stretch>
            <a:fillRect/>
          </a:stretch>
        </p:blipFill>
        <p:spPr>
          <a:xfrm>
            <a:off x="603504" y="1600200"/>
            <a:ext cx="7406640" cy="4166235"/>
          </a:xfrm>
          <a:prstGeom prst="rect">
            <a:avLst/>
          </a:prstGeom>
        </p:spPr>
      </p:pic>
      <p:sp>
        <p:nvSpPr>
          <p:cNvPr id="6" name="Shape 3"/>
          <p:cNvSpPr/>
          <p:nvPr/>
        </p:nvSpPr>
        <p:spPr>
          <a:xfrm>
            <a:off x="8321040" y="1572768"/>
            <a:ext cx="3291840" cy="1207008"/>
          </a:xfrm>
          <a:prstGeom prst="roundRect">
            <a:avLst>
              <a:gd name="adj" fmla="val 9091"/>
            </a:avLst>
          </a:prstGeom>
          <a:solidFill>
            <a:srgbClr val="111827"/>
          </a:solidFill>
          <a:ln w="12700">
            <a:solidFill>
              <a:srgbClr val="1E3A5F"/>
            </a:solidFill>
            <a:prstDash val="solid"/>
          </a:ln>
        </p:spPr>
      </p:sp>
      <p:sp>
        <p:nvSpPr>
          <p:cNvPr id="7" name="Text 4"/>
          <p:cNvSpPr txBox="1"/>
          <p:nvPr/>
        </p:nvSpPr>
        <p:spPr>
          <a:xfrm>
            <a:off x="8549640" y="1700784"/>
            <a:ext cx="1463040" cy="320040"/>
          </a:xfrm>
          <a:prstGeom prst="rect">
            <a:avLst/>
          </a:prstGeom>
          <a:noFill/>
          <a:ln/>
        </p:spPr>
        <p:txBody>
          <a:bodyPr wrap="square" lIns="0" tIns="0" rIns="0" bIns="0" rtlCol="0" anchor="t"/>
          <a:lstStyle/>
          <a:p>
            <a:pPr indent="0" marL="0">
              <a:buNone/>
            </a:pPr>
            <a:r>
              <a:rPr lang="en-US" sz="1800" b="1" dirty="0">
                <a:solidFill>
                  <a:srgbClr val="F97316"/>
                </a:solidFill>
                <a:latin typeface="Consolas" pitchFamily="34" charset="0"/>
                <a:ea typeface="Consolas" pitchFamily="34" charset="-122"/>
                <a:cs typeface="Consolas" pitchFamily="34" charset="-120"/>
              </a:rPr>
              <a:t>3,150 m</a:t>
            </a:r>
            <a:endParaRPr lang="en-US" sz="1800" dirty="0"/>
          </a:p>
        </p:txBody>
      </p:sp>
      <p:sp>
        <p:nvSpPr>
          <p:cNvPr id="8" name="Text 5"/>
          <p:cNvSpPr txBox="1"/>
          <p:nvPr/>
        </p:nvSpPr>
        <p:spPr>
          <a:xfrm>
            <a:off x="8549640" y="2029968"/>
            <a:ext cx="292608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Mud loss — HIGH → critical</a:t>
            </a:r>
            <a:endParaRPr lang="en-US" sz="1300" dirty="0"/>
          </a:p>
        </p:txBody>
      </p:sp>
      <p:sp>
        <p:nvSpPr>
          <p:cNvPr id="9" name="Text 6"/>
          <p:cNvSpPr txBox="1"/>
          <p:nvPr/>
        </p:nvSpPr>
        <p:spPr>
          <a:xfrm>
            <a:off x="8549640" y="2304288"/>
            <a:ext cx="2926080" cy="41148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OIL-AX-99 &amp; 55 lost returns here; ECD rising above programme</a:t>
            </a:r>
            <a:endParaRPr lang="en-US" sz="1050" dirty="0"/>
          </a:p>
        </p:txBody>
      </p:sp>
      <p:sp>
        <p:nvSpPr>
          <p:cNvPr id="10" name="Shape 7"/>
          <p:cNvSpPr/>
          <p:nvPr/>
        </p:nvSpPr>
        <p:spPr>
          <a:xfrm>
            <a:off x="8321040" y="2944368"/>
            <a:ext cx="3291840" cy="1207008"/>
          </a:xfrm>
          <a:prstGeom prst="roundRect">
            <a:avLst>
              <a:gd name="adj" fmla="val 9091"/>
            </a:avLst>
          </a:prstGeom>
          <a:solidFill>
            <a:srgbClr val="111827"/>
          </a:solidFill>
          <a:ln w="12700">
            <a:solidFill>
              <a:srgbClr val="1E3A5F"/>
            </a:solidFill>
            <a:prstDash val="solid"/>
          </a:ln>
        </p:spPr>
      </p:sp>
      <p:sp>
        <p:nvSpPr>
          <p:cNvPr id="11" name="Text 8"/>
          <p:cNvSpPr txBox="1"/>
          <p:nvPr/>
        </p:nvSpPr>
        <p:spPr>
          <a:xfrm>
            <a:off x="8549640" y="3072384"/>
            <a:ext cx="1463040" cy="320040"/>
          </a:xfrm>
          <a:prstGeom prst="rect">
            <a:avLst/>
          </a:prstGeom>
          <a:noFill/>
          <a:ln/>
        </p:spPr>
        <p:txBody>
          <a:bodyPr wrap="square" lIns="0" tIns="0" rIns="0" bIns="0" rtlCol="0" anchor="t"/>
          <a:lstStyle/>
          <a:p>
            <a:pPr indent="0" marL="0">
              <a:buNone/>
            </a:pPr>
            <a:r>
              <a:rPr lang="en-US" sz="1800" b="1" dirty="0">
                <a:solidFill>
                  <a:srgbClr val="F97316"/>
                </a:solidFill>
                <a:latin typeface="Consolas" pitchFamily="34" charset="0"/>
                <a:ea typeface="Consolas" pitchFamily="34" charset="-122"/>
                <a:cs typeface="Consolas" pitchFamily="34" charset="-120"/>
              </a:rPr>
              <a:t>3,380 m</a:t>
            </a:r>
            <a:endParaRPr lang="en-US" sz="1800" dirty="0"/>
          </a:p>
        </p:txBody>
      </p:sp>
      <p:sp>
        <p:nvSpPr>
          <p:cNvPr id="12" name="Text 9"/>
          <p:cNvSpPr txBox="1"/>
          <p:nvPr/>
        </p:nvSpPr>
        <p:spPr>
          <a:xfrm>
            <a:off x="8549640" y="3401568"/>
            <a:ext cx="292608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Stuck pipe — HIGH → critical</a:t>
            </a:r>
            <a:endParaRPr lang="en-US" sz="1300" dirty="0"/>
          </a:p>
        </p:txBody>
      </p:sp>
      <p:sp>
        <p:nvSpPr>
          <p:cNvPr id="13" name="Text 10"/>
          <p:cNvSpPr txBox="1"/>
          <p:nvPr/>
        </p:nvSpPr>
        <p:spPr>
          <a:xfrm>
            <a:off x="8549640" y="3675888"/>
            <a:ext cx="2926080" cy="41148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OIL-AX-88, 66, 11 stuck in the Kopili; torque 1.3× baseline</a:t>
            </a:r>
            <a:endParaRPr lang="en-US" sz="1050" dirty="0"/>
          </a:p>
        </p:txBody>
      </p:sp>
      <p:sp>
        <p:nvSpPr>
          <p:cNvPr id="14" name="Shape 11"/>
          <p:cNvSpPr/>
          <p:nvPr/>
        </p:nvSpPr>
        <p:spPr>
          <a:xfrm>
            <a:off x="8321040" y="4315968"/>
            <a:ext cx="3291840" cy="1207008"/>
          </a:xfrm>
          <a:prstGeom prst="roundRect">
            <a:avLst>
              <a:gd name="adj" fmla="val 9091"/>
            </a:avLst>
          </a:prstGeom>
          <a:solidFill>
            <a:srgbClr val="111827"/>
          </a:solidFill>
          <a:ln w="12700">
            <a:solidFill>
              <a:srgbClr val="1E3A5F"/>
            </a:solidFill>
            <a:prstDash val="solid"/>
          </a:ln>
        </p:spPr>
      </p:sp>
      <p:sp>
        <p:nvSpPr>
          <p:cNvPr id="15" name="Text 12"/>
          <p:cNvSpPr txBox="1"/>
          <p:nvPr/>
        </p:nvSpPr>
        <p:spPr>
          <a:xfrm>
            <a:off x="8549640" y="4443984"/>
            <a:ext cx="1463040" cy="320040"/>
          </a:xfrm>
          <a:prstGeom prst="rect">
            <a:avLst/>
          </a:prstGeom>
          <a:noFill/>
          <a:ln/>
        </p:spPr>
        <p:txBody>
          <a:bodyPr wrap="square" lIns="0" tIns="0" rIns="0" bIns="0" rtlCol="0" anchor="t"/>
          <a:lstStyle/>
          <a:p>
            <a:pPr indent="0" marL="0">
              <a:buNone/>
            </a:pPr>
            <a:r>
              <a:rPr lang="en-US" sz="1800" b="1" dirty="0">
                <a:solidFill>
                  <a:srgbClr val="EF4444"/>
                </a:solidFill>
                <a:latin typeface="Consolas" pitchFamily="34" charset="0"/>
                <a:ea typeface="Consolas" pitchFamily="34" charset="-122"/>
                <a:cs typeface="Consolas" pitchFamily="34" charset="-120"/>
              </a:rPr>
              <a:t>3,580 m</a:t>
            </a:r>
            <a:endParaRPr lang="en-US" sz="1800" dirty="0"/>
          </a:p>
        </p:txBody>
      </p:sp>
      <p:sp>
        <p:nvSpPr>
          <p:cNvPr id="16" name="Text 13"/>
          <p:cNvSpPr txBox="1"/>
          <p:nvPr/>
        </p:nvSpPr>
        <p:spPr>
          <a:xfrm>
            <a:off x="8549640" y="4773168"/>
            <a:ext cx="292608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Kick / overpressure — CRITICAL</a:t>
            </a:r>
            <a:endParaRPr lang="en-US" sz="1300" dirty="0"/>
          </a:p>
        </p:txBody>
      </p:sp>
      <p:sp>
        <p:nvSpPr>
          <p:cNvPr id="17" name="Text 14"/>
          <p:cNvSpPr txBox="1"/>
          <p:nvPr/>
        </p:nvSpPr>
        <p:spPr>
          <a:xfrm>
            <a:off x="8549640" y="5047488"/>
            <a:ext cx="2926080" cy="41148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OIL-AX-33 kicked at the Sylhet top; MW 1.44 &lt; 1.52 sg</a:t>
            </a:r>
            <a:endParaRPr lang="en-US" sz="1050" dirty="0"/>
          </a:p>
        </p:txBody>
      </p:sp>
      <p:sp>
        <p:nvSpPr>
          <p:cNvPr id="18" name="Text 15"/>
          <p:cNvSpPr txBox="1"/>
          <p:nvPr/>
        </p:nvSpPr>
        <p:spPr>
          <a:xfrm>
            <a:off x="603504" y="5989320"/>
            <a:ext cx="1088136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Torque window at 3,500 m stays a watch card: medium history and no live confirmation → no alarm fatigue.</a:t>
            </a:r>
            <a:endParaRPr lang="en-US" sz="1200" dirty="0"/>
          </a:p>
        </p:txBody>
      </p:sp>
      <p:sp>
        <p:nvSpPr>
          <p:cNvPr id="19" name="Text 1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20" name="Text 17"/>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EXPLAINABLE RISK</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Every alert shows its working</a:t>
            </a:r>
            <a:endParaRPr lang="en-US" sz="3200" dirty="0"/>
          </a:p>
        </p:txBody>
      </p:sp>
      <p:sp>
        <p:nvSpPr>
          <p:cNvPr id="4" name="Shape 2"/>
          <p:cNvSpPr/>
          <p:nvPr/>
        </p:nvSpPr>
        <p:spPr>
          <a:xfrm>
            <a:off x="548640" y="1645920"/>
            <a:ext cx="4754880" cy="4434840"/>
          </a:xfrm>
          <a:prstGeom prst="roundRect">
            <a:avLst>
              <a:gd name="adj" fmla="val 2474"/>
            </a:avLst>
          </a:prstGeom>
          <a:solidFill>
            <a:srgbClr val="111827"/>
          </a:solidFill>
          <a:ln w="12700">
            <a:solidFill>
              <a:srgbClr val="1E3A5F"/>
            </a:solidFill>
            <a:prstDash val="solid"/>
          </a:ln>
        </p:spPr>
      </p:sp>
      <p:sp>
        <p:nvSpPr>
          <p:cNvPr id="5" name="Text 3"/>
          <p:cNvSpPr txBox="1"/>
          <p:nvPr/>
        </p:nvSpPr>
        <p:spPr>
          <a:xfrm>
            <a:off x="822960" y="1828800"/>
            <a:ext cx="429768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Risk score = Σ weight × factor</a:t>
            </a:r>
            <a:endParaRPr lang="en-US" sz="1700" dirty="0"/>
          </a:p>
        </p:txBody>
      </p:sp>
      <p:graphicFrame>
        <p:nvGraphicFramePr>
          <p:cNvPr id="6" name="Chart 0" descr=""/>
          <p:cNvGraphicFramePr/>
          <p:nvPr/>
        </p:nvGraphicFramePr>
        <p:xfrm>
          <a:off x="731520" y="2240280"/>
          <a:ext cx="443484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 y="4846320"/>
            <a:ext cx="434340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Thresholds 0.35 · 0.55 · 0.75 (medium · high · critical)</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Medium-history zones need live confirmation to alert</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Confidence from supporting wells, sources and similarity</a:t>
            </a:r>
            <a:endParaRPr lang="en-US" sz="1200" dirty="0"/>
          </a:p>
        </p:txBody>
      </p:sp>
      <p:sp>
        <p:nvSpPr>
          <p:cNvPr id="8" name="Shape 5"/>
          <p:cNvSpPr/>
          <p:nvPr/>
        </p:nvSpPr>
        <p:spPr>
          <a:xfrm>
            <a:off x="6345936" y="1591056"/>
            <a:ext cx="5230368" cy="4059936"/>
          </a:xfrm>
          <a:prstGeom prst="roundRect">
            <a:avLst>
              <a:gd name="adj" fmla="val 2252"/>
            </a:avLst>
          </a:prstGeom>
          <a:solidFill>
            <a:srgbClr val="111827"/>
          </a:solidFill>
          <a:ln w="12700">
            <a:solidFill>
              <a:srgbClr val="1E3A5F"/>
            </a:solidFill>
            <a:prstDash val="solid"/>
          </a:ln>
        </p:spPr>
      </p:sp>
      <p:pic>
        <p:nvPicPr>
          <p:cNvPr id="9" name="Image 0" descr="C:\Users\aryab\OneDrive\Desktop\sihps2\tools\.why-crop.png">    </p:cNvPr>
          <p:cNvPicPr>
            <a:picLocks noChangeAspect="1"/>
          </p:cNvPicPr>
          <p:nvPr/>
        </p:nvPicPr>
        <p:blipFill>
          <a:blip r:embed="rId2"/>
          <a:stretch>
            <a:fillRect/>
          </a:stretch>
        </p:blipFill>
        <p:spPr>
          <a:xfrm>
            <a:off x="6400800" y="1645920"/>
            <a:ext cx="5120640" cy="3955494"/>
          </a:xfrm>
          <a:prstGeom prst="rect">
            <a:avLst/>
          </a:prstGeom>
        </p:spPr>
      </p:pic>
      <p:sp>
        <p:nvSpPr>
          <p:cNvPr id="10" name="Text 6"/>
          <p:cNvSpPr txBox="1"/>
          <p:nvPr/>
        </p:nvSpPr>
        <p:spPr>
          <a:xfrm>
            <a:off x="6345936" y="5760720"/>
            <a:ext cx="5303520" cy="457200"/>
          </a:xfrm>
          <a:prstGeom prst="rect">
            <a:avLst/>
          </a:prstGeom>
          <a:noFill/>
          <a:ln/>
        </p:spPr>
        <p:txBody>
          <a:bodyPr wrap="square" lIns="0" tIns="0" rIns="0" bIns="0" rtlCol="0" anchor="t"/>
          <a:lstStyle/>
          <a:p>
            <a:pPr indent="0" marL="0">
              <a:buNone/>
            </a:pPr>
            <a:r>
              <a:rPr lang="en-US" sz="1150" b="1" dirty="0">
                <a:solidFill>
                  <a:srgbClr val="22D3EE"/>
                </a:solidFill>
                <a:latin typeface="Calibri" pitchFamily="34" charset="0"/>
                <a:ea typeface="Calibri" pitchFamily="34" charset="-122"/>
                <a:cs typeface="Calibri" pitchFamily="34" charset="-120"/>
              </a:rPr>
              <a:t>WHAT · WHERE · WHEN · WHY · WHICH wells · WHAT evidence · WHAT to check · HOW confident</a:t>
            </a:r>
            <a:endParaRPr lang="en-US" sz="1150" dirty="0"/>
          </a:p>
        </p:txBody>
      </p:sp>
      <p:sp>
        <p:nvSpPr>
          <p:cNvPr id="11" name="Text 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12" name="Text 8"/>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EVIDENCE-FIRST AI</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No answer without a source page</a:t>
            </a:r>
            <a:endParaRPr lang="en-US" sz="3200" dirty="0"/>
          </a:p>
        </p:txBody>
      </p:sp>
      <p:sp>
        <p:nvSpPr>
          <p:cNvPr id="4" name="Shape 2"/>
          <p:cNvSpPr/>
          <p:nvPr/>
        </p:nvSpPr>
        <p:spPr>
          <a:xfrm>
            <a:off x="548640" y="1591056"/>
            <a:ext cx="6876288" cy="3915918"/>
          </a:xfrm>
          <a:prstGeom prst="roundRect">
            <a:avLst>
              <a:gd name="adj" fmla="val 2335"/>
            </a:avLst>
          </a:prstGeom>
          <a:solidFill>
            <a:srgbClr val="111827"/>
          </a:solidFill>
          <a:ln w="12700">
            <a:solidFill>
              <a:srgbClr val="1E3A5F"/>
            </a:solidFill>
            <a:prstDash val="solid"/>
          </a:ln>
        </p:spPr>
      </p:sp>
      <p:pic>
        <p:nvPicPr>
          <p:cNvPr id="5" name="Image 0" descr="C:\Users\aryab\OneDrive\Desktop\sihps2\docs\screenshots\08-evidence-search.png">    </p:cNvPr>
          <p:cNvPicPr>
            <a:picLocks noChangeAspect="1"/>
          </p:cNvPicPr>
          <p:nvPr/>
        </p:nvPicPr>
        <p:blipFill>
          <a:blip r:embed="rId1"/>
          <a:stretch>
            <a:fillRect/>
          </a:stretch>
        </p:blipFill>
        <p:spPr>
          <a:xfrm>
            <a:off x="603504" y="1645920"/>
            <a:ext cx="6766560" cy="3806190"/>
          </a:xfrm>
          <a:prstGeom prst="rect">
            <a:avLst/>
          </a:prstGeom>
        </p:spPr>
      </p:pic>
      <p:sp>
        <p:nvSpPr>
          <p:cNvPr id="6" name="Shape 3"/>
          <p:cNvSpPr/>
          <p:nvPr/>
        </p:nvSpPr>
        <p:spPr>
          <a:xfrm>
            <a:off x="7726680" y="1691640"/>
            <a:ext cx="548640" cy="548640"/>
          </a:xfrm>
          <a:prstGeom prst="ellipse">
            <a:avLst/>
          </a:prstGeom>
          <a:solidFill>
            <a:srgbClr val="1E293B"/>
          </a:solidFill>
          <a:ln w="15875">
            <a:solidFill>
              <a:srgbClr val="1E3A5F"/>
            </a:solidFill>
            <a:prstDash val="solid"/>
          </a:ln>
        </p:spPr>
      </p:sp>
      <p:pic>
        <p:nvPicPr>
          <p:cNvPr id="7" name="Image 1" descr="preencoded.png">    </p:cNvPr>
          <p:cNvPicPr>
            <a:picLocks noChangeAspect="1"/>
          </p:cNvPicPr>
          <p:nvPr/>
        </p:nvPicPr>
        <p:blipFill>
          <a:blip r:embed="rId2"/>
          <a:stretch>
            <a:fillRect/>
          </a:stretch>
        </p:blipFill>
        <p:spPr>
          <a:xfrm>
            <a:off x="7847381" y="1812341"/>
            <a:ext cx="307238" cy="307238"/>
          </a:xfrm>
          <a:prstGeom prst="rect">
            <a:avLst/>
          </a:prstGeom>
        </p:spPr>
      </p:pic>
      <p:sp>
        <p:nvSpPr>
          <p:cNvPr id="8" name="Text 4"/>
          <p:cNvSpPr txBox="1"/>
          <p:nvPr/>
        </p:nvSpPr>
        <p:spPr>
          <a:xfrm>
            <a:off x="8412480" y="1691640"/>
            <a:ext cx="3200400" cy="320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Hybrid retrieval</a:t>
            </a:r>
            <a:endParaRPr lang="en-US" sz="1600" dirty="0"/>
          </a:p>
        </p:txBody>
      </p:sp>
      <p:sp>
        <p:nvSpPr>
          <p:cNvPr id="9" name="Text 5"/>
          <p:cNvSpPr txBox="1"/>
          <p:nvPr/>
        </p:nvSpPr>
        <p:spPr>
          <a:xfrm>
            <a:off x="8412480" y="2039112"/>
            <a:ext cx="3200400" cy="8229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Keyword 0.40 + semantic 0.35 + metadata 0.25 (depth, formation, risk family, well)</a:t>
            </a:r>
            <a:endParaRPr lang="en-US" sz="1200" dirty="0"/>
          </a:p>
        </p:txBody>
      </p:sp>
      <p:sp>
        <p:nvSpPr>
          <p:cNvPr id="10" name="Shape 6"/>
          <p:cNvSpPr/>
          <p:nvPr/>
        </p:nvSpPr>
        <p:spPr>
          <a:xfrm>
            <a:off x="7726680" y="3017520"/>
            <a:ext cx="548640" cy="548640"/>
          </a:xfrm>
          <a:prstGeom prst="ellipse">
            <a:avLst/>
          </a:prstGeom>
          <a:solidFill>
            <a:srgbClr val="1E293B"/>
          </a:solidFill>
          <a:ln w="15875">
            <a:solidFill>
              <a:srgbClr val="1E3A5F"/>
            </a:solidFill>
            <a:prstDash val="solid"/>
          </a:ln>
        </p:spPr>
      </p:sp>
      <p:pic>
        <p:nvPicPr>
          <p:cNvPr id="11" name="Image 2" descr="preencoded.png">    </p:cNvPr>
          <p:cNvPicPr>
            <a:picLocks noChangeAspect="1"/>
          </p:cNvPicPr>
          <p:nvPr/>
        </p:nvPicPr>
        <p:blipFill>
          <a:blip r:embed="rId3"/>
          <a:stretch>
            <a:fillRect/>
          </a:stretch>
        </p:blipFill>
        <p:spPr>
          <a:xfrm>
            <a:off x="7847381" y="3138221"/>
            <a:ext cx="307238" cy="307238"/>
          </a:xfrm>
          <a:prstGeom prst="rect">
            <a:avLst/>
          </a:prstGeom>
        </p:spPr>
      </p:pic>
      <p:sp>
        <p:nvSpPr>
          <p:cNvPr id="12" name="Text 7"/>
          <p:cNvSpPr txBox="1"/>
          <p:nvPr/>
        </p:nvSpPr>
        <p:spPr>
          <a:xfrm>
            <a:off x="8412480" y="3017520"/>
            <a:ext cx="3200400" cy="320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Understands drilling queries</a:t>
            </a:r>
            <a:endParaRPr lang="en-US" sz="1600" dirty="0"/>
          </a:p>
        </p:txBody>
      </p:sp>
      <p:sp>
        <p:nvSpPr>
          <p:cNvPr id="13" name="Text 8"/>
          <p:cNvSpPr txBox="1"/>
          <p:nvPr/>
        </p:nvSpPr>
        <p:spPr>
          <a:xfrm>
            <a:off x="8412480" y="3364992"/>
            <a:ext cx="3200400" cy="8229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“near 3400 m”, “this formation”, “lost returns” ≈ mud loss, “current risk”</a:t>
            </a:r>
            <a:endParaRPr lang="en-US" sz="1200" dirty="0"/>
          </a:p>
        </p:txBody>
      </p:sp>
      <p:sp>
        <p:nvSpPr>
          <p:cNvPr id="14" name="Shape 9"/>
          <p:cNvSpPr/>
          <p:nvPr/>
        </p:nvSpPr>
        <p:spPr>
          <a:xfrm>
            <a:off x="7726680" y="4343400"/>
            <a:ext cx="548640" cy="548640"/>
          </a:xfrm>
          <a:prstGeom prst="ellipse">
            <a:avLst/>
          </a:prstGeom>
          <a:solidFill>
            <a:srgbClr val="1E293B"/>
          </a:solidFill>
          <a:ln w="15875">
            <a:solidFill>
              <a:srgbClr val="1E3A5F"/>
            </a:solidFill>
            <a:prstDash val="solid"/>
          </a:ln>
        </p:spPr>
      </p:sp>
      <p:pic>
        <p:nvPicPr>
          <p:cNvPr id="15" name="Image 3" descr="preencoded.png">    </p:cNvPr>
          <p:cNvPicPr>
            <a:picLocks noChangeAspect="1"/>
          </p:cNvPicPr>
          <p:nvPr/>
        </p:nvPicPr>
        <p:blipFill>
          <a:blip r:embed="rId4"/>
          <a:stretch>
            <a:fillRect/>
          </a:stretch>
        </p:blipFill>
        <p:spPr>
          <a:xfrm>
            <a:off x="7847381" y="4464101"/>
            <a:ext cx="307238" cy="307238"/>
          </a:xfrm>
          <a:prstGeom prst="rect">
            <a:avLst/>
          </a:prstGeom>
        </p:spPr>
      </p:pic>
      <p:sp>
        <p:nvSpPr>
          <p:cNvPr id="16" name="Text 10"/>
          <p:cNvSpPr txBox="1"/>
          <p:nvPr/>
        </p:nvSpPr>
        <p:spPr>
          <a:xfrm>
            <a:off x="8412480" y="4343400"/>
            <a:ext cx="3200400" cy="320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Cited, or it says so</a:t>
            </a:r>
            <a:endParaRPr lang="en-US" sz="1600" dirty="0"/>
          </a:p>
        </p:txBody>
      </p:sp>
      <p:sp>
        <p:nvSpPr>
          <p:cNvPr id="17" name="Text 11"/>
          <p:cNvSpPr txBox="1"/>
          <p:nvPr/>
        </p:nvSpPr>
        <p:spPr>
          <a:xfrm>
            <a:off x="8412480" y="4690872"/>
            <a:ext cx="3200400" cy="8229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Every sentence carries [n] citations; below threshold → “Insufficient evidence”</a:t>
            </a:r>
            <a:endParaRPr lang="en-US" sz="1200" dirty="0"/>
          </a:p>
        </p:txBody>
      </p:sp>
      <p:sp>
        <p:nvSpPr>
          <p:cNvPr id="18" name="Text 12"/>
          <p:cNvSpPr txBox="1"/>
          <p:nvPr/>
        </p:nvSpPr>
        <p:spPr>
          <a:xfrm>
            <a:off x="603504" y="5669280"/>
            <a:ext cx="1097280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Offline and deterministic for the demo; an optional Claude adapter writes the answer over the same cited evidence and is discarded if it cites nothing.</a:t>
            </a:r>
            <a:endParaRPr lang="en-US" sz="1200" dirty="0"/>
          </a:p>
        </p:txBody>
      </p:sp>
      <p:sp>
        <p:nvSpPr>
          <p:cNvPr id="19" name="Text 1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20" name="Text 14"/>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DOCUMENT INTELLIGENCE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Reports become structured, reviewed knowledge</a:t>
            </a:r>
            <a:endParaRPr lang="en-US" sz="3200" dirty="0"/>
          </a:p>
        </p:txBody>
      </p:sp>
      <p:sp>
        <p:nvSpPr>
          <p:cNvPr id="4" name="Shape 2"/>
          <p:cNvSpPr/>
          <p:nvPr/>
        </p:nvSpPr>
        <p:spPr>
          <a:xfrm>
            <a:off x="1051560" y="1691640"/>
            <a:ext cx="457200" cy="457200"/>
          </a:xfrm>
          <a:prstGeom prst="ellipse">
            <a:avLst/>
          </a:prstGeom>
          <a:solidFill>
            <a:srgbClr val="1E293B"/>
          </a:solidFill>
          <a:ln w="15875">
            <a:solidFill>
              <a:srgbClr val="22D3EE"/>
            </a:solidFill>
            <a:prstDash val="solid"/>
          </a:ln>
        </p:spPr>
      </p:sp>
      <p:sp>
        <p:nvSpPr>
          <p:cNvPr id="5" name="Text 3"/>
          <p:cNvSpPr txBox="1"/>
          <p:nvPr/>
        </p:nvSpPr>
        <p:spPr>
          <a:xfrm>
            <a:off x="10515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5486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Upload</a:t>
            </a:r>
            <a:endParaRPr lang="en-US" sz="1200" dirty="0"/>
          </a:p>
        </p:txBody>
      </p:sp>
      <p:sp>
        <p:nvSpPr>
          <p:cNvPr id="7" name="Shape 5"/>
          <p:cNvSpPr/>
          <p:nvPr/>
        </p:nvSpPr>
        <p:spPr>
          <a:xfrm>
            <a:off x="1572768" y="1920240"/>
            <a:ext cx="1097280" cy="0"/>
          </a:xfrm>
          <a:prstGeom prst="line">
            <a:avLst/>
          </a:prstGeom>
          <a:noFill/>
          <a:ln w="19050">
            <a:solidFill>
              <a:srgbClr val="1E3A5F"/>
            </a:solidFill>
            <a:prstDash val="solid"/>
          </a:ln>
        </p:spPr>
      </p:sp>
      <p:sp>
        <p:nvSpPr>
          <p:cNvPr id="8" name="Shape 6"/>
          <p:cNvSpPr/>
          <p:nvPr/>
        </p:nvSpPr>
        <p:spPr>
          <a:xfrm>
            <a:off x="2651760" y="1691640"/>
            <a:ext cx="457200" cy="457200"/>
          </a:xfrm>
          <a:prstGeom prst="ellipse">
            <a:avLst/>
          </a:prstGeom>
          <a:solidFill>
            <a:srgbClr val="1E293B"/>
          </a:solidFill>
          <a:ln w="15875">
            <a:solidFill>
              <a:srgbClr val="22D3EE"/>
            </a:solidFill>
            <a:prstDash val="solid"/>
          </a:ln>
        </p:spPr>
      </p:sp>
      <p:sp>
        <p:nvSpPr>
          <p:cNvPr id="9" name="Text 7"/>
          <p:cNvSpPr txBox="1"/>
          <p:nvPr/>
        </p:nvSpPr>
        <p:spPr>
          <a:xfrm>
            <a:off x="26517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21488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Text / OCR</a:t>
            </a:r>
            <a:endParaRPr lang="en-US" sz="1200" dirty="0"/>
          </a:p>
        </p:txBody>
      </p:sp>
      <p:sp>
        <p:nvSpPr>
          <p:cNvPr id="11" name="Shape 9"/>
          <p:cNvSpPr/>
          <p:nvPr/>
        </p:nvSpPr>
        <p:spPr>
          <a:xfrm>
            <a:off x="3172968" y="1920240"/>
            <a:ext cx="1097280" cy="0"/>
          </a:xfrm>
          <a:prstGeom prst="line">
            <a:avLst/>
          </a:prstGeom>
          <a:noFill/>
          <a:ln w="19050">
            <a:solidFill>
              <a:srgbClr val="1E3A5F"/>
            </a:solidFill>
            <a:prstDash val="solid"/>
          </a:ln>
        </p:spPr>
      </p:sp>
      <p:sp>
        <p:nvSpPr>
          <p:cNvPr id="12" name="Shape 10"/>
          <p:cNvSpPr/>
          <p:nvPr/>
        </p:nvSpPr>
        <p:spPr>
          <a:xfrm>
            <a:off x="4251960" y="1691640"/>
            <a:ext cx="457200" cy="457200"/>
          </a:xfrm>
          <a:prstGeom prst="ellipse">
            <a:avLst/>
          </a:prstGeom>
          <a:solidFill>
            <a:srgbClr val="1E293B"/>
          </a:solidFill>
          <a:ln w="15875">
            <a:solidFill>
              <a:srgbClr val="22D3EE"/>
            </a:solidFill>
            <a:prstDash val="solid"/>
          </a:ln>
        </p:spPr>
      </p:sp>
      <p:sp>
        <p:nvSpPr>
          <p:cNvPr id="13" name="Text 11"/>
          <p:cNvSpPr txBox="1"/>
          <p:nvPr/>
        </p:nvSpPr>
        <p:spPr>
          <a:xfrm>
            <a:off x="42519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37490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Chunk &amp; tag</a:t>
            </a:r>
            <a:endParaRPr lang="en-US" sz="1200" dirty="0"/>
          </a:p>
        </p:txBody>
      </p:sp>
      <p:sp>
        <p:nvSpPr>
          <p:cNvPr id="15" name="Shape 13"/>
          <p:cNvSpPr/>
          <p:nvPr/>
        </p:nvSpPr>
        <p:spPr>
          <a:xfrm>
            <a:off x="4773168" y="1920240"/>
            <a:ext cx="1097280" cy="0"/>
          </a:xfrm>
          <a:prstGeom prst="line">
            <a:avLst/>
          </a:prstGeom>
          <a:noFill/>
          <a:ln w="19050">
            <a:solidFill>
              <a:srgbClr val="1E3A5F"/>
            </a:solidFill>
            <a:prstDash val="solid"/>
          </a:ln>
        </p:spPr>
      </p:sp>
      <p:sp>
        <p:nvSpPr>
          <p:cNvPr id="16" name="Shape 14"/>
          <p:cNvSpPr/>
          <p:nvPr/>
        </p:nvSpPr>
        <p:spPr>
          <a:xfrm>
            <a:off x="5852160" y="1691640"/>
            <a:ext cx="457200" cy="457200"/>
          </a:xfrm>
          <a:prstGeom prst="ellipse">
            <a:avLst/>
          </a:prstGeom>
          <a:solidFill>
            <a:srgbClr val="1E293B"/>
          </a:solidFill>
          <a:ln w="15875">
            <a:solidFill>
              <a:srgbClr val="22D3EE"/>
            </a:solidFill>
            <a:prstDash val="solid"/>
          </a:ln>
        </p:spPr>
      </p:sp>
      <p:sp>
        <p:nvSpPr>
          <p:cNvPr id="17" name="Text 15"/>
          <p:cNvSpPr txBox="1"/>
          <p:nvPr/>
        </p:nvSpPr>
        <p:spPr>
          <a:xfrm>
            <a:off x="58521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53492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Extract events</a:t>
            </a:r>
            <a:endParaRPr lang="en-US" sz="1200" dirty="0"/>
          </a:p>
        </p:txBody>
      </p:sp>
      <p:sp>
        <p:nvSpPr>
          <p:cNvPr id="19" name="Shape 17"/>
          <p:cNvSpPr/>
          <p:nvPr/>
        </p:nvSpPr>
        <p:spPr>
          <a:xfrm>
            <a:off x="6373368" y="1920240"/>
            <a:ext cx="1097280" cy="0"/>
          </a:xfrm>
          <a:prstGeom prst="line">
            <a:avLst/>
          </a:prstGeom>
          <a:noFill/>
          <a:ln w="19050">
            <a:solidFill>
              <a:srgbClr val="1E3A5F"/>
            </a:solidFill>
            <a:prstDash val="solid"/>
          </a:ln>
        </p:spPr>
      </p:sp>
      <p:sp>
        <p:nvSpPr>
          <p:cNvPr id="20" name="Shape 18"/>
          <p:cNvSpPr/>
          <p:nvPr/>
        </p:nvSpPr>
        <p:spPr>
          <a:xfrm>
            <a:off x="7452360" y="1691640"/>
            <a:ext cx="457200" cy="457200"/>
          </a:xfrm>
          <a:prstGeom prst="ellipse">
            <a:avLst/>
          </a:prstGeom>
          <a:solidFill>
            <a:srgbClr val="1E293B"/>
          </a:solidFill>
          <a:ln w="15875">
            <a:solidFill>
              <a:srgbClr val="22D3EE"/>
            </a:solidFill>
            <a:prstDash val="solid"/>
          </a:ln>
        </p:spPr>
      </p:sp>
      <p:sp>
        <p:nvSpPr>
          <p:cNvPr id="21" name="Text 19"/>
          <p:cNvSpPr txBox="1"/>
          <p:nvPr/>
        </p:nvSpPr>
        <p:spPr>
          <a:xfrm>
            <a:off x="74523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69494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Dedupe &amp; provenance</a:t>
            </a:r>
            <a:endParaRPr lang="en-US" sz="1200" dirty="0"/>
          </a:p>
        </p:txBody>
      </p:sp>
      <p:sp>
        <p:nvSpPr>
          <p:cNvPr id="23" name="Shape 21"/>
          <p:cNvSpPr/>
          <p:nvPr/>
        </p:nvSpPr>
        <p:spPr>
          <a:xfrm>
            <a:off x="7973568" y="1920240"/>
            <a:ext cx="1097280" cy="0"/>
          </a:xfrm>
          <a:prstGeom prst="line">
            <a:avLst/>
          </a:prstGeom>
          <a:noFill/>
          <a:ln w="19050">
            <a:solidFill>
              <a:srgbClr val="1E3A5F"/>
            </a:solidFill>
            <a:prstDash val="solid"/>
          </a:ln>
        </p:spPr>
      </p:sp>
      <p:sp>
        <p:nvSpPr>
          <p:cNvPr id="24" name="Shape 22"/>
          <p:cNvSpPr/>
          <p:nvPr/>
        </p:nvSpPr>
        <p:spPr>
          <a:xfrm>
            <a:off x="9052560" y="1691640"/>
            <a:ext cx="457200" cy="457200"/>
          </a:xfrm>
          <a:prstGeom prst="ellipse">
            <a:avLst/>
          </a:prstGeom>
          <a:solidFill>
            <a:srgbClr val="F59E0B"/>
          </a:solidFill>
          <a:ln w="15875">
            <a:solidFill>
              <a:srgbClr val="F59E0B"/>
            </a:solidFill>
            <a:prstDash val="solid"/>
          </a:ln>
        </p:spPr>
      </p:sp>
      <p:sp>
        <p:nvSpPr>
          <p:cNvPr id="25" name="Text 23"/>
          <p:cNvSpPr txBox="1"/>
          <p:nvPr/>
        </p:nvSpPr>
        <p:spPr>
          <a:xfrm>
            <a:off x="9052560" y="1691640"/>
            <a:ext cx="457200" cy="457200"/>
          </a:xfrm>
          <a:prstGeom prst="rect">
            <a:avLst/>
          </a:prstGeom>
          <a:noFill/>
          <a:ln/>
        </p:spPr>
        <p:txBody>
          <a:bodyPr wrap="square" lIns="0" tIns="0" rIns="0" bIns="0" rtlCol="0" anchor="ctr"/>
          <a:lstStyle/>
          <a:p>
            <a:pPr algn="ctr" indent="0" marL="0">
              <a:buNone/>
            </a:pPr>
            <a:r>
              <a:rPr lang="en-US" sz="1300" b="1" dirty="0">
                <a:solidFill>
                  <a:srgbClr val="0A0E17"/>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85496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Human review</a:t>
            </a:r>
            <a:endParaRPr lang="en-US" sz="1200" dirty="0"/>
          </a:p>
        </p:txBody>
      </p:sp>
      <p:sp>
        <p:nvSpPr>
          <p:cNvPr id="27" name="Shape 25"/>
          <p:cNvSpPr/>
          <p:nvPr/>
        </p:nvSpPr>
        <p:spPr>
          <a:xfrm>
            <a:off x="9573768" y="1920240"/>
            <a:ext cx="1097280" cy="0"/>
          </a:xfrm>
          <a:prstGeom prst="line">
            <a:avLst/>
          </a:prstGeom>
          <a:noFill/>
          <a:ln w="19050">
            <a:solidFill>
              <a:srgbClr val="1E3A5F"/>
            </a:solidFill>
            <a:prstDash val="solid"/>
          </a:ln>
        </p:spPr>
      </p:sp>
      <p:sp>
        <p:nvSpPr>
          <p:cNvPr id="28" name="Shape 26"/>
          <p:cNvSpPr/>
          <p:nvPr/>
        </p:nvSpPr>
        <p:spPr>
          <a:xfrm>
            <a:off x="10652760" y="1691640"/>
            <a:ext cx="457200" cy="457200"/>
          </a:xfrm>
          <a:prstGeom prst="ellipse">
            <a:avLst/>
          </a:prstGeom>
          <a:solidFill>
            <a:srgbClr val="1E293B"/>
          </a:solidFill>
          <a:ln w="15875">
            <a:solidFill>
              <a:srgbClr val="22D3EE"/>
            </a:solidFill>
            <a:prstDash val="solid"/>
          </a:ln>
        </p:spPr>
      </p:sp>
      <p:sp>
        <p:nvSpPr>
          <p:cNvPr id="29" name="Text 27"/>
          <p:cNvSpPr txBox="1"/>
          <p:nvPr/>
        </p:nvSpPr>
        <p:spPr>
          <a:xfrm>
            <a:off x="10652760" y="16916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7</a:t>
            </a:r>
            <a:endParaRPr lang="en-US" sz="1300" dirty="0"/>
          </a:p>
        </p:txBody>
      </p:sp>
      <p:sp>
        <p:nvSpPr>
          <p:cNvPr id="30" name="Text 28"/>
          <p:cNvSpPr txBox="1"/>
          <p:nvPr/>
        </p:nvSpPr>
        <p:spPr>
          <a:xfrm>
            <a:off x="10149840" y="2240280"/>
            <a:ext cx="1463040" cy="457200"/>
          </a:xfrm>
          <a:prstGeom prst="rect">
            <a:avLst/>
          </a:prstGeom>
          <a:noFill/>
          <a:ln/>
        </p:spPr>
        <p:txBody>
          <a:bodyPr wrap="square" lIns="0" tIns="0" rIns="0" bIns="0" rtlCol="0" anchor="t"/>
          <a:lstStyle/>
          <a:p>
            <a:pPr algn="ctr" indent="0" marL="0">
              <a:buNone/>
            </a:pPr>
            <a:r>
              <a:rPr lang="en-US" sz="1200" b="1" dirty="0">
                <a:solidFill>
                  <a:srgbClr val="F1F5F9"/>
                </a:solidFill>
                <a:latin typeface="Calibri" pitchFamily="34" charset="0"/>
                <a:ea typeface="Calibri" pitchFamily="34" charset="-122"/>
                <a:cs typeface="Calibri" pitchFamily="34" charset="-120"/>
              </a:rPr>
              <a:t>Knowledge base</a:t>
            </a:r>
            <a:endParaRPr lang="en-US" sz="1200" dirty="0"/>
          </a:p>
        </p:txBody>
      </p:sp>
      <p:sp>
        <p:nvSpPr>
          <p:cNvPr id="31" name="Shape 29"/>
          <p:cNvSpPr/>
          <p:nvPr/>
        </p:nvSpPr>
        <p:spPr>
          <a:xfrm>
            <a:off x="548640" y="2871216"/>
            <a:ext cx="5687568" cy="3247263"/>
          </a:xfrm>
          <a:prstGeom prst="roundRect">
            <a:avLst>
              <a:gd name="adj" fmla="val 2816"/>
            </a:avLst>
          </a:prstGeom>
          <a:solidFill>
            <a:srgbClr val="111827"/>
          </a:solidFill>
          <a:ln w="12700">
            <a:solidFill>
              <a:srgbClr val="1E3A5F"/>
            </a:solidFill>
            <a:prstDash val="solid"/>
          </a:ln>
        </p:spPr>
      </p:sp>
      <p:pic>
        <p:nvPicPr>
          <p:cNvPr id="32" name="Image 0" descr="C:\Users\aryab\OneDrive\Desktop\sihps2\docs\screenshots\11-document-review.png">    </p:cNvPr>
          <p:cNvPicPr>
            <a:picLocks noChangeAspect="1"/>
          </p:cNvPicPr>
          <p:nvPr/>
        </p:nvPicPr>
        <p:blipFill>
          <a:blip r:embed="rId1"/>
          <a:stretch>
            <a:fillRect/>
          </a:stretch>
        </p:blipFill>
        <p:spPr>
          <a:xfrm>
            <a:off x="603504" y="2926080"/>
            <a:ext cx="5577840" cy="3137535"/>
          </a:xfrm>
          <a:prstGeom prst="rect">
            <a:avLst/>
          </a:prstGeom>
        </p:spPr>
      </p:pic>
      <p:sp>
        <p:nvSpPr>
          <p:cNvPr id="33" name="Text 30"/>
          <p:cNvSpPr txBox="1"/>
          <p:nvPr/>
        </p:nvSpPr>
        <p:spPr>
          <a:xfrm>
            <a:off x="6583680" y="2971800"/>
            <a:ext cx="4983480" cy="2926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1F5F9"/>
                </a:solidFill>
                <a:latin typeface="Calibri" pitchFamily="34" charset="0"/>
                <a:ea typeface="Calibri" pitchFamily="34" charset="-122"/>
                <a:cs typeface="Calibri" pitchFamily="34" charset="-120"/>
              </a:rPr>
              <a:t>PDF text layer, TXT, or images via the OCR adapter (Tesseract)</a:t>
            </a:r>
            <a:endParaRPr lang="en-US" sz="1350" dirty="0"/>
          </a:p>
          <a:p>
            <a:pPr marL="342900" indent="-342900">
              <a:spcAft>
                <a:spcPts val="600"/>
              </a:spcAft>
              <a:buSzPct val="100000"/>
              <a:buChar char="•"/>
            </a:pPr>
            <a:r>
              <a:rPr lang="en-US" sz="1350" dirty="0">
                <a:solidFill>
                  <a:srgbClr val="F1F5F9"/>
                </a:solidFill>
                <a:latin typeface="Calibri" pitchFamily="34" charset="0"/>
                <a:ea typeface="Calibri" pitchFamily="34" charset="-122"/>
                <a:cs typeface="Calibri" pitchFamily="34" charset="-120"/>
              </a:rPr>
              <a:t>Rule-based NLP finds losses, sticking, kicks, torque, cementing, NPT with depth, formation, cause, mitigation</a:t>
            </a:r>
            <a:endParaRPr lang="en-US" sz="1350" dirty="0"/>
          </a:p>
          <a:p>
            <a:pPr marL="342900" indent="-342900">
              <a:spcAft>
                <a:spcPts val="600"/>
              </a:spcAft>
              <a:buSzPct val="100000"/>
              <a:buChar char="•"/>
            </a:pPr>
            <a:r>
              <a:rPr lang="en-US" sz="1350" dirty="0">
                <a:solidFill>
                  <a:srgbClr val="F1F5F9"/>
                </a:solidFill>
                <a:latin typeface="Calibri" pitchFamily="34" charset="0"/>
                <a:ea typeface="Calibri" pitchFamily="34" charset="-122"/>
                <a:cs typeface="Calibri" pitchFamily="34" charset="-120"/>
              </a:rPr>
              <a:t>Confidence scoring; &lt; 75% flagged for human review</a:t>
            </a:r>
            <a:endParaRPr lang="en-US" sz="1350" dirty="0"/>
          </a:p>
          <a:p>
            <a:pPr marL="342900" indent="-342900">
              <a:spcAft>
                <a:spcPts val="600"/>
              </a:spcAft>
              <a:buSzPct val="100000"/>
              <a:buChar char="•"/>
            </a:pPr>
            <a:r>
              <a:rPr lang="en-US" sz="1350" dirty="0">
                <a:solidFill>
                  <a:srgbClr val="F1F5F9"/>
                </a:solidFill>
                <a:latin typeface="Calibri" pitchFamily="34" charset="0"/>
                <a:ea typeface="Calibri" pitchFamily="34" charset="-122"/>
                <a:cs typeface="Calibri" pitchFamily="34" charset="-120"/>
              </a:rPr>
              <a:t>Duplicate check against the knowledge base — the sample report's torque rise matches an existing record</a:t>
            </a:r>
            <a:endParaRPr lang="en-US" sz="1350" dirty="0"/>
          </a:p>
          <a:p>
            <a:pPr marL="342900" indent="-342900">
              <a:spcAft>
                <a:spcPts val="600"/>
              </a:spcAft>
              <a:buSzPct val="100000"/>
              <a:buChar char="•"/>
            </a:pPr>
            <a:r>
              <a:rPr lang="en-US" sz="1350" dirty="0">
                <a:solidFill>
                  <a:srgbClr val="F1F5F9"/>
                </a:solidFill>
                <a:latin typeface="Calibri" pitchFamily="34" charset="0"/>
                <a:ea typeface="Calibri" pitchFamily="34" charset="-122"/>
                <a:cs typeface="Calibri" pitchFamily="34" charset="-120"/>
              </a:rPr>
              <a:t>Nothing is saved until an engineer approves it — then it is searchable and used by the risk engine</a:t>
            </a:r>
            <a:endParaRPr lang="en-US" sz="1350" dirty="0"/>
          </a:p>
        </p:txBody>
      </p:sp>
      <p:sp>
        <p:nvSpPr>
          <p:cNvPr id="34" name="Text 3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35" name="Text 32"/>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ARCHITECTURE &amp; INTEGRATION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Built to plug into OIL's systems</a:t>
            </a:r>
            <a:endParaRPr lang="en-US" sz="3200" dirty="0"/>
          </a:p>
        </p:txBody>
      </p:sp>
      <p:sp>
        <p:nvSpPr>
          <p:cNvPr id="4" name="Shape 2"/>
          <p:cNvSpPr/>
          <p:nvPr/>
        </p:nvSpPr>
        <p:spPr>
          <a:xfrm>
            <a:off x="548640" y="1691640"/>
            <a:ext cx="2514600" cy="3291840"/>
          </a:xfrm>
          <a:prstGeom prst="roundRect">
            <a:avLst>
              <a:gd name="adj" fmla="val 4364"/>
            </a:avLst>
          </a:prstGeom>
          <a:solidFill>
            <a:srgbClr val="111827"/>
          </a:solidFill>
          <a:ln w="12700">
            <a:solidFill>
              <a:srgbClr val="1E3A5F"/>
            </a:solidFill>
            <a:prstDash val="solid"/>
          </a:ln>
        </p:spPr>
      </p:sp>
      <p:sp>
        <p:nvSpPr>
          <p:cNvPr id="5" name="Text 3"/>
          <p:cNvSpPr txBox="1"/>
          <p:nvPr/>
        </p:nvSpPr>
        <p:spPr>
          <a:xfrm>
            <a:off x="777240" y="1874520"/>
            <a:ext cx="2103120" cy="365760"/>
          </a:xfrm>
          <a:prstGeom prst="rect">
            <a:avLst/>
          </a:prstGeom>
          <a:noFill/>
          <a:ln/>
        </p:spPr>
        <p:txBody>
          <a:bodyPr wrap="square" lIns="0" tIns="0" rIns="0" bIns="0" rtlCol="0" anchor="t"/>
          <a:lstStyle/>
          <a:p>
            <a:pPr indent="0" marL="0">
              <a:buNone/>
            </a:pPr>
            <a:r>
              <a:rPr lang="en-US" sz="1500" b="1" dirty="0">
                <a:solidFill>
                  <a:srgbClr val="22D3EE"/>
                </a:solidFill>
                <a:latin typeface="Calibri" pitchFamily="34" charset="0"/>
                <a:ea typeface="Calibri" pitchFamily="34" charset="-122"/>
                <a:cs typeface="Calibri" pitchFamily="34" charset="-120"/>
              </a:rPr>
              <a:t>Sources</a:t>
            </a:r>
            <a:endParaRPr lang="en-US" sz="1500" dirty="0"/>
          </a:p>
        </p:txBody>
      </p:sp>
      <p:sp>
        <p:nvSpPr>
          <p:cNvPr id="6" name="Text 4"/>
          <p:cNvSpPr txBox="1"/>
          <p:nvPr/>
        </p:nvSpPr>
        <p:spPr>
          <a:xfrm>
            <a:off x="777240" y="2377440"/>
            <a:ext cx="214884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DDR · WCR · mud logs</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eRTMAC parameter stream</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Surveys · formation tops</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Casing &amp; mud programmes</a:t>
            </a:r>
            <a:endParaRPr lang="en-US" sz="1250" dirty="0"/>
          </a:p>
        </p:txBody>
      </p:sp>
      <p:sp>
        <p:nvSpPr>
          <p:cNvPr id="7" name="Text 5"/>
          <p:cNvSpPr txBox="1"/>
          <p:nvPr/>
        </p:nvSpPr>
        <p:spPr>
          <a:xfrm>
            <a:off x="3072384" y="3017520"/>
            <a:ext cx="310896" cy="457200"/>
          </a:xfrm>
          <a:prstGeom prst="rect">
            <a:avLst/>
          </a:prstGeom>
          <a:noFill/>
          <a:ln/>
        </p:spPr>
        <p:txBody>
          <a:bodyPr wrap="square" lIns="0" tIns="0" rIns="0" bIns="0" rtlCol="0" anchor="t"/>
          <a:lstStyle/>
          <a:p>
            <a:pPr algn="ctr" indent="0" marL="0">
              <a:buNone/>
            </a:pPr>
            <a:r>
              <a:rPr lang="en-US" sz="2400" b="1" dirty="0">
                <a:solidFill>
                  <a:srgbClr val="22D3EE"/>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383280" y="1691640"/>
            <a:ext cx="2514600" cy="3291840"/>
          </a:xfrm>
          <a:prstGeom prst="roundRect">
            <a:avLst>
              <a:gd name="adj" fmla="val 4364"/>
            </a:avLst>
          </a:prstGeom>
          <a:solidFill>
            <a:srgbClr val="1E293B"/>
          </a:solidFill>
          <a:ln w="12700">
            <a:solidFill>
              <a:srgbClr val="1E3A5F"/>
            </a:solidFill>
            <a:prstDash val="solid"/>
          </a:ln>
        </p:spPr>
      </p:sp>
      <p:sp>
        <p:nvSpPr>
          <p:cNvPr id="9" name="Text 7"/>
          <p:cNvSpPr txBox="1"/>
          <p:nvPr/>
        </p:nvSpPr>
        <p:spPr>
          <a:xfrm>
            <a:off x="3611880" y="1874520"/>
            <a:ext cx="2103120" cy="365760"/>
          </a:xfrm>
          <a:prstGeom prst="rect">
            <a:avLst/>
          </a:prstGeom>
          <a:noFill/>
          <a:ln/>
        </p:spPr>
        <p:txBody>
          <a:bodyPr wrap="square" lIns="0" tIns="0" rIns="0" bIns="0" rtlCol="0" anchor="t"/>
          <a:lstStyle/>
          <a:p>
            <a:pPr indent="0" marL="0">
              <a:buNone/>
            </a:pPr>
            <a:r>
              <a:rPr lang="en-US" sz="1500" b="1" dirty="0">
                <a:solidFill>
                  <a:srgbClr val="22D3EE"/>
                </a:solidFill>
                <a:latin typeface="Calibri" pitchFamily="34" charset="0"/>
                <a:ea typeface="Calibri" pitchFamily="34" charset="-122"/>
                <a:cs typeface="Calibri" pitchFamily="34" charset="-120"/>
              </a:rPr>
              <a:t>NWIS services (FastAPI)</a:t>
            </a:r>
            <a:endParaRPr lang="en-US" sz="1500" dirty="0"/>
          </a:p>
        </p:txBody>
      </p:sp>
      <p:sp>
        <p:nvSpPr>
          <p:cNvPr id="10" name="Text 8"/>
          <p:cNvSpPr txBox="1"/>
          <p:nvPr/>
        </p:nvSpPr>
        <p:spPr>
          <a:xfrm>
            <a:off x="3611880" y="2377440"/>
            <a:ext cx="214884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Document pipeline</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Knowledge base (SQL)</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Hybrid evidence search</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Explainable risk engine</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Well similarity</a:t>
            </a:r>
            <a:endParaRPr lang="en-US" sz="1250" dirty="0"/>
          </a:p>
        </p:txBody>
      </p:sp>
      <p:sp>
        <p:nvSpPr>
          <p:cNvPr id="11" name="Text 9"/>
          <p:cNvSpPr txBox="1"/>
          <p:nvPr/>
        </p:nvSpPr>
        <p:spPr>
          <a:xfrm>
            <a:off x="5907024" y="3017520"/>
            <a:ext cx="310896" cy="457200"/>
          </a:xfrm>
          <a:prstGeom prst="rect">
            <a:avLst/>
          </a:prstGeom>
          <a:noFill/>
          <a:ln/>
        </p:spPr>
        <p:txBody>
          <a:bodyPr wrap="square" lIns="0" tIns="0" rIns="0" bIns="0" rtlCol="0" anchor="t"/>
          <a:lstStyle/>
          <a:p>
            <a:pPr algn="ctr" indent="0" marL="0">
              <a:buNone/>
            </a:pPr>
            <a:r>
              <a:rPr lang="en-US" sz="2400" b="1" dirty="0">
                <a:solidFill>
                  <a:srgbClr val="22D3EE"/>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6217920" y="1691640"/>
            <a:ext cx="2514600" cy="3291840"/>
          </a:xfrm>
          <a:prstGeom prst="roundRect">
            <a:avLst>
              <a:gd name="adj" fmla="val 4364"/>
            </a:avLst>
          </a:prstGeom>
          <a:solidFill>
            <a:srgbClr val="111827"/>
          </a:solidFill>
          <a:ln w="12700">
            <a:solidFill>
              <a:srgbClr val="1E3A5F"/>
            </a:solidFill>
            <a:prstDash val="solid"/>
          </a:ln>
        </p:spPr>
      </p:sp>
      <p:sp>
        <p:nvSpPr>
          <p:cNvPr id="13" name="Text 11"/>
          <p:cNvSpPr txBox="1"/>
          <p:nvPr/>
        </p:nvSpPr>
        <p:spPr>
          <a:xfrm>
            <a:off x="6446520" y="1874520"/>
            <a:ext cx="2103120" cy="365760"/>
          </a:xfrm>
          <a:prstGeom prst="rect">
            <a:avLst/>
          </a:prstGeom>
          <a:noFill/>
          <a:ln/>
        </p:spPr>
        <p:txBody>
          <a:bodyPr wrap="square" lIns="0" tIns="0" rIns="0" bIns="0" rtlCol="0" anchor="t"/>
          <a:lstStyle/>
          <a:p>
            <a:pPr indent="0" marL="0">
              <a:buNone/>
            </a:pPr>
            <a:r>
              <a:rPr lang="en-US" sz="1500" b="1" dirty="0">
                <a:solidFill>
                  <a:srgbClr val="22D3EE"/>
                </a:solidFill>
                <a:latin typeface="Calibri" pitchFamily="34" charset="0"/>
                <a:ea typeface="Calibri" pitchFamily="34" charset="-122"/>
                <a:cs typeface="Calibri" pitchFamily="34" charset="-120"/>
              </a:rPr>
              <a:t>Cockpit (Next.js)</a:t>
            </a:r>
            <a:endParaRPr lang="en-US" sz="1500" dirty="0"/>
          </a:p>
        </p:txBody>
      </p:sp>
      <p:sp>
        <p:nvSpPr>
          <p:cNvPr id="14" name="Text 12"/>
          <p:cNvSpPr txBox="1"/>
          <p:nvPr/>
        </p:nvSpPr>
        <p:spPr>
          <a:xfrm>
            <a:off x="6446520" y="2377440"/>
            <a:ext cx="214884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Command Center</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Well Intelligence &amp; Compare</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Evidence Search</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Risk Explorer</a:t>
            </a:r>
            <a:endParaRPr lang="en-US" sz="1250" dirty="0"/>
          </a:p>
          <a:p>
            <a:pPr marL="342900" indent="-342900">
              <a:spcAft>
                <a:spcPts val="800"/>
              </a:spcAft>
              <a:buSzPct val="100000"/>
              <a:buChar char="•"/>
            </a:pPr>
            <a:r>
              <a:rPr lang="en-US" sz="1250" dirty="0">
                <a:solidFill>
                  <a:srgbClr val="F1F5F9"/>
                </a:solidFill>
                <a:latin typeface="Calibri" pitchFamily="34" charset="0"/>
                <a:ea typeface="Calibri" pitchFamily="34" charset="-122"/>
                <a:cs typeface="Calibri" pitchFamily="34" charset="-120"/>
              </a:rPr>
              <a:t>Document Intelligence</a:t>
            </a:r>
            <a:endParaRPr lang="en-US" sz="1250" dirty="0"/>
          </a:p>
        </p:txBody>
      </p:sp>
      <p:sp>
        <p:nvSpPr>
          <p:cNvPr id="15" name="Shape 13"/>
          <p:cNvSpPr/>
          <p:nvPr/>
        </p:nvSpPr>
        <p:spPr>
          <a:xfrm>
            <a:off x="9098280" y="1691640"/>
            <a:ext cx="2514600" cy="3291840"/>
          </a:xfrm>
          <a:prstGeom prst="roundRect">
            <a:avLst>
              <a:gd name="adj" fmla="val 4364"/>
            </a:avLst>
          </a:prstGeom>
          <a:solidFill>
            <a:srgbClr val="1E293B"/>
          </a:solidFill>
          <a:ln w="12700">
            <a:solidFill>
              <a:srgbClr val="1E3A5F"/>
            </a:solidFill>
            <a:prstDash val="solid"/>
          </a:ln>
        </p:spPr>
      </p:sp>
      <p:sp>
        <p:nvSpPr>
          <p:cNvPr id="16" name="Text 14"/>
          <p:cNvSpPr txBox="1"/>
          <p:nvPr/>
        </p:nvSpPr>
        <p:spPr>
          <a:xfrm>
            <a:off x="9326880" y="1874520"/>
            <a:ext cx="2103120" cy="36576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Production swap-ins</a:t>
            </a:r>
            <a:endParaRPr lang="en-US" sz="1500" dirty="0"/>
          </a:p>
        </p:txBody>
      </p:sp>
      <p:sp>
        <p:nvSpPr>
          <p:cNvPr id="17" name="Text 15"/>
          <p:cNvSpPr txBox="1"/>
          <p:nvPr/>
        </p:nvSpPr>
        <p:spPr>
          <a:xfrm>
            <a:off x="9326880" y="2377440"/>
            <a:ext cx="214884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eRTMAC / WITSML → same parameter schema</a:t>
            </a:r>
            <a:endParaRPr lang="en-US" sz="1200" dirty="0"/>
          </a:p>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OIL report archive → batch ingest</a:t>
            </a:r>
            <a:endParaRPr lang="en-US" sz="1200" dirty="0"/>
          </a:p>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PostgreSQL + pgvector</a:t>
            </a:r>
            <a:endParaRPr lang="en-US" sz="1200" dirty="0"/>
          </a:p>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Sentence-embedding model</a:t>
            </a:r>
            <a:endParaRPr lang="en-US" sz="1200" dirty="0"/>
          </a:p>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Grounded LLM answers</a:t>
            </a:r>
            <a:endParaRPr lang="en-US" sz="1200" dirty="0"/>
          </a:p>
          <a:p>
            <a:pPr marL="342900" indent="-342900">
              <a:spcAft>
                <a:spcPts val="600"/>
              </a:spcAft>
              <a:buSzPct val="100000"/>
              <a:buChar char="•"/>
            </a:pPr>
            <a:r>
              <a:rPr lang="en-US" sz="1200" dirty="0">
                <a:solidFill>
                  <a:srgbClr val="F1F5F9"/>
                </a:solidFill>
                <a:latin typeface="Calibri" pitchFamily="34" charset="0"/>
                <a:ea typeface="Calibri" pitchFamily="34" charset="-122"/>
                <a:cs typeface="Calibri" pitchFamily="34" charset="-120"/>
              </a:rPr>
              <a:t>SSO + role views</a:t>
            </a:r>
            <a:endParaRPr lang="en-US" sz="1200" dirty="0"/>
          </a:p>
        </p:txBody>
      </p:sp>
      <p:sp>
        <p:nvSpPr>
          <p:cNvPr id="18" name="Text 16"/>
          <p:cNvSpPr txBox="1"/>
          <p:nvPr/>
        </p:nvSpPr>
        <p:spPr>
          <a:xfrm>
            <a:off x="548640" y="5303520"/>
            <a:ext cx="11064240" cy="3200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Runs offline on a laptop · deterministic demo mode · REST API with OpenAPI docs · 10 end-to-end tests</a:t>
            </a:r>
            <a:endParaRPr lang="en-US" sz="1300" dirty="0"/>
          </a:p>
        </p:txBody>
      </p:sp>
      <p:sp>
        <p:nvSpPr>
          <p:cNvPr id="19" name="Text 1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20" name="Text 18"/>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IMPACT &amp; NEXT STEPS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rgbClr val="F1F5F9"/>
                </a:solidFill>
                <a:latin typeface="Calibri" pitchFamily="34" charset="0"/>
                <a:ea typeface="Calibri" pitchFamily="34" charset="-122"/>
                <a:cs typeface="Calibri" pitchFamily="34" charset="-120"/>
              </a:rPr>
              <a:t>Less time between a signal and the evidence</a:t>
            </a:r>
            <a:endParaRPr lang="en-US" sz="3200" dirty="0"/>
          </a:p>
        </p:txBody>
      </p:sp>
      <p:sp>
        <p:nvSpPr>
          <p:cNvPr id="4" name="Shape 2"/>
          <p:cNvSpPr/>
          <p:nvPr/>
        </p:nvSpPr>
        <p:spPr>
          <a:xfrm>
            <a:off x="548640" y="1691640"/>
            <a:ext cx="3474720" cy="2103120"/>
          </a:xfrm>
          <a:prstGeom prst="roundRect">
            <a:avLst>
              <a:gd name="adj" fmla="val 5217"/>
            </a:avLst>
          </a:prstGeom>
          <a:solidFill>
            <a:srgbClr val="111827"/>
          </a:solidFill>
          <a:ln w="12700">
            <a:solidFill>
              <a:srgbClr val="1E3A5F"/>
            </a:solidFill>
            <a:prstDash val="solid"/>
          </a:ln>
        </p:spPr>
      </p:sp>
      <p:sp>
        <p:nvSpPr>
          <p:cNvPr id="5" name="Shape 3"/>
          <p:cNvSpPr/>
          <p:nvPr/>
        </p:nvSpPr>
        <p:spPr>
          <a:xfrm>
            <a:off x="822960" y="1920240"/>
            <a:ext cx="548640" cy="548640"/>
          </a:xfrm>
          <a:prstGeom prst="ellipse">
            <a:avLst/>
          </a:prstGeom>
          <a:solidFill>
            <a:srgbClr val="1E293B"/>
          </a:solidFill>
          <a:ln w="15875">
            <a:solidFill>
              <a:srgbClr val="1E3A5F"/>
            </a:solidFill>
            <a:prstDash val="solid"/>
          </a:ln>
        </p:spPr>
      </p:sp>
      <p:pic>
        <p:nvPicPr>
          <p:cNvPr id="6"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7" name="Text 4"/>
          <p:cNvSpPr txBox="1"/>
          <p:nvPr/>
        </p:nvSpPr>
        <p:spPr>
          <a:xfrm>
            <a:off x="1508760" y="1993392"/>
            <a:ext cx="23774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Earlier warnings</a:t>
            </a:r>
            <a:endParaRPr lang="en-US" sz="1800" dirty="0"/>
          </a:p>
        </p:txBody>
      </p:sp>
      <p:sp>
        <p:nvSpPr>
          <p:cNvPr id="8" name="Text 5"/>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Alerts before the bit reaches historically difficult windows — with lead distance and confidence.</a:t>
            </a:r>
            <a:endParaRPr lang="en-US" sz="1350" dirty="0"/>
          </a:p>
        </p:txBody>
      </p:sp>
      <p:sp>
        <p:nvSpPr>
          <p:cNvPr id="9" name="Shape 6"/>
          <p:cNvSpPr/>
          <p:nvPr/>
        </p:nvSpPr>
        <p:spPr>
          <a:xfrm>
            <a:off x="4297680" y="1691640"/>
            <a:ext cx="3474720" cy="2103120"/>
          </a:xfrm>
          <a:prstGeom prst="roundRect">
            <a:avLst>
              <a:gd name="adj" fmla="val 5217"/>
            </a:avLst>
          </a:prstGeom>
          <a:solidFill>
            <a:srgbClr val="111827"/>
          </a:solidFill>
          <a:ln w="12700">
            <a:solidFill>
              <a:srgbClr val="1E3A5F"/>
            </a:solidFill>
            <a:prstDash val="solid"/>
          </a:ln>
        </p:spPr>
      </p:sp>
      <p:sp>
        <p:nvSpPr>
          <p:cNvPr id="10" name="Shape 7"/>
          <p:cNvSpPr/>
          <p:nvPr/>
        </p:nvSpPr>
        <p:spPr>
          <a:xfrm>
            <a:off x="4572000" y="1920240"/>
            <a:ext cx="548640" cy="548640"/>
          </a:xfrm>
          <a:prstGeom prst="ellipse">
            <a:avLst/>
          </a:prstGeom>
          <a:solidFill>
            <a:srgbClr val="1E293B"/>
          </a:solidFill>
          <a:ln w="15875">
            <a:solidFill>
              <a:srgbClr val="1E3A5F"/>
            </a:solidFill>
            <a:prstDash val="solid"/>
          </a:ln>
        </p:spPr>
      </p:sp>
      <p:pic>
        <p:nvPicPr>
          <p:cNvPr id="11" name="Image 1" descr="preencoded.png">    </p:cNvPr>
          <p:cNvPicPr>
            <a:picLocks noChangeAspect="1"/>
          </p:cNvPicPr>
          <p:nvPr/>
        </p:nvPicPr>
        <p:blipFill>
          <a:blip r:embed="rId2"/>
          <a:stretch>
            <a:fillRect/>
          </a:stretch>
        </p:blipFill>
        <p:spPr>
          <a:xfrm>
            <a:off x="4692701" y="2040941"/>
            <a:ext cx="307238" cy="307238"/>
          </a:xfrm>
          <a:prstGeom prst="rect">
            <a:avLst/>
          </a:prstGeom>
        </p:spPr>
      </p:pic>
      <p:sp>
        <p:nvSpPr>
          <p:cNvPr id="12" name="Text 8"/>
          <p:cNvSpPr txBox="1"/>
          <p:nvPr/>
        </p:nvSpPr>
        <p:spPr>
          <a:xfrm>
            <a:off x="5257800" y="1993392"/>
            <a:ext cx="23774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Lessons reused</a:t>
            </a:r>
            <a:endParaRPr lang="en-US" sz="1800" dirty="0"/>
          </a:p>
        </p:txBody>
      </p:sp>
      <p:sp>
        <p:nvSpPr>
          <p:cNvPr id="13" name="Text 9"/>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What worked on offsets is shown with every alert and answer — not rediscovered.</a:t>
            </a:r>
            <a:endParaRPr lang="en-US" sz="1350" dirty="0"/>
          </a:p>
        </p:txBody>
      </p:sp>
      <p:sp>
        <p:nvSpPr>
          <p:cNvPr id="14" name="Shape 10"/>
          <p:cNvSpPr/>
          <p:nvPr/>
        </p:nvSpPr>
        <p:spPr>
          <a:xfrm>
            <a:off x="8046720" y="1691640"/>
            <a:ext cx="3474720" cy="2103120"/>
          </a:xfrm>
          <a:prstGeom prst="roundRect">
            <a:avLst>
              <a:gd name="adj" fmla="val 5217"/>
            </a:avLst>
          </a:prstGeom>
          <a:solidFill>
            <a:srgbClr val="111827"/>
          </a:solidFill>
          <a:ln w="12700">
            <a:solidFill>
              <a:srgbClr val="1E3A5F"/>
            </a:solidFill>
            <a:prstDash val="solid"/>
          </a:ln>
        </p:spPr>
      </p:sp>
      <p:sp>
        <p:nvSpPr>
          <p:cNvPr id="15" name="Shape 11"/>
          <p:cNvSpPr/>
          <p:nvPr/>
        </p:nvSpPr>
        <p:spPr>
          <a:xfrm>
            <a:off x="8321040" y="1920240"/>
            <a:ext cx="548640" cy="548640"/>
          </a:xfrm>
          <a:prstGeom prst="ellipse">
            <a:avLst/>
          </a:prstGeom>
          <a:solidFill>
            <a:srgbClr val="1E293B"/>
          </a:solidFill>
          <a:ln w="15875">
            <a:solidFill>
              <a:srgbClr val="1E3A5F"/>
            </a:solidFill>
            <a:prstDash val="solid"/>
          </a:ln>
        </p:spPr>
      </p:sp>
      <p:pic>
        <p:nvPicPr>
          <p:cNvPr id="16" name="Image 2" descr="preencoded.png">    </p:cNvPr>
          <p:cNvPicPr>
            <a:picLocks noChangeAspect="1"/>
          </p:cNvPicPr>
          <p:nvPr/>
        </p:nvPicPr>
        <p:blipFill>
          <a:blip r:embed="rId3"/>
          <a:stretch>
            <a:fillRect/>
          </a:stretch>
        </p:blipFill>
        <p:spPr>
          <a:xfrm>
            <a:off x="8441741" y="2040941"/>
            <a:ext cx="307238" cy="307238"/>
          </a:xfrm>
          <a:prstGeom prst="rect">
            <a:avLst/>
          </a:prstGeom>
        </p:spPr>
      </p:pic>
      <p:sp>
        <p:nvSpPr>
          <p:cNvPr id="17" name="Text 12"/>
          <p:cNvSpPr txBox="1"/>
          <p:nvPr/>
        </p:nvSpPr>
        <p:spPr>
          <a:xfrm>
            <a:off x="9006840" y="1993392"/>
            <a:ext cx="23774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Faster ramp-up</a:t>
            </a:r>
            <a:endParaRPr lang="en-US" sz="1800" dirty="0"/>
          </a:p>
        </p:txBody>
      </p:sp>
      <p:sp>
        <p:nvSpPr>
          <p:cNvPr id="18" name="Text 13"/>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New engineers get the field's history at the depth they are drilling, with sources.</a:t>
            </a:r>
            <a:endParaRPr lang="en-US" sz="1350" dirty="0"/>
          </a:p>
        </p:txBody>
      </p:sp>
      <p:sp>
        <p:nvSpPr>
          <p:cNvPr id="19" name="Text 14"/>
          <p:cNvSpPr txBox="1"/>
          <p:nvPr/>
        </p:nvSpPr>
        <p:spPr>
          <a:xfrm>
            <a:off x="548640" y="4069080"/>
            <a:ext cx="1828800" cy="274320"/>
          </a:xfrm>
          <a:prstGeom prst="rect">
            <a:avLst/>
          </a:prstGeom>
          <a:noFill/>
          <a:ln/>
        </p:spPr>
        <p:txBody>
          <a:bodyPr wrap="square" lIns="0" tIns="0" rIns="0" bIns="0" rtlCol="0" anchor="t"/>
          <a:lstStyle/>
          <a:p>
            <a:pPr indent="0" marL="0">
              <a:buNone/>
            </a:pPr>
            <a:r>
              <a:rPr lang="en-US" sz="1200" b="1" spc="300" kern="0" dirty="0">
                <a:solidFill>
                  <a:srgbClr val="F59E0B"/>
                </a:solidFill>
                <a:latin typeface="Calibri" pitchFamily="34" charset="0"/>
                <a:ea typeface="Calibri" pitchFamily="34" charset="-122"/>
                <a:cs typeface="Calibri" pitchFamily="34" charset="-120"/>
              </a:rPr>
              <a:t>NEXT</a:t>
            </a:r>
            <a:endParaRPr lang="en-US" sz="1200" dirty="0"/>
          </a:p>
        </p:txBody>
      </p:sp>
      <p:sp>
        <p:nvSpPr>
          <p:cNvPr id="20" name="Text 15"/>
          <p:cNvSpPr txBox="1"/>
          <p:nvPr/>
        </p:nvSpPr>
        <p:spPr>
          <a:xfrm>
            <a:off x="548640" y="4434840"/>
            <a:ext cx="457200" cy="548640"/>
          </a:xfrm>
          <a:prstGeom prst="rect">
            <a:avLst/>
          </a:prstGeom>
          <a:noFill/>
          <a:ln/>
        </p:spPr>
        <p:txBody>
          <a:bodyPr wrap="square" lIns="0" tIns="0" rIns="0" bIns="0" rtlCol="0" anchor="t"/>
          <a:lstStyle/>
          <a:p>
            <a:pPr indent="0" marL="0">
              <a:buNone/>
            </a:pPr>
            <a:r>
              <a:rPr lang="en-US" sz="3000" b="1" dirty="0">
                <a:solidFill>
                  <a:srgbClr val="22D3EE"/>
                </a:solidFill>
                <a:latin typeface="Consolas" pitchFamily="34" charset="0"/>
                <a:ea typeface="Consolas" pitchFamily="34" charset="-122"/>
                <a:cs typeface="Consolas" pitchFamily="34" charset="-120"/>
              </a:rPr>
              <a:t>1</a:t>
            </a:r>
            <a:endParaRPr lang="en-US" sz="3000" dirty="0"/>
          </a:p>
        </p:txBody>
      </p:sp>
      <p:sp>
        <p:nvSpPr>
          <p:cNvPr id="21" name="Text 16"/>
          <p:cNvSpPr txBox="1"/>
          <p:nvPr/>
        </p:nvSpPr>
        <p:spPr>
          <a:xfrm>
            <a:off x="1051560" y="4526280"/>
            <a:ext cx="2926080" cy="64008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Connect eRTMAC and the OIL report archive</a:t>
            </a:r>
            <a:endParaRPr lang="en-US" sz="1500" dirty="0"/>
          </a:p>
        </p:txBody>
      </p:sp>
      <p:sp>
        <p:nvSpPr>
          <p:cNvPr id="22" name="Text 17"/>
          <p:cNvSpPr txBox="1"/>
          <p:nvPr/>
        </p:nvSpPr>
        <p:spPr>
          <a:xfrm>
            <a:off x="4297680" y="4434840"/>
            <a:ext cx="457200" cy="548640"/>
          </a:xfrm>
          <a:prstGeom prst="rect">
            <a:avLst/>
          </a:prstGeom>
          <a:noFill/>
          <a:ln/>
        </p:spPr>
        <p:txBody>
          <a:bodyPr wrap="square" lIns="0" tIns="0" rIns="0" bIns="0" rtlCol="0" anchor="t"/>
          <a:lstStyle/>
          <a:p>
            <a:pPr indent="0" marL="0">
              <a:buNone/>
            </a:pPr>
            <a:r>
              <a:rPr lang="en-US" sz="3000" b="1" dirty="0">
                <a:solidFill>
                  <a:srgbClr val="22D3EE"/>
                </a:solidFill>
                <a:latin typeface="Consolas" pitchFamily="34" charset="0"/>
                <a:ea typeface="Consolas" pitchFamily="34" charset="-122"/>
                <a:cs typeface="Consolas" pitchFamily="34" charset="-120"/>
              </a:rPr>
              <a:t>2</a:t>
            </a:r>
            <a:endParaRPr lang="en-US" sz="3000" dirty="0"/>
          </a:p>
        </p:txBody>
      </p:sp>
      <p:sp>
        <p:nvSpPr>
          <p:cNvPr id="23" name="Text 18"/>
          <p:cNvSpPr txBox="1"/>
          <p:nvPr/>
        </p:nvSpPr>
        <p:spPr>
          <a:xfrm>
            <a:off x="4800600" y="4526280"/>
            <a:ext cx="2926080" cy="64008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Calibrate weights on labelled NPT history</a:t>
            </a:r>
            <a:endParaRPr lang="en-US" sz="1500" dirty="0"/>
          </a:p>
        </p:txBody>
      </p:sp>
      <p:sp>
        <p:nvSpPr>
          <p:cNvPr id="24" name="Text 19"/>
          <p:cNvSpPr txBox="1"/>
          <p:nvPr/>
        </p:nvSpPr>
        <p:spPr>
          <a:xfrm>
            <a:off x="8046720" y="4434840"/>
            <a:ext cx="457200" cy="548640"/>
          </a:xfrm>
          <a:prstGeom prst="rect">
            <a:avLst/>
          </a:prstGeom>
          <a:noFill/>
          <a:ln/>
        </p:spPr>
        <p:txBody>
          <a:bodyPr wrap="square" lIns="0" tIns="0" rIns="0" bIns="0" rtlCol="0" anchor="t"/>
          <a:lstStyle/>
          <a:p>
            <a:pPr indent="0" marL="0">
              <a:buNone/>
            </a:pPr>
            <a:r>
              <a:rPr lang="en-US" sz="3000" b="1" dirty="0">
                <a:solidFill>
                  <a:srgbClr val="22D3EE"/>
                </a:solidFill>
                <a:latin typeface="Consolas" pitchFamily="34" charset="0"/>
                <a:ea typeface="Consolas" pitchFamily="34" charset="-122"/>
                <a:cs typeface="Consolas" pitchFamily="34" charset="-120"/>
              </a:rPr>
              <a:t>3</a:t>
            </a:r>
            <a:endParaRPr lang="en-US" sz="3000" dirty="0"/>
          </a:p>
        </p:txBody>
      </p:sp>
      <p:sp>
        <p:nvSpPr>
          <p:cNvPr id="25" name="Text 20"/>
          <p:cNvSpPr txBox="1"/>
          <p:nvPr/>
        </p:nvSpPr>
        <p:spPr>
          <a:xfrm>
            <a:off x="8549640" y="4526280"/>
            <a:ext cx="2926080" cy="64008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Close the loop: outcomes become lessons</a:t>
            </a:r>
            <a:endParaRPr lang="en-US" sz="1500" dirty="0"/>
          </a:p>
        </p:txBody>
      </p:sp>
      <p:sp>
        <p:nvSpPr>
          <p:cNvPr id="26" name="Shape 21"/>
          <p:cNvSpPr/>
          <p:nvPr/>
        </p:nvSpPr>
        <p:spPr>
          <a:xfrm>
            <a:off x="548640" y="5440680"/>
            <a:ext cx="11064240" cy="731520"/>
          </a:xfrm>
          <a:prstGeom prst="roundRect">
            <a:avLst>
              <a:gd name="adj" fmla="val 15000"/>
            </a:avLst>
          </a:prstGeom>
          <a:solidFill>
            <a:srgbClr val="1E293B"/>
          </a:solidFill>
          <a:ln w="12700">
            <a:solidFill>
              <a:srgbClr val="1E3A5F"/>
            </a:solidFill>
            <a:prstDash val="solid"/>
          </a:ln>
        </p:spPr>
      </p:sp>
      <p:sp>
        <p:nvSpPr>
          <p:cNvPr id="27" name="Text 22"/>
          <p:cNvSpPr txBox="1"/>
          <p:nvPr/>
        </p:nvSpPr>
        <p:spPr>
          <a:xfrm>
            <a:off x="822960" y="5577840"/>
            <a:ext cx="10607040" cy="457200"/>
          </a:xfrm>
          <a:prstGeom prst="rect">
            <a:avLst/>
          </a:prstGeom>
          <a:noFill/>
          <a:ln/>
        </p:spPr>
        <p:txBody>
          <a:bodyPr wrap="square" lIns="0" tIns="0" rIns="0" bIns="0" rtlCol="0" anchor="ctr"/>
          <a:lstStyle/>
          <a:p>
            <a:pPr indent="0" marL="0">
              <a:buNone/>
            </a:pPr>
            <a:r>
              <a:rPr lang="en-US" sz="1600" b="1" dirty="0">
                <a:solidFill>
                  <a:srgbClr val="22D3EE"/>
                </a:solidFill>
                <a:latin typeface="Calibri" pitchFamily="34" charset="0"/>
                <a:ea typeface="Calibri" pitchFamily="34" charset="-122"/>
                <a:cs typeface="Calibri" pitchFamily="34" charset="-120"/>
              </a:rPr>
              <a:t>NWIS doesn’t replace the drilling engineer — it shortens the path from a signal to the evidence.</a:t>
            </a:r>
            <a:endParaRPr lang="en-US" sz="1600" dirty="0"/>
          </a:p>
        </p:txBody>
      </p:sp>
      <p:sp>
        <p:nvSpPr>
          <p:cNvPr id="28" name="Text 2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NWIS · SIH26121 · synthetic demo data</a:t>
            </a:r>
            <a:endParaRPr lang="en-US" sz="900" dirty="0"/>
          </a:p>
        </p:txBody>
      </p:sp>
      <p:sp>
        <p:nvSpPr>
          <p:cNvPr id="29" name="Text 24"/>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NWIS — Nearby Wells Intelligence System</dc:title>
  <dc:subject>PptxGenJS Presentation</dc:subject>
  <dc:creator>NWIS team — SIH26121</dc:creator>
  <cp:lastModifiedBy>NWIS team — SIH26121</cp:lastModifiedBy>
  <cp:revision>1</cp:revision>
  <dcterms:created xsi:type="dcterms:W3CDTF">2026-09-29T07:58:03Z</dcterms:created>
  <dcterms:modified xsi:type="dcterms:W3CDTF">2026-09-29T07:58:03Z</dcterms:modified>
</cp:coreProperties>
</file>